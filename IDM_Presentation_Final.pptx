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2.xml" ContentType="application/vnd.openxmlformats-officedocument.drawingml.chart+xml"/>
  <Override PartName="/ppt/notesSlides/notesSlide17.xml" ContentType="application/vnd.openxmlformats-officedocument.presentationml.notesSlide+xml"/>
  <Override PartName="/ppt/charts/chart3.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5"/>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0"/>
        <c:ser>
          <c:idx val="0"/>
          <c:order val="0"/>
          <c:tx>
            <c:strRef>
              <c:f>Sheet1!$B$1</c:f>
              <c:strCache>
                <c:ptCount val="1"/>
                <c:pt idx="0">
                  <c:v>PostgreSQL</c:v>
                </c:pt>
              </c:strCache>
            </c:strRef>
          </c:tx>
          <c:spPr>
            <a:solidFill>
              <a:srgbClr val="0F4C81"/>
            </a:solidFill>
            <a:effectLst/>
          </c:spPr>
          <c:invertIfNegative val="0"/>
          <c:cat>
            <c:strRef>
              <c:f>Sheet1!$A$2:$A$11</c:f>
              <c:strCache>
                <c:ptCount val="10"/>
                <c:pt idx="0">
                  <c:v>Q1</c:v>
                </c:pt>
                <c:pt idx="1">
                  <c:v>Q2</c:v>
                </c:pt>
                <c:pt idx="2">
                  <c:v>Q3</c:v>
                </c:pt>
                <c:pt idx="3">
                  <c:v>Q4</c:v>
                </c:pt>
                <c:pt idx="4">
                  <c:v>Q5</c:v>
                </c:pt>
                <c:pt idx="5">
                  <c:v>Q6</c:v>
                </c:pt>
                <c:pt idx="6">
                  <c:v>Q7</c:v>
                </c:pt>
                <c:pt idx="7">
                  <c:v>Q8</c:v>
                </c:pt>
                <c:pt idx="8">
                  <c:v>Q9</c:v>
                </c:pt>
                <c:pt idx="9">
                  <c:v>Q10</c:v>
                </c:pt>
              </c:strCache>
            </c:strRef>
          </c:cat>
          <c:val>
            <c:numRef>
              <c:f>Sheet1!$B$2:$B$11</c:f>
              <c:numCache>
                <c:formatCode>General</c:formatCode>
                <c:ptCount val="10"/>
                <c:pt idx="0">
                  <c:v>250.75</c:v>
                </c:pt>
                <c:pt idx="1">
                  <c:v>17.79</c:v>
                </c:pt>
                <c:pt idx="2">
                  <c:v>54.61</c:v>
                </c:pt>
                <c:pt idx="3">
                  <c:v>86.16</c:v>
                </c:pt>
                <c:pt idx="4">
                  <c:v>171.34</c:v>
                </c:pt>
                <c:pt idx="5">
                  <c:v>328.51</c:v>
                </c:pt>
                <c:pt idx="6">
                  <c:v>118</c:v>
                </c:pt>
                <c:pt idx="7">
                  <c:v>147.18</c:v>
                </c:pt>
                <c:pt idx="8">
                  <c:v>575.59</c:v>
                </c:pt>
                <c:pt idx="9">
                  <c:v>266.13</c:v>
                </c:pt>
              </c:numCache>
            </c:numRef>
          </c:val>
          <c:extLst>
            <c:ext xmlns:c16="http://schemas.microsoft.com/office/drawing/2014/chart" uri="{C3380CC4-5D6E-409C-BE32-E72D297353CC}">
              <c16:uniqueId val="{00000000-565D-450F-8D63-0FD0369DCF04}"/>
            </c:ext>
          </c:extLst>
        </c:ser>
        <c:ser>
          <c:idx val="1"/>
          <c:order val="1"/>
          <c:tx>
            <c:strRef>
              <c:f>Sheet1!$C$1</c:f>
              <c:strCache>
                <c:ptCount val="1"/>
                <c:pt idx="0">
                  <c:v>MongoDB</c:v>
                </c:pt>
              </c:strCache>
            </c:strRef>
          </c:tx>
          <c:spPr>
            <a:solidFill>
              <a:srgbClr val="14919B"/>
            </a:solidFill>
            <a:effectLst/>
          </c:spPr>
          <c:invertIfNegative val="0"/>
          <c:cat>
            <c:strRef>
              <c:f>Sheet1!$A$2:$A$11</c:f>
              <c:strCache>
                <c:ptCount val="10"/>
                <c:pt idx="0">
                  <c:v>Q1</c:v>
                </c:pt>
                <c:pt idx="1">
                  <c:v>Q2</c:v>
                </c:pt>
                <c:pt idx="2">
                  <c:v>Q3</c:v>
                </c:pt>
                <c:pt idx="3">
                  <c:v>Q4</c:v>
                </c:pt>
                <c:pt idx="4">
                  <c:v>Q5</c:v>
                </c:pt>
                <c:pt idx="5">
                  <c:v>Q6</c:v>
                </c:pt>
                <c:pt idx="6">
                  <c:v>Q7</c:v>
                </c:pt>
                <c:pt idx="7">
                  <c:v>Q8</c:v>
                </c:pt>
                <c:pt idx="8">
                  <c:v>Q9</c:v>
                </c:pt>
                <c:pt idx="9">
                  <c:v>Q10</c:v>
                </c:pt>
              </c:strCache>
            </c:strRef>
          </c:cat>
          <c:val>
            <c:numRef>
              <c:f>Sheet1!$C$2:$C$11</c:f>
              <c:numCache>
                <c:formatCode>General</c:formatCode>
                <c:ptCount val="10"/>
                <c:pt idx="0">
                  <c:v>147.69</c:v>
                </c:pt>
                <c:pt idx="1">
                  <c:v>5.63</c:v>
                </c:pt>
                <c:pt idx="2">
                  <c:v>21.92</c:v>
                </c:pt>
                <c:pt idx="3">
                  <c:v>242.91</c:v>
                </c:pt>
                <c:pt idx="4">
                  <c:v>126.51</c:v>
                </c:pt>
                <c:pt idx="5">
                  <c:v>270.74</c:v>
                </c:pt>
                <c:pt idx="6">
                  <c:v>94.76</c:v>
                </c:pt>
                <c:pt idx="7">
                  <c:v>200.72</c:v>
                </c:pt>
                <c:pt idx="8">
                  <c:v>298.41000000000003</c:v>
                </c:pt>
                <c:pt idx="9">
                  <c:v>178.15</c:v>
                </c:pt>
              </c:numCache>
            </c:numRef>
          </c:val>
          <c:extLst>
            <c:ext xmlns:c16="http://schemas.microsoft.com/office/drawing/2014/chart" uri="{C3380CC4-5D6E-409C-BE32-E72D297353CC}">
              <c16:uniqueId val="{00000001-565D-450F-8D63-0FD0369DCF04}"/>
            </c:ext>
          </c:extLst>
        </c:ser>
        <c:ser>
          <c:idx val="2"/>
          <c:order val="2"/>
          <c:tx>
            <c:strRef>
              <c:f>Sheet1!$D$1</c:f>
              <c:strCache>
                <c:ptCount val="1"/>
                <c:pt idx="0">
                  <c:v>Neo4j</c:v>
                </c:pt>
              </c:strCache>
            </c:strRef>
          </c:tx>
          <c:spPr>
            <a:solidFill>
              <a:srgbClr val="64748B"/>
            </a:solidFill>
            <a:effectLst/>
          </c:spPr>
          <c:invertIfNegative val="0"/>
          <c:cat>
            <c:strRef>
              <c:f>Sheet1!$A$2:$A$11</c:f>
              <c:strCache>
                <c:ptCount val="10"/>
                <c:pt idx="0">
                  <c:v>Q1</c:v>
                </c:pt>
                <c:pt idx="1">
                  <c:v>Q2</c:v>
                </c:pt>
                <c:pt idx="2">
                  <c:v>Q3</c:v>
                </c:pt>
                <c:pt idx="3">
                  <c:v>Q4</c:v>
                </c:pt>
                <c:pt idx="4">
                  <c:v>Q5</c:v>
                </c:pt>
                <c:pt idx="5">
                  <c:v>Q6</c:v>
                </c:pt>
                <c:pt idx="6">
                  <c:v>Q7</c:v>
                </c:pt>
                <c:pt idx="7">
                  <c:v>Q8</c:v>
                </c:pt>
                <c:pt idx="8">
                  <c:v>Q9</c:v>
                </c:pt>
                <c:pt idx="9">
                  <c:v>Q10</c:v>
                </c:pt>
              </c:strCache>
            </c:strRef>
          </c:cat>
          <c:val>
            <c:numRef>
              <c:f>Sheet1!$D$2:$D$11</c:f>
              <c:numCache>
                <c:formatCode>General</c:formatCode>
                <c:ptCount val="10"/>
                <c:pt idx="0">
                  <c:v>527.17999999999995</c:v>
                </c:pt>
                <c:pt idx="1">
                  <c:v>11.38</c:v>
                </c:pt>
                <c:pt idx="2">
                  <c:v>117.92</c:v>
                </c:pt>
                <c:pt idx="3">
                  <c:v>103.39</c:v>
                </c:pt>
                <c:pt idx="4">
                  <c:v>417.15</c:v>
                </c:pt>
                <c:pt idx="5">
                  <c:v>641.65</c:v>
                </c:pt>
                <c:pt idx="6">
                  <c:v>206.02</c:v>
                </c:pt>
                <c:pt idx="7">
                  <c:v>428.91</c:v>
                </c:pt>
                <c:pt idx="8">
                  <c:v>1132.68</c:v>
                </c:pt>
                <c:pt idx="9">
                  <c:v>385.21</c:v>
                </c:pt>
              </c:numCache>
            </c:numRef>
          </c:val>
          <c:extLst>
            <c:ext xmlns:c16="http://schemas.microsoft.com/office/drawing/2014/chart" uri="{C3380CC4-5D6E-409C-BE32-E72D297353CC}">
              <c16:uniqueId val="{00000002-565D-450F-8D63-0FD0369DCF04}"/>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E293B"/>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CBD5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4748B"/>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1E293B"/>
              </a:solidFill>
              <a:latin typeface="Calibri"/>
              <a:cs typeface="Calibri"/>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0"/>
        <c:ser>
          <c:idx val="0"/>
          <c:order val="0"/>
          <c:tx>
            <c:strRef>
              <c:f>Sheet1!$B$1</c:f>
              <c:strCache>
                <c:ptCount val="1"/>
                <c:pt idx="0">
                  <c:v>Pre-vaccine decade avg</c:v>
                </c:pt>
              </c:strCache>
            </c:strRef>
          </c:tx>
          <c:spPr>
            <a:solidFill>
              <a:srgbClr val="64748B"/>
            </a:solidFill>
            <a:effectLst/>
          </c:spPr>
          <c:invertIfNegative val="0"/>
          <c:cat>
            <c:strRef>
              <c:f>Sheet1!$A$2:$A$7</c:f>
              <c:strCache>
                <c:ptCount val="6"/>
                <c:pt idx="0">
                  <c:v>Polio</c:v>
                </c:pt>
                <c:pt idx="1">
                  <c:v>Measles</c:v>
                </c:pt>
                <c:pt idx="2">
                  <c:v>Pertussis</c:v>
                </c:pt>
                <c:pt idx="3">
                  <c:v>Rubella</c:v>
                </c:pt>
                <c:pt idx="4">
                  <c:v>Diphtheria</c:v>
                </c:pt>
                <c:pt idx="5">
                  <c:v>Hepatitis A</c:v>
                </c:pt>
              </c:strCache>
            </c:strRef>
          </c:cat>
          <c:val>
            <c:numRef>
              <c:f>Sheet1!$B$2:$B$7</c:f>
              <c:numCache>
                <c:formatCode>General</c:formatCode>
                <c:ptCount val="6"/>
                <c:pt idx="0">
                  <c:v>30093</c:v>
                </c:pt>
                <c:pt idx="1">
                  <c:v>511984</c:v>
                </c:pt>
                <c:pt idx="2">
                  <c:v>159976</c:v>
                </c:pt>
                <c:pt idx="3">
                  <c:v>44997</c:v>
                </c:pt>
                <c:pt idx="4">
                  <c:v>62594</c:v>
                </c:pt>
                <c:pt idx="5">
                  <c:v>17105</c:v>
                </c:pt>
              </c:numCache>
            </c:numRef>
          </c:val>
          <c:extLst>
            <c:ext xmlns:c16="http://schemas.microsoft.com/office/drawing/2014/chart" uri="{C3380CC4-5D6E-409C-BE32-E72D297353CC}">
              <c16:uniqueId val="{00000000-7EC6-401B-955C-53F84D706DD7}"/>
            </c:ext>
          </c:extLst>
        </c:ser>
        <c:ser>
          <c:idx val="1"/>
          <c:order val="1"/>
          <c:tx>
            <c:strRef>
              <c:f>Sheet1!$C$1</c:f>
              <c:strCache>
                <c:ptCount val="1"/>
                <c:pt idx="0">
                  <c:v>Post-vaccine decade avg</c:v>
                </c:pt>
              </c:strCache>
            </c:strRef>
          </c:tx>
          <c:spPr>
            <a:solidFill>
              <a:srgbClr val="0F4C81"/>
            </a:solidFill>
            <a:effectLst/>
          </c:spPr>
          <c:invertIfNegative val="0"/>
          <c:cat>
            <c:strRef>
              <c:f>Sheet1!$A$2:$A$7</c:f>
              <c:strCache>
                <c:ptCount val="6"/>
                <c:pt idx="0">
                  <c:v>Polio</c:v>
                </c:pt>
                <c:pt idx="1">
                  <c:v>Measles</c:v>
                </c:pt>
                <c:pt idx="2">
                  <c:v>Pertussis</c:v>
                </c:pt>
                <c:pt idx="3">
                  <c:v>Rubella</c:v>
                </c:pt>
                <c:pt idx="4">
                  <c:v>Diphtheria</c:v>
                </c:pt>
                <c:pt idx="5">
                  <c:v>Hepatitis A</c:v>
                </c:pt>
              </c:strCache>
            </c:strRef>
          </c:cat>
          <c:val>
            <c:numRef>
              <c:f>Sheet1!$C$2:$C$7</c:f>
              <c:numCache>
                <c:formatCode>General</c:formatCode>
                <c:ptCount val="6"/>
                <c:pt idx="0">
                  <c:v>3963</c:v>
                </c:pt>
                <c:pt idx="1">
                  <c:v>117631</c:v>
                </c:pt>
                <c:pt idx="2">
                  <c:v>65646</c:v>
                </c:pt>
                <c:pt idx="3">
                  <c:v>23241</c:v>
                </c:pt>
                <c:pt idx="4">
                  <c:v>33046</c:v>
                </c:pt>
                <c:pt idx="5">
                  <c:v>10989</c:v>
                </c:pt>
              </c:numCache>
            </c:numRef>
          </c:val>
          <c:extLst>
            <c:ext xmlns:c16="http://schemas.microsoft.com/office/drawing/2014/chart" uri="{C3380CC4-5D6E-409C-BE32-E72D297353CC}">
              <c16:uniqueId val="{00000001-7EC6-401B-955C-53F84D706DD7}"/>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E293B"/>
                </a:solidFill>
                <a:latin typeface="Calibri"/>
              </a:defRPr>
            </a:pPr>
            <a:endParaRPr lang="en-US"/>
          </a:p>
        </c:txPr>
        <c:crossAx val="2094734552"/>
        <c:crosses val="autoZero"/>
        <c:auto val="1"/>
        <c:lblAlgn val="ctr"/>
        <c:lblOffset val="100"/>
        <c:noMultiLvlLbl val="1"/>
      </c:catAx>
      <c:valAx>
        <c:axId val="2094734552"/>
        <c:scaling>
          <c:logBase val="10"/>
          <c:orientation val="minMax"/>
        </c:scaling>
        <c:delete val="0"/>
        <c:axPos val="l"/>
        <c:majorGridlines>
          <c:spPr>
            <a:ln w="6350" cap="flat">
              <a:solidFill>
                <a:srgbClr val="CBD5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4748B"/>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100">
              <a:latin typeface="Calibri"/>
              <a:cs typeface="Calibri"/>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200" b="0" i="0" u="none" strike="noStrike">
                <a:solidFill>
                  <a:srgbClr val="1E293B"/>
                </a:solidFill>
                <a:latin typeface="Cambria"/>
              </a:defRPr>
            </a:pPr>
            <a:r>
              <a:rPr lang="en-GB" sz="1200" b="0" i="0" u="none" strike="noStrike">
                <a:solidFill>
                  <a:srgbClr val="1E293B"/>
                </a:solidFill>
                <a:latin typeface="Cambria"/>
              </a:rPr>
              <a:t>Average weekly cases by calendar month</a:t>
            </a:r>
          </a:p>
        </c:rich>
      </c:tx>
      <c:overlay val="0"/>
    </c:title>
    <c:autoTitleDeleted val="0"/>
    <c:plotArea>
      <c:layout/>
      <c:lineChart>
        <c:grouping val="standard"/>
        <c:varyColors val="0"/>
        <c:ser>
          <c:idx val="0"/>
          <c:order val="0"/>
          <c:tx>
            <c:strRef>
              <c:f>Sheet1!$B$1</c:f>
              <c:strCache>
                <c:ptCount val="1"/>
                <c:pt idx="0">
                  <c:v>Measles</c:v>
                </c:pt>
              </c:strCache>
            </c:strRef>
          </c:tx>
          <c:spPr>
            <a:ln w="25400" cap="flat">
              <a:solidFill>
                <a:srgbClr val="0F4C81"/>
              </a:solidFill>
              <a:prstDash val="solid"/>
              <a:round/>
            </a:ln>
            <a:effectLst/>
          </c:spPr>
          <c:marker>
            <c:symbol val="circle"/>
            <c:size val="6"/>
            <c:spPr>
              <a:solidFill>
                <a:srgbClr val="0F4C81"/>
              </a:solidFill>
              <a:ln w="9525" cap="flat">
                <a:solidFill>
                  <a:srgbClr val="0F4C81"/>
                </a:solidFill>
                <a:prstDash val="solid"/>
                <a:round/>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370</c:v>
                </c:pt>
                <c:pt idx="1">
                  <c:v>410</c:v>
                </c:pt>
                <c:pt idx="2">
                  <c:v>430</c:v>
                </c:pt>
                <c:pt idx="3">
                  <c:v>380</c:v>
                </c:pt>
                <c:pt idx="4">
                  <c:v>300</c:v>
                </c:pt>
                <c:pt idx="5">
                  <c:v>190</c:v>
                </c:pt>
                <c:pt idx="6">
                  <c:v>110</c:v>
                </c:pt>
                <c:pt idx="7">
                  <c:v>100</c:v>
                </c:pt>
                <c:pt idx="8">
                  <c:v>130</c:v>
                </c:pt>
                <c:pt idx="9">
                  <c:v>180</c:v>
                </c:pt>
                <c:pt idx="10">
                  <c:v>250</c:v>
                </c:pt>
                <c:pt idx="11">
                  <c:v>320</c:v>
                </c:pt>
              </c:numCache>
            </c:numRef>
          </c:val>
          <c:smooth val="1"/>
          <c:extLst>
            <c:ext xmlns:c16="http://schemas.microsoft.com/office/drawing/2014/chart" uri="{C3380CC4-5D6E-409C-BE32-E72D297353CC}">
              <c16:uniqueId val="{00000000-BCD9-4CC9-906C-692A5DBC48DD}"/>
            </c:ext>
          </c:extLst>
        </c:ser>
        <c:ser>
          <c:idx val="1"/>
          <c:order val="1"/>
          <c:tx>
            <c:strRef>
              <c:f>Sheet1!$C$1</c:f>
              <c:strCache>
                <c:ptCount val="1"/>
                <c:pt idx="0">
                  <c:v>Polio</c:v>
                </c:pt>
              </c:strCache>
            </c:strRef>
          </c:tx>
          <c:spPr>
            <a:ln w="25400" cap="flat">
              <a:solidFill>
                <a:srgbClr val="B45309"/>
              </a:solidFill>
              <a:prstDash val="solid"/>
              <a:round/>
            </a:ln>
            <a:effectLst/>
          </c:spPr>
          <c:marker>
            <c:symbol val="circle"/>
            <c:size val="6"/>
            <c:spPr>
              <a:solidFill>
                <a:srgbClr val="B45309"/>
              </a:solidFill>
              <a:ln w="9525" cap="flat">
                <a:solidFill>
                  <a:srgbClr val="B45309"/>
                </a:solidFill>
                <a:prstDash val="solid"/>
                <a:round/>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Sheet1!$C$2:$C$13</c:f>
              <c:numCache>
                <c:formatCode>General</c:formatCode>
                <c:ptCount val="12"/>
                <c:pt idx="0">
                  <c:v>30</c:v>
                </c:pt>
                <c:pt idx="1">
                  <c:v>35</c:v>
                </c:pt>
                <c:pt idx="2">
                  <c:v>45</c:v>
                </c:pt>
                <c:pt idx="3">
                  <c:v>60</c:v>
                </c:pt>
                <c:pt idx="4">
                  <c:v>90</c:v>
                </c:pt>
                <c:pt idx="5">
                  <c:v>150</c:v>
                </c:pt>
                <c:pt idx="6">
                  <c:v>240</c:v>
                </c:pt>
                <c:pt idx="7">
                  <c:v>300</c:v>
                </c:pt>
                <c:pt idx="8">
                  <c:v>260</c:v>
                </c:pt>
                <c:pt idx="9">
                  <c:v>180</c:v>
                </c:pt>
                <c:pt idx="10">
                  <c:v>110</c:v>
                </c:pt>
                <c:pt idx="11">
                  <c:v>60</c:v>
                </c:pt>
              </c:numCache>
            </c:numRef>
          </c:val>
          <c:smooth val="1"/>
          <c:extLst>
            <c:ext xmlns:c16="http://schemas.microsoft.com/office/drawing/2014/chart" uri="{C3380CC4-5D6E-409C-BE32-E72D297353CC}">
              <c16:uniqueId val="{00000001-BCD9-4CC9-906C-692A5DBC48DD}"/>
            </c:ext>
          </c:extLst>
        </c:ser>
        <c:ser>
          <c:idx val="2"/>
          <c:order val="2"/>
          <c:tx>
            <c:strRef>
              <c:f>Sheet1!$D$1</c:f>
              <c:strCache>
                <c:ptCount val="1"/>
                <c:pt idx="0">
                  <c:v>Pertussis</c:v>
                </c:pt>
              </c:strCache>
            </c:strRef>
          </c:tx>
          <c:spPr>
            <a:ln w="25400" cap="flat">
              <a:solidFill>
                <a:srgbClr val="0F766E"/>
              </a:solidFill>
              <a:prstDash val="solid"/>
              <a:round/>
            </a:ln>
            <a:effectLst/>
          </c:spPr>
          <c:marker>
            <c:symbol val="circle"/>
            <c:size val="6"/>
            <c:spPr>
              <a:solidFill>
                <a:srgbClr val="0F766E"/>
              </a:solidFill>
              <a:ln w="9525" cap="flat">
                <a:solidFill>
                  <a:srgbClr val="0F766E"/>
                </a:solidFill>
                <a:prstDash val="solid"/>
                <a:round/>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Sheet1!$D$2:$D$13</c:f>
              <c:numCache>
                <c:formatCode>General</c:formatCode>
                <c:ptCount val="12"/>
                <c:pt idx="0">
                  <c:v>100</c:v>
                </c:pt>
                <c:pt idx="1">
                  <c:v>120</c:v>
                </c:pt>
                <c:pt idx="2">
                  <c:v>160</c:v>
                </c:pt>
                <c:pt idx="3">
                  <c:v>170</c:v>
                </c:pt>
                <c:pt idx="4">
                  <c:v>160</c:v>
                </c:pt>
                <c:pt idx="5">
                  <c:v>140</c:v>
                </c:pt>
                <c:pt idx="6">
                  <c:v>130</c:v>
                </c:pt>
                <c:pt idx="7">
                  <c:v>120</c:v>
                </c:pt>
                <c:pt idx="8">
                  <c:v>110</c:v>
                </c:pt>
                <c:pt idx="9">
                  <c:v>105</c:v>
                </c:pt>
                <c:pt idx="10">
                  <c:v>95</c:v>
                </c:pt>
                <c:pt idx="11">
                  <c:v>95</c:v>
                </c:pt>
              </c:numCache>
            </c:numRef>
          </c:val>
          <c:smooth val="1"/>
          <c:extLst>
            <c:ext xmlns:c16="http://schemas.microsoft.com/office/drawing/2014/chart" uri="{C3380CC4-5D6E-409C-BE32-E72D297353CC}">
              <c16:uniqueId val="{00000002-BCD9-4CC9-906C-692A5DBC48DD}"/>
            </c:ext>
          </c:extLst>
        </c:ser>
        <c:ser>
          <c:idx val="3"/>
          <c:order val="3"/>
          <c:tx>
            <c:strRef>
              <c:f>Sheet1!$E$1</c:f>
              <c:strCache>
                <c:ptCount val="1"/>
                <c:pt idx="0">
                  <c:v>Diphtheria</c:v>
                </c:pt>
              </c:strCache>
            </c:strRef>
          </c:tx>
          <c:spPr>
            <a:ln w="25400" cap="flat">
              <a:solidFill>
                <a:srgbClr val="64748B"/>
              </a:solidFill>
              <a:prstDash val="solid"/>
              <a:round/>
            </a:ln>
            <a:effectLst/>
          </c:spPr>
          <c:marker>
            <c:symbol val="circle"/>
            <c:size val="6"/>
            <c:spPr>
              <a:solidFill>
                <a:srgbClr val="64748B"/>
              </a:solidFill>
              <a:ln w="9525" cap="flat">
                <a:solidFill>
                  <a:srgbClr val="64748B"/>
                </a:solidFill>
                <a:prstDash val="solid"/>
                <a:round/>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Sheet1!$E$2:$E$13</c:f>
              <c:numCache>
                <c:formatCode>General</c:formatCode>
                <c:ptCount val="12"/>
                <c:pt idx="0">
                  <c:v>80</c:v>
                </c:pt>
                <c:pt idx="1">
                  <c:v>75</c:v>
                </c:pt>
                <c:pt idx="2">
                  <c:v>70</c:v>
                </c:pt>
                <c:pt idx="3">
                  <c:v>65</c:v>
                </c:pt>
                <c:pt idx="4">
                  <c:v>60</c:v>
                </c:pt>
                <c:pt idx="5">
                  <c:v>55</c:v>
                </c:pt>
                <c:pt idx="6">
                  <c:v>55</c:v>
                </c:pt>
                <c:pt idx="7">
                  <c:v>60</c:v>
                </c:pt>
                <c:pt idx="8">
                  <c:v>80</c:v>
                </c:pt>
                <c:pt idx="9">
                  <c:v>110</c:v>
                </c:pt>
                <c:pt idx="10">
                  <c:v>140</c:v>
                </c:pt>
                <c:pt idx="11">
                  <c:v>130</c:v>
                </c:pt>
              </c:numCache>
            </c:numRef>
          </c:val>
          <c:smooth val="1"/>
          <c:extLst>
            <c:ext xmlns:c16="http://schemas.microsoft.com/office/drawing/2014/chart" uri="{C3380CC4-5D6E-409C-BE32-E72D297353CC}">
              <c16:uniqueId val="{00000003-BCD9-4CC9-906C-692A5DBC48DD}"/>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E293B"/>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CBD5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4748B"/>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00">
              <a:latin typeface="Calibri"/>
              <a:cs typeface="Calibri"/>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3131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hyperlink" Target="https://idm-one.vercel.app/" TargetMode="External"/><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hyperlink" Target="https://github.com/AnwarDebes/IDM.git"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1097280"/>
            <a:ext cx="10698480" cy="274320"/>
          </a:xfrm>
          <a:prstGeom prst="rect">
            <a:avLst/>
          </a:prstGeom>
          <a:noFill/>
          <a:ln/>
        </p:spPr>
        <p:txBody>
          <a:bodyPr wrap="square" lIns="0" tIns="0" rIns="0" bIns="0" rtlCol="0" anchor="ctr"/>
          <a:lstStyle/>
          <a:p>
            <a:pPr marL="0" indent="0" algn="l">
              <a:buNone/>
            </a:pPr>
            <a:r>
              <a:rPr lang="en-US" sz="1100" b="1" kern="0" spc="400" dirty="0">
                <a:solidFill>
                  <a:srgbClr val="0F4C81"/>
                </a:solidFill>
                <a:latin typeface="Calibri" pitchFamily="34" charset="0"/>
                <a:ea typeface="Calibri" pitchFamily="34" charset="-122"/>
                <a:cs typeface="Calibri" pitchFamily="34" charset="-120"/>
              </a:rPr>
              <a:t>IKT453 · INTELLIGENT DATABASE MANAGEMENT · SPRING 2026</a:t>
            </a:r>
            <a:endParaRPr lang="en-US" sz="1100" dirty="0"/>
          </a:p>
        </p:txBody>
      </p:sp>
      <p:sp>
        <p:nvSpPr>
          <p:cNvPr id="3" name="Shape 1"/>
          <p:cNvSpPr/>
          <p:nvPr/>
        </p:nvSpPr>
        <p:spPr>
          <a:xfrm>
            <a:off x="731520" y="1444752"/>
            <a:ext cx="2011680" cy="0"/>
          </a:xfrm>
          <a:prstGeom prst="line">
            <a:avLst/>
          </a:prstGeom>
          <a:noFill/>
          <a:ln w="19050">
            <a:solidFill>
              <a:srgbClr val="0F4C81"/>
            </a:solidFill>
            <a:prstDash val="solid"/>
          </a:ln>
        </p:spPr>
        <p:txBody>
          <a:bodyPr/>
          <a:lstStyle/>
          <a:p>
            <a:endParaRPr lang="en-US"/>
          </a:p>
        </p:txBody>
      </p:sp>
      <p:sp>
        <p:nvSpPr>
          <p:cNvPr id="4" name="Text 2"/>
          <p:cNvSpPr/>
          <p:nvPr/>
        </p:nvSpPr>
        <p:spPr>
          <a:xfrm>
            <a:off x="731520" y="1920240"/>
            <a:ext cx="10698480" cy="822960"/>
          </a:xfrm>
          <a:prstGeom prst="rect">
            <a:avLst/>
          </a:prstGeom>
          <a:noFill/>
          <a:ln/>
        </p:spPr>
        <p:txBody>
          <a:bodyPr wrap="square" lIns="0" tIns="0" rIns="0" bIns="0" rtlCol="0" anchor="ctr"/>
          <a:lstStyle/>
          <a:p>
            <a:pPr marL="0" indent="0" algn="l">
              <a:buNone/>
            </a:pPr>
            <a:r>
              <a:rPr lang="en-US" sz="4400" b="1" dirty="0">
                <a:solidFill>
                  <a:srgbClr val="1E293B"/>
                </a:solidFill>
                <a:latin typeface="Cambria" pitchFamily="34" charset="0"/>
                <a:ea typeface="Cambria" pitchFamily="34" charset="-122"/>
                <a:cs typeface="Cambria" pitchFamily="34" charset="-120"/>
              </a:rPr>
              <a:t>Epidemiological Data Warehouse</a:t>
            </a:r>
            <a:endParaRPr lang="en-US" sz="4400" dirty="0"/>
          </a:p>
        </p:txBody>
      </p:sp>
      <p:sp>
        <p:nvSpPr>
          <p:cNvPr id="5" name="Text 3"/>
          <p:cNvSpPr/>
          <p:nvPr/>
        </p:nvSpPr>
        <p:spPr>
          <a:xfrm>
            <a:off x="731520" y="2697480"/>
            <a:ext cx="10698480" cy="731520"/>
          </a:xfrm>
          <a:prstGeom prst="rect">
            <a:avLst/>
          </a:prstGeom>
          <a:noFill/>
          <a:ln/>
        </p:spPr>
        <p:txBody>
          <a:bodyPr wrap="square" lIns="0" tIns="0" rIns="0" bIns="0" rtlCol="0" anchor="ctr"/>
          <a:lstStyle/>
          <a:p>
            <a:pPr marL="0" indent="0" algn="l">
              <a:buNone/>
            </a:pPr>
            <a:r>
              <a:rPr lang="en-US" sz="3800" dirty="0">
                <a:solidFill>
                  <a:srgbClr val="1E293B"/>
                </a:solidFill>
                <a:latin typeface="Cambria" pitchFamily="34" charset="0"/>
                <a:ea typeface="Cambria" pitchFamily="34" charset="-122"/>
                <a:cs typeface="Cambria" pitchFamily="34" charset="-120"/>
              </a:rPr>
              <a:t>&amp; Analytics Platform</a:t>
            </a:r>
            <a:endParaRPr lang="en-US" sz="3800" dirty="0"/>
          </a:p>
        </p:txBody>
      </p:sp>
      <p:sp>
        <p:nvSpPr>
          <p:cNvPr id="6" name="Text 4"/>
          <p:cNvSpPr/>
          <p:nvPr/>
        </p:nvSpPr>
        <p:spPr>
          <a:xfrm>
            <a:off x="731520" y="3611880"/>
            <a:ext cx="10698480" cy="411480"/>
          </a:xfrm>
          <a:prstGeom prst="rect">
            <a:avLst/>
          </a:prstGeom>
          <a:noFill/>
          <a:ln/>
        </p:spPr>
        <p:txBody>
          <a:bodyPr wrap="square" lIns="0" tIns="0" rIns="0" bIns="0" rtlCol="0" anchor="ctr"/>
          <a:lstStyle/>
          <a:p>
            <a:pPr marL="0" indent="0" algn="l">
              <a:buNone/>
            </a:pPr>
            <a:r>
              <a:rPr lang="en-US" sz="1800" i="1" dirty="0">
                <a:solidFill>
                  <a:srgbClr val="334155"/>
                </a:solidFill>
                <a:latin typeface="Calibri" pitchFamily="34" charset="0"/>
                <a:ea typeface="Calibri" pitchFamily="34" charset="-122"/>
                <a:cs typeface="Calibri" pitchFamily="34" charset="-120"/>
              </a:rPr>
              <a:t>A Multi-Backend Approach to Disease Surveillance Analytics</a:t>
            </a:r>
            <a:endParaRPr lang="en-US" sz="1800" dirty="0"/>
          </a:p>
        </p:txBody>
      </p:sp>
      <p:sp>
        <p:nvSpPr>
          <p:cNvPr id="7" name="Text 5"/>
          <p:cNvSpPr/>
          <p:nvPr/>
        </p:nvSpPr>
        <p:spPr>
          <a:xfrm>
            <a:off x="731520" y="4005072"/>
            <a:ext cx="10698480" cy="365760"/>
          </a:xfrm>
          <a:prstGeom prst="rect">
            <a:avLst/>
          </a:prstGeom>
          <a:noFill/>
          <a:ln/>
        </p:spPr>
        <p:txBody>
          <a:bodyPr wrap="square" lIns="0" tIns="0" rIns="0" bIns="0" rtlCol="0" anchor="ctr"/>
          <a:lstStyle/>
          <a:p>
            <a:pPr marL="0" indent="0" algn="l">
              <a:buNone/>
            </a:pPr>
            <a:r>
              <a:rPr lang="en-US" sz="1600" i="1" dirty="0">
                <a:solidFill>
                  <a:srgbClr val="64748B"/>
                </a:solidFill>
                <a:latin typeface="Calibri" pitchFamily="34" charset="0"/>
                <a:ea typeface="Calibri" pitchFamily="34" charset="-122"/>
                <a:cs typeface="Calibri" pitchFamily="34" charset="-120"/>
              </a:rPr>
              <a:t>Using Relational, Document, and Graph Databases</a:t>
            </a:r>
            <a:endParaRPr lang="en-US" sz="1600" dirty="0"/>
          </a:p>
        </p:txBody>
      </p:sp>
      <p:sp>
        <p:nvSpPr>
          <p:cNvPr id="8" name="Text 6"/>
          <p:cNvSpPr/>
          <p:nvPr/>
        </p:nvSpPr>
        <p:spPr>
          <a:xfrm>
            <a:off x="731520" y="5166360"/>
            <a:ext cx="9144000" cy="1097280"/>
          </a:xfrm>
          <a:prstGeom prst="rect">
            <a:avLst/>
          </a:prstGeom>
          <a:noFill/>
          <a:ln/>
        </p:spPr>
        <p:txBody>
          <a:bodyPr wrap="square" lIns="0" tIns="0" rIns="0" bIns="0" rtlCol="0" anchor="ctr"/>
          <a:lstStyle/>
          <a:p>
            <a:pPr marL="0" indent="0" algn="l">
              <a:buNone/>
            </a:pPr>
            <a:r>
              <a:rPr lang="en-US" sz="1600" b="1" dirty="0">
                <a:solidFill>
                  <a:srgbClr val="1E293B"/>
                </a:solidFill>
                <a:latin typeface="Calibri" pitchFamily="34" charset="0"/>
                <a:ea typeface="Calibri" pitchFamily="34" charset="-122"/>
                <a:cs typeface="Calibri" pitchFamily="34" charset="-120"/>
              </a:rPr>
              <a:t>Anwar Debes</a:t>
            </a:r>
            <a:endParaRPr lang="en-US" sz="1600" dirty="0"/>
          </a:p>
          <a:p>
            <a:pPr marL="0" indent="0" algn="l">
              <a:buNone/>
            </a:pPr>
            <a:r>
              <a:rPr lang="en-US" sz="1200" dirty="0">
                <a:solidFill>
                  <a:srgbClr val="64748B"/>
                </a:solidFill>
                <a:latin typeface="Calibri" pitchFamily="34" charset="0"/>
                <a:ea typeface="Calibri" pitchFamily="34" charset="-122"/>
                <a:cs typeface="Calibri" pitchFamily="34" charset="-120"/>
              </a:rPr>
              <a:t>Supervisor: Prof. Vladimir I. Zadorozhny</a:t>
            </a:r>
            <a:endParaRPr lang="en-US" sz="1600" dirty="0"/>
          </a:p>
          <a:p>
            <a:pPr marL="0" indent="0" algn="l">
              <a:buNone/>
            </a:pPr>
            <a:r>
              <a:rPr lang="en-US" sz="1200" dirty="0">
                <a:solidFill>
                  <a:srgbClr val="64748B"/>
                </a:solidFill>
                <a:latin typeface="Calibri" pitchFamily="34" charset="0"/>
                <a:ea typeface="Calibri" pitchFamily="34" charset="-122"/>
                <a:cs typeface="Calibri" pitchFamily="34" charset="-120"/>
              </a:rPr>
              <a:t>University of Agder · Faculty of Engineering and Science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02920"/>
          </a:xfrm>
          <a:prstGeom prst="rect">
            <a:avLst/>
          </a:prstGeom>
          <a:noFill/>
          <a:ln/>
        </p:spPr>
        <p:txBody>
          <a:bodyPr wrap="square" lIns="0" tIns="0" rIns="0" bIns="0" rtlCol="0" anchor="ctr"/>
          <a:lstStyle/>
          <a:p>
            <a:pPr marL="0" indent="0" algn="l">
              <a:buNone/>
            </a:pPr>
            <a:r>
              <a:rPr lang="en-US" sz="2800" b="1" dirty="0">
                <a:solidFill>
                  <a:srgbClr val="1E293B"/>
                </a:solidFill>
                <a:latin typeface="Cambria" pitchFamily="34" charset="0"/>
                <a:ea typeface="Cambria" pitchFamily="34" charset="-122"/>
                <a:cs typeface="Cambria" pitchFamily="34" charset="-120"/>
              </a:rPr>
              <a:t>The Problem</a:t>
            </a:r>
            <a:endParaRPr lang="en-US" sz="2800" dirty="0"/>
          </a:p>
        </p:txBody>
      </p:sp>
      <p:sp>
        <p:nvSpPr>
          <p:cNvPr id="3" name="Text 1"/>
          <p:cNvSpPr/>
          <p:nvPr/>
        </p:nvSpPr>
        <p:spPr>
          <a:xfrm>
            <a:off x="548640" y="841248"/>
            <a:ext cx="11064240" cy="292608"/>
          </a:xfrm>
          <a:prstGeom prst="rect">
            <a:avLst/>
          </a:prstGeom>
          <a:noFill/>
          <a:ln/>
        </p:spPr>
        <p:txBody>
          <a:bodyPr wrap="square" lIns="0" tIns="0" rIns="0" bIns="0" rtlCol="0" anchor="ctr"/>
          <a:lstStyle/>
          <a:p>
            <a:pPr marL="0" indent="0" algn="l">
              <a:buNone/>
            </a:pPr>
            <a:r>
              <a:rPr lang="en-US" sz="1300" i="1" dirty="0">
                <a:solidFill>
                  <a:srgbClr val="64748B"/>
                </a:solidFill>
                <a:latin typeface="Calibri" pitchFamily="34" charset="0"/>
                <a:ea typeface="Calibri" pitchFamily="34" charset="-122"/>
                <a:cs typeface="Calibri" pitchFamily="34" charset="-120"/>
              </a:rPr>
              <a:t>Why does the database paradigm matter for analytics?</a:t>
            </a:r>
            <a:endParaRPr lang="en-US" sz="1300" dirty="0"/>
          </a:p>
        </p:txBody>
      </p:sp>
      <p:sp>
        <p:nvSpPr>
          <p:cNvPr id="4" name="Shape 2"/>
          <p:cNvSpPr/>
          <p:nvPr/>
        </p:nvSpPr>
        <p:spPr>
          <a:xfrm>
            <a:off x="548640" y="1207008"/>
            <a:ext cx="11064240" cy="0"/>
          </a:xfrm>
          <a:prstGeom prst="line">
            <a:avLst/>
          </a:prstGeom>
          <a:noFill/>
          <a:ln w="9525">
            <a:solidFill>
              <a:srgbClr val="CBD5E1"/>
            </a:solidFill>
            <a:prstDash val="solid"/>
          </a:ln>
        </p:spPr>
        <p:txBody>
          <a:bodyPr/>
          <a:lstStyle/>
          <a:p>
            <a:endParaRPr lang="en-US"/>
          </a:p>
        </p:txBody>
      </p:sp>
      <p:sp>
        <p:nvSpPr>
          <p:cNvPr id="5" name="Text 3"/>
          <p:cNvSpPr/>
          <p:nvPr/>
        </p:nvSpPr>
        <p:spPr>
          <a:xfrm>
            <a:off x="548640" y="1554480"/>
            <a:ext cx="5669280" cy="548640"/>
          </a:xfrm>
          <a:prstGeom prst="rect">
            <a:avLst/>
          </a:prstGeom>
          <a:noFill/>
          <a:ln/>
        </p:spPr>
        <p:txBody>
          <a:bodyPr wrap="square" lIns="0" tIns="0" rIns="0" bIns="0" rtlCol="0" anchor="ctr"/>
          <a:lstStyle/>
          <a:p>
            <a:pPr marL="0" indent="0">
              <a:buNone/>
            </a:pPr>
            <a:r>
              <a:rPr lang="en-US" sz="2200" b="1" dirty="0">
                <a:solidFill>
                  <a:srgbClr val="1E293B"/>
                </a:solidFill>
                <a:latin typeface="Cambria" pitchFamily="34" charset="0"/>
                <a:ea typeface="Cambria" pitchFamily="34" charset="-122"/>
                <a:cs typeface="Cambria" pitchFamily="34" charset="-120"/>
              </a:rPr>
              <a:t>One dataset. Three paradigms. Same questions.</a:t>
            </a:r>
            <a:endParaRPr lang="en-US" sz="2200" dirty="0"/>
          </a:p>
        </p:txBody>
      </p:sp>
      <p:sp>
        <p:nvSpPr>
          <p:cNvPr id="6" name="Text 4"/>
          <p:cNvSpPr/>
          <p:nvPr/>
        </p:nvSpPr>
        <p:spPr>
          <a:xfrm>
            <a:off x="548640" y="2194560"/>
            <a:ext cx="5669280" cy="1828800"/>
          </a:xfrm>
          <a:prstGeom prst="rect">
            <a:avLst/>
          </a:prstGeom>
          <a:noFill/>
          <a:ln/>
        </p:spPr>
        <p:txBody>
          <a:bodyPr wrap="square" lIns="0" tIns="0" rIns="0" bIns="0" rtlCol="0" anchor="ctr"/>
          <a:lstStyle/>
          <a:p>
            <a:pPr marL="0" indent="0">
              <a:spcAft>
                <a:spcPts val="600"/>
              </a:spcAft>
              <a:buNone/>
            </a:pPr>
            <a:r>
              <a:rPr lang="en-US" sz="1400" dirty="0">
                <a:solidFill>
                  <a:srgbClr val="334155"/>
                </a:solidFill>
                <a:latin typeface="Calibri" pitchFamily="34" charset="0"/>
                <a:ea typeface="Calibri" pitchFamily="34" charset="-122"/>
                <a:cs typeface="Calibri" pitchFamily="34" charset="-120"/>
              </a:rPr>
              <a:t>Epidemiological surveillance produces </a:t>
            </a:r>
            <a:r>
              <a:rPr lang="en-US" sz="1400" b="1" dirty="0">
                <a:solidFill>
                  <a:srgbClr val="334155"/>
                </a:solidFill>
                <a:latin typeface="Calibri" pitchFamily="34" charset="0"/>
                <a:ea typeface="Calibri" pitchFamily="34" charset="-122"/>
                <a:cs typeface="Calibri" pitchFamily="34" charset="-120"/>
              </a:rPr>
              <a:t>century-scale, structured time-series data</a:t>
            </a:r>
            <a:r>
              <a:rPr lang="en-US" sz="1400" dirty="0">
                <a:solidFill>
                  <a:srgbClr val="334155"/>
                </a:solidFill>
                <a:latin typeface="Calibri" pitchFamily="34" charset="0"/>
                <a:ea typeface="Calibri" pitchFamily="34" charset="-122"/>
                <a:cs typeface="Calibri" pitchFamily="34" charset="-120"/>
              </a:rPr>
              <a:t> weekly case counts across diseases, states, and decades.</a:t>
            </a:r>
            <a:endParaRPr lang="en-US" sz="1400" dirty="0"/>
          </a:p>
          <a:p>
            <a:pPr marL="0" indent="0">
              <a:spcAft>
                <a:spcPts val="600"/>
              </a:spcAft>
              <a:buNone/>
            </a:pPr>
            <a:endParaRPr lang="en-US" sz="1400" dirty="0"/>
          </a:p>
          <a:p>
            <a:pPr marL="0" indent="0">
              <a:spcAft>
                <a:spcPts val="600"/>
              </a:spcAft>
              <a:buNone/>
            </a:pPr>
            <a:r>
              <a:rPr lang="en-US" sz="1400" dirty="0">
                <a:solidFill>
                  <a:srgbClr val="334155"/>
                </a:solidFill>
                <a:latin typeface="Calibri" pitchFamily="34" charset="0"/>
                <a:ea typeface="Calibri" pitchFamily="34" charset="-122"/>
                <a:cs typeface="Calibri" pitchFamily="34" charset="-120"/>
              </a:rPr>
              <a:t>Traditional relational warehouses have served this role for decades, but:</a:t>
            </a:r>
            <a:endParaRPr lang="en-US" sz="1400" dirty="0"/>
          </a:p>
        </p:txBody>
      </p:sp>
      <p:sp>
        <p:nvSpPr>
          <p:cNvPr id="7" name="Text 5"/>
          <p:cNvSpPr/>
          <p:nvPr/>
        </p:nvSpPr>
        <p:spPr>
          <a:xfrm>
            <a:off x="548640" y="3566160"/>
            <a:ext cx="5669280" cy="1645920"/>
          </a:xfrm>
          <a:prstGeom prst="rect">
            <a:avLst/>
          </a:prstGeom>
          <a:noFill/>
          <a:ln/>
        </p:spPr>
        <p:txBody>
          <a:bodyPr wrap="square" lIns="0" tIns="0" rIns="0" bIns="0" rtlCol="0" anchor="ctr"/>
          <a:lstStyle/>
          <a:p>
            <a:pPr marL="342900" indent="-342900">
              <a:spcAft>
                <a:spcPts val="400"/>
              </a:spcAft>
              <a:buSzPct val="100000"/>
              <a:buChar char="•"/>
            </a:pPr>
            <a:r>
              <a:rPr lang="en-US" sz="1300" dirty="0">
                <a:solidFill>
                  <a:srgbClr val="334155"/>
                </a:solidFill>
                <a:latin typeface="Calibri" pitchFamily="34" charset="0"/>
                <a:ea typeface="Calibri" pitchFamily="34" charset="-122"/>
                <a:cs typeface="Calibri" pitchFamily="34" charset="-120"/>
              </a:rPr>
              <a:t>Document databases eliminate join overhead for selective queries.</a:t>
            </a:r>
            <a:endParaRPr lang="en-US" sz="1300" dirty="0"/>
          </a:p>
          <a:p>
            <a:pPr marL="342900" indent="-342900">
              <a:spcAft>
                <a:spcPts val="400"/>
              </a:spcAft>
              <a:buSzPct val="100000"/>
              <a:buChar char="•"/>
            </a:pPr>
            <a:r>
              <a:rPr lang="en-US" sz="1300" dirty="0">
                <a:solidFill>
                  <a:srgbClr val="334155"/>
                </a:solidFill>
                <a:latin typeface="Calibri" pitchFamily="34" charset="0"/>
                <a:ea typeface="Calibri" pitchFamily="34" charset="-122"/>
                <a:cs typeface="Calibri" pitchFamily="34" charset="-120"/>
              </a:rPr>
              <a:t>Graph databases enable traversal queries SQL cannot express naturally.</a:t>
            </a:r>
            <a:endParaRPr lang="en-US" sz="1300" dirty="0"/>
          </a:p>
          <a:p>
            <a:pPr marL="342900" indent="-342900">
              <a:spcAft>
                <a:spcPts val="400"/>
              </a:spcAft>
              <a:buSzPct val="100000"/>
              <a:buChar char="•"/>
            </a:pPr>
            <a:r>
              <a:rPr lang="en-US" sz="1300" dirty="0">
                <a:solidFill>
                  <a:srgbClr val="334155"/>
                </a:solidFill>
                <a:latin typeface="Calibri" pitchFamily="34" charset="0"/>
                <a:ea typeface="Calibri" pitchFamily="34" charset="-122"/>
                <a:cs typeface="Calibri" pitchFamily="34" charset="-120"/>
              </a:rPr>
              <a:t>Stream processing extends batch warehouses with real-time insight.</a:t>
            </a:r>
            <a:endParaRPr lang="en-US" sz="1300" dirty="0"/>
          </a:p>
        </p:txBody>
      </p:sp>
      <p:sp>
        <p:nvSpPr>
          <p:cNvPr id="8" name="Shape 6"/>
          <p:cNvSpPr/>
          <p:nvPr/>
        </p:nvSpPr>
        <p:spPr>
          <a:xfrm>
            <a:off x="6675120" y="1554480"/>
            <a:ext cx="4937760" cy="3931920"/>
          </a:xfrm>
          <a:prstGeom prst="rect">
            <a:avLst/>
          </a:prstGeom>
          <a:solidFill>
            <a:srgbClr val="F1F5F9"/>
          </a:solidFill>
          <a:ln w="6350">
            <a:solidFill>
              <a:srgbClr val="CBD5E1"/>
            </a:solidFill>
            <a:prstDash val="solid"/>
          </a:ln>
        </p:spPr>
        <p:txBody>
          <a:bodyPr/>
          <a:lstStyle/>
          <a:p>
            <a:endParaRPr lang="en-US"/>
          </a:p>
        </p:txBody>
      </p:sp>
      <p:sp>
        <p:nvSpPr>
          <p:cNvPr id="9" name="Shape 7"/>
          <p:cNvSpPr/>
          <p:nvPr/>
        </p:nvSpPr>
        <p:spPr>
          <a:xfrm>
            <a:off x="6675120" y="1554480"/>
            <a:ext cx="73152" cy="3931920"/>
          </a:xfrm>
          <a:prstGeom prst="rect">
            <a:avLst/>
          </a:prstGeom>
          <a:solidFill>
            <a:srgbClr val="0F4C81"/>
          </a:solidFill>
          <a:ln w="12700">
            <a:solidFill>
              <a:srgbClr val="333333"/>
            </a:solidFill>
            <a:prstDash val="solid"/>
          </a:ln>
        </p:spPr>
        <p:txBody>
          <a:bodyPr/>
          <a:lstStyle/>
          <a:p>
            <a:endParaRPr lang="en-US"/>
          </a:p>
        </p:txBody>
      </p:sp>
      <p:sp>
        <p:nvSpPr>
          <p:cNvPr id="10" name="Text 8"/>
          <p:cNvSpPr/>
          <p:nvPr/>
        </p:nvSpPr>
        <p:spPr>
          <a:xfrm>
            <a:off x="6903720" y="1783080"/>
            <a:ext cx="4572000" cy="274320"/>
          </a:xfrm>
          <a:prstGeom prst="rect">
            <a:avLst/>
          </a:prstGeom>
          <a:noFill/>
          <a:ln/>
        </p:spPr>
        <p:txBody>
          <a:bodyPr wrap="square" lIns="0" tIns="0" rIns="0" bIns="0" rtlCol="0" anchor="ctr"/>
          <a:lstStyle/>
          <a:p>
            <a:pPr marL="0" indent="0">
              <a:buNone/>
            </a:pPr>
            <a:r>
              <a:rPr lang="en-US" sz="1000" b="1" kern="0" spc="300" dirty="0">
                <a:solidFill>
                  <a:srgbClr val="0F4C81"/>
                </a:solidFill>
                <a:latin typeface="Calibri" pitchFamily="34" charset="0"/>
                <a:ea typeface="Calibri" pitchFamily="34" charset="-122"/>
                <a:cs typeface="Calibri" pitchFamily="34" charset="-120"/>
              </a:rPr>
              <a:t>RESEARCH QUESTION</a:t>
            </a:r>
            <a:endParaRPr lang="en-US" sz="1000" dirty="0"/>
          </a:p>
        </p:txBody>
      </p:sp>
      <p:sp>
        <p:nvSpPr>
          <p:cNvPr id="11" name="Text 9"/>
          <p:cNvSpPr/>
          <p:nvPr/>
        </p:nvSpPr>
        <p:spPr>
          <a:xfrm>
            <a:off x="6903720" y="2194560"/>
            <a:ext cx="4572000" cy="3017520"/>
          </a:xfrm>
          <a:prstGeom prst="rect">
            <a:avLst/>
          </a:prstGeom>
          <a:noFill/>
          <a:ln/>
        </p:spPr>
        <p:txBody>
          <a:bodyPr wrap="square" lIns="0" tIns="0" rIns="0" bIns="0" rtlCol="0" anchor="ctr"/>
          <a:lstStyle/>
          <a:p>
            <a:pPr marL="0" indent="0">
              <a:spcAft>
                <a:spcPts val="200"/>
              </a:spcAft>
              <a:buNone/>
            </a:pPr>
            <a:r>
              <a:rPr lang="en-US" sz="1400" dirty="0">
                <a:solidFill>
                  <a:srgbClr val="1E293B"/>
                </a:solidFill>
                <a:latin typeface="Calibri" pitchFamily="34" charset="0"/>
                <a:ea typeface="Calibri" pitchFamily="34" charset="-122"/>
                <a:cs typeface="Calibri" pitchFamily="34" charset="-120"/>
              </a:rPr>
              <a:t>Given the same epidemiological dataset and the same analytical queries, how do </a:t>
            </a:r>
            <a:r>
              <a:rPr lang="en-US" sz="1400" b="1" dirty="0">
                <a:solidFill>
                  <a:srgbClr val="1E293B"/>
                </a:solidFill>
                <a:latin typeface="Calibri" pitchFamily="34" charset="0"/>
                <a:ea typeface="Calibri" pitchFamily="34" charset="-122"/>
                <a:cs typeface="Calibri" pitchFamily="34" charset="-120"/>
              </a:rPr>
              <a:t>relational, document, and graph </a:t>
            </a:r>
            <a:r>
              <a:rPr lang="en-US" sz="1400" dirty="0">
                <a:solidFill>
                  <a:srgbClr val="1E293B"/>
                </a:solidFill>
                <a:latin typeface="Calibri" pitchFamily="34" charset="0"/>
                <a:ea typeface="Calibri" pitchFamily="34" charset="-122"/>
                <a:cs typeface="Calibri" pitchFamily="34" charset="-120"/>
              </a:rPr>
              <a:t>database implementations compare in terms of:</a:t>
            </a:r>
            <a:endParaRPr lang="en-US" sz="1400" dirty="0"/>
          </a:p>
          <a:p>
            <a:pPr marL="0" indent="0">
              <a:spcAft>
                <a:spcPts val="200"/>
              </a:spcAft>
              <a:buNone/>
            </a:pPr>
            <a:endParaRPr lang="en-US" sz="1400" dirty="0"/>
          </a:p>
          <a:p>
            <a:pPr marL="0" indent="0">
              <a:spcAft>
                <a:spcPts val="200"/>
              </a:spcAft>
              <a:buNone/>
            </a:pPr>
            <a:r>
              <a:rPr lang="en-US" sz="1400" dirty="0">
                <a:solidFill>
                  <a:srgbClr val="1E293B"/>
                </a:solidFill>
                <a:latin typeface="Calibri" pitchFamily="34" charset="0"/>
                <a:ea typeface="Calibri" pitchFamily="34" charset="-122"/>
                <a:cs typeface="Calibri" pitchFamily="34" charset="-120"/>
              </a:rPr>
              <a:t>• data modeling complexity</a:t>
            </a:r>
            <a:endParaRPr lang="en-US" sz="1400" dirty="0"/>
          </a:p>
          <a:p>
            <a:pPr marL="0" indent="0">
              <a:spcAft>
                <a:spcPts val="200"/>
              </a:spcAft>
              <a:buNone/>
            </a:pPr>
            <a:r>
              <a:rPr lang="en-US" sz="1400" dirty="0">
                <a:solidFill>
                  <a:srgbClr val="1E293B"/>
                </a:solidFill>
                <a:latin typeface="Calibri" pitchFamily="34" charset="0"/>
                <a:ea typeface="Calibri" pitchFamily="34" charset="-122"/>
                <a:cs typeface="Calibri" pitchFamily="34" charset="-120"/>
              </a:rPr>
              <a:t>• query expressiveness</a:t>
            </a:r>
            <a:endParaRPr lang="en-US" sz="1400" dirty="0"/>
          </a:p>
          <a:p>
            <a:pPr marL="0" indent="0">
              <a:spcAft>
                <a:spcPts val="200"/>
              </a:spcAft>
              <a:buNone/>
            </a:pPr>
            <a:r>
              <a:rPr lang="en-US" sz="1400" dirty="0">
                <a:solidFill>
                  <a:srgbClr val="1E293B"/>
                </a:solidFill>
                <a:latin typeface="Calibri" pitchFamily="34" charset="0"/>
                <a:ea typeface="Calibri" pitchFamily="34" charset="-122"/>
                <a:cs typeface="Calibri" pitchFamily="34" charset="-120"/>
              </a:rPr>
              <a:t>• execution performance</a:t>
            </a:r>
            <a:endParaRPr lang="en-US" sz="1400" dirty="0"/>
          </a:p>
        </p:txBody>
      </p:sp>
      <p:sp>
        <p:nvSpPr>
          <p:cNvPr id="12" name="Text 10"/>
          <p:cNvSpPr/>
          <p:nvPr/>
        </p:nvSpPr>
        <p:spPr>
          <a:xfrm>
            <a:off x="548640" y="5669280"/>
            <a:ext cx="11064240" cy="320040"/>
          </a:xfrm>
          <a:prstGeom prst="rect">
            <a:avLst/>
          </a:prstGeom>
          <a:noFill/>
          <a:ln/>
        </p:spPr>
        <p:txBody>
          <a:bodyPr wrap="square" lIns="0" tIns="0" rIns="0" bIns="0" rtlCol="0" anchor="ctr"/>
          <a:lstStyle/>
          <a:p>
            <a:pPr marL="0" indent="0" algn="l">
              <a:buNone/>
            </a:pPr>
            <a:r>
              <a:rPr lang="en-US" sz="1200" i="1" dirty="0">
                <a:solidFill>
                  <a:srgbClr val="64748B"/>
                </a:solidFill>
                <a:latin typeface="Calibri" pitchFamily="34" charset="0"/>
                <a:ea typeface="Calibri" pitchFamily="34" charset="-122"/>
                <a:cs typeface="Calibri" pitchFamily="34" charset="-120"/>
              </a:rPr>
              <a:t> This project answers that question empirically.</a:t>
            </a:r>
            <a:endParaRPr lang="en-US" sz="1200" dirty="0"/>
          </a:p>
        </p:txBody>
      </p:sp>
      <p:sp>
        <p:nvSpPr>
          <p:cNvPr id="13" name="Text 11"/>
          <p:cNvSpPr/>
          <p:nvPr/>
        </p:nvSpPr>
        <p:spPr>
          <a:xfrm>
            <a:off x="548640" y="6446520"/>
            <a:ext cx="73152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Anwar Debes · IKT453 · University of Agder</a:t>
            </a:r>
            <a:endParaRPr lang="en-US" sz="900" dirty="0"/>
          </a:p>
        </p:txBody>
      </p:sp>
      <p:sp>
        <p:nvSpPr>
          <p:cNvPr id="14" name="Text 12"/>
          <p:cNvSpPr/>
          <p:nvPr/>
        </p:nvSpPr>
        <p:spPr>
          <a:xfrm>
            <a:off x="10789920" y="6446520"/>
            <a:ext cx="86868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 / 20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02920"/>
          </a:xfrm>
          <a:prstGeom prst="rect">
            <a:avLst/>
          </a:prstGeom>
          <a:noFill/>
          <a:ln/>
        </p:spPr>
        <p:txBody>
          <a:bodyPr wrap="square" lIns="0" tIns="0" rIns="0" bIns="0" rtlCol="0" anchor="ctr"/>
          <a:lstStyle/>
          <a:p>
            <a:pPr marL="0" indent="0" algn="l">
              <a:buNone/>
            </a:pPr>
            <a:r>
              <a:rPr lang="en-US" sz="2800" b="1" dirty="0">
                <a:solidFill>
                  <a:srgbClr val="1E293B"/>
                </a:solidFill>
                <a:latin typeface="Cambria" pitchFamily="34" charset="0"/>
                <a:ea typeface="Cambria" pitchFamily="34" charset="-122"/>
                <a:cs typeface="Cambria" pitchFamily="34" charset="-120"/>
              </a:rPr>
              <a:t>Project Objectives</a:t>
            </a:r>
            <a:endParaRPr lang="en-US" sz="2800" dirty="0"/>
          </a:p>
        </p:txBody>
      </p:sp>
      <p:sp>
        <p:nvSpPr>
          <p:cNvPr id="3" name="Text 1"/>
          <p:cNvSpPr/>
          <p:nvPr/>
        </p:nvSpPr>
        <p:spPr>
          <a:xfrm>
            <a:off x="548640" y="841248"/>
            <a:ext cx="11064240" cy="292608"/>
          </a:xfrm>
          <a:prstGeom prst="rect">
            <a:avLst/>
          </a:prstGeom>
          <a:noFill/>
          <a:ln/>
        </p:spPr>
        <p:txBody>
          <a:bodyPr wrap="square" lIns="0" tIns="0" rIns="0" bIns="0" rtlCol="0" anchor="ctr"/>
          <a:lstStyle/>
          <a:p>
            <a:pPr marL="0" indent="0" algn="l">
              <a:buNone/>
            </a:pPr>
            <a:r>
              <a:rPr lang="en-US" sz="1300" i="1" dirty="0">
                <a:solidFill>
                  <a:srgbClr val="64748B"/>
                </a:solidFill>
                <a:latin typeface="Calibri" pitchFamily="34" charset="0"/>
                <a:ea typeface="Calibri" pitchFamily="34" charset="-122"/>
                <a:cs typeface="Calibri" pitchFamily="34" charset="-120"/>
              </a:rPr>
              <a:t>The eight deliverables, as set by the project brief</a:t>
            </a:r>
            <a:endParaRPr lang="en-US" sz="1300" dirty="0"/>
          </a:p>
        </p:txBody>
      </p:sp>
      <p:sp>
        <p:nvSpPr>
          <p:cNvPr id="4" name="Shape 2"/>
          <p:cNvSpPr/>
          <p:nvPr/>
        </p:nvSpPr>
        <p:spPr>
          <a:xfrm>
            <a:off x="548640" y="1207008"/>
            <a:ext cx="11064240" cy="0"/>
          </a:xfrm>
          <a:prstGeom prst="line">
            <a:avLst/>
          </a:prstGeom>
          <a:noFill/>
          <a:ln w="9525">
            <a:solidFill>
              <a:srgbClr val="CBD5E1"/>
            </a:solidFill>
            <a:prstDash val="solid"/>
          </a:ln>
        </p:spPr>
        <p:txBody>
          <a:bodyPr/>
          <a:lstStyle/>
          <a:p>
            <a:endParaRPr lang="en-US"/>
          </a:p>
        </p:txBody>
      </p:sp>
      <p:sp>
        <p:nvSpPr>
          <p:cNvPr id="5" name="Shape 3"/>
          <p:cNvSpPr/>
          <p:nvPr/>
        </p:nvSpPr>
        <p:spPr>
          <a:xfrm>
            <a:off x="640080" y="1673352"/>
            <a:ext cx="347472" cy="347472"/>
          </a:xfrm>
          <a:prstGeom prst="ellipse">
            <a:avLst/>
          </a:prstGeom>
          <a:solidFill>
            <a:srgbClr val="0F4C81"/>
          </a:solidFill>
          <a:ln w="12700">
            <a:solidFill>
              <a:srgbClr val="333333"/>
            </a:solidFill>
            <a:prstDash val="solid"/>
          </a:ln>
        </p:spPr>
        <p:txBody>
          <a:bodyPr/>
          <a:lstStyle/>
          <a:p>
            <a:endParaRPr lang="en-US"/>
          </a:p>
        </p:txBody>
      </p:sp>
      <p:sp>
        <p:nvSpPr>
          <p:cNvPr id="6" name="Text 4"/>
          <p:cNvSpPr/>
          <p:nvPr/>
        </p:nvSpPr>
        <p:spPr>
          <a:xfrm>
            <a:off x="640080" y="1673352"/>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188720" y="1600200"/>
            <a:ext cx="10332720" cy="512064"/>
          </a:xfrm>
          <a:prstGeom prst="rect">
            <a:avLst/>
          </a:prstGeom>
          <a:noFill/>
          <a:ln/>
        </p:spPr>
        <p:txBody>
          <a:bodyPr wrap="square" lIns="0" tIns="0" rIns="0" bIns="0" rtlCol="0" anchor="ctr"/>
          <a:lstStyle/>
          <a:p>
            <a:pPr marL="0" indent="0">
              <a:buNone/>
            </a:pPr>
            <a:r>
              <a:rPr lang="en-US" sz="1500" dirty="0">
                <a:solidFill>
                  <a:srgbClr val="1E293B"/>
                </a:solidFill>
                <a:latin typeface="Calibri" pitchFamily="34" charset="0"/>
                <a:ea typeface="Calibri" pitchFamily="34" charset="-122"/>
                <a:cs typeface="Calibri" pitchFamily="34" charset="-120"/>
              </a:rPr>
              <a:t>Design a data warehouse for a chosen application domain</a:t>
            </a:r>
            <a:endParaRPr lang="en-US" sz="1500" dirty="0"/>
          </a:p>
        </p:txBody>
      </p:sp>
      <p:sp>
        <p:nvSpPr>
          <p:cNvPr id="8" name="Shape 6"/>
          <p:cNvSpPr/>
          <p:nvPr/>
        </p:nvSpPr>
        <p:spPr>
          <a:xfrm>
            <a:off x="640080" y="2185416"/>
            <a:ext cx="347472" cy="347472"/>
          </a:xfrm>
          <a:prstGeom prst="ellipse">
            <a:avLst/>
          </a:prstGeom>
          <a:solidFill>
            <a:srgbClr val="0F4C81"/>
          </a:solidFill>
          <a:ln w="12700">
            <a:solidFill>
              <a:srgbClr val="333333"/>
            </a:solidFill>
            <a:prstDash val="solid"/>
          </a:ln>
        </p:spPr>
        <p:txBody>
          <a:bodyPr/>
          <a:lstStyle/>
          <a:p>
            <a:endParaRPr lang="en-US"/>
          </a:p>
        </p:txBody>
      </p:sp>
      <p:sp>
        <p:nvSpPr>
          <p:cNvPr id="9" name="Text 7"/>
          <p:cNvSpPr/>
          <p:nvPr/>
        </p:nvSpPr>
        <p:spPr>
          <a:xfrm>
            <a:off x="640080" y="2185416"/>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Text 8"/>
          <p:cNvSpPr/>
          <p:nvPr/>
        </p:nvSpPr>
        <p:spPr>
          <a:xfrm>
            <a:off x="1188720" y="2112264"/>
            <a:ext cx="10332720" cy="512064"/>
          </a:xfrm>
          <a:prstGeom prst="rect">
            <a:avLst/>
          </a:prstGeom>
          <a:noFill/>
          <a:ln/>
        </p:spPr>
        <p:txBody>
          <a:bodyPr wrap="square" lIns="0" tIns="0" rIns="0" bIns="0" rtlCol="0" anchor="ctr"/>
          <a:lstStyle/>
          <a:p>
            <a:pPr marL="0" indent="0">
              <a:buNone/>
            </a:pPr>
            <a:r>
              <a:rPr lang="en-US" sz="1500" dirty="0">
                <a:solidFill>
                  <a:srgbClr val="1E293B"/>
                </a:solidFill>
                <a:latin typeface="Calibri" pitchFamily="34" charset="0"/>
                <a:ea typeface="Calibri" pitchFamily="34" charset="-122"/>
                <a:cs typeface="Calibri" pitchFamily="34" charset="-120"/>
              </a:rPr>
              <a:t>Prepare decision support queries the warehouse must serve</a:t>
            </a:r>
            <a:endParaRPr lang="en-US" sz="1500" dirty="0"/>
          </a:p>
        </p:txBody>
      </p:sp>
      <p:sp>
        <p:nvSpPr>
          <p:cNvPr id="11" name="Shape 9"/>
          <p:cNvSpPr/>
          <p:nvPr/>
        </p:nvSpPr>
        <p:spPr>
          <a:xfrm>
            <a:off x="640080" y="2697480"/>
            <a:ext cx="347472" cy="347472"/>
          </a:xfrm>
          <a:prstGeom prst="ellipse">
            <a:avLst/>
          </a:prstGeom>
          <a:solidFill>
            <a:srgbClr val="0F4C81"/>
          </a:solidFill>
          <a:ln w="12700">
            <a:solidFill>
              <a:srgbClr val="333333"/>
            </a:solidFill>
            <a:prstDash val="solid"/>
          </a:ln>
        </p:spPr>
        <p:txBody>
          <a:bodyPr/>
          <a:lstStyle/>
          <a:p>
            <a:endParaRPr lang="en-US"/>
          </a:p>
        </p:txBody>
      </p:sp>
      <p:sp>
        <p:nvSpPr>
          <p:cNvPr id="12" name="Text 10"/>
          <p:cNvSpPr/>
          <p:nvPr/>
        </p:nvSpPr>
        <p:spPr>
          <a:xfrm>
            <a:off x="640080" y="2697480"/>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3" name="Text 11"/>
          <p:cNvSpPr/>
          <p:nvPr/>
        </p:nvSpPr>
        <p:spPr>
          <a:xfrm>
            <a:off x="1188720" y="2624328"/>
            <a:ext cx="10332720" cy="512064"/>
          </a:xfrm>
          <a:prstGeom prst="rect">
            <a:avLst/>
          </a:prstGeom>
          <a:noFill/>
          <a:ln/>
        </p:spPr>
        <p:txBody>
          <a:bodyPr wrap="square" lIns="0" tIns="0" rIns="0" bIns="0" rtlCol="0" anchor="ctr"/>
          <a:lstStyle/>
          <a:p>
            <a:pPr marL="0" indent="0">
              <a:buNone/>
            </a:pPr>
            <a:r>
              <a:rPr lang="en-US" sz="1500" dirty="0">
                <a:solidFill>
                  <a:srgbClr val="1E293B"/>
                </a:solidFill>
                <a:latin typeface="Calibri" pitchFamily="34" charset="0"/>
                <a:ea typeface="Calibri" pitchFamily="34" charset="-122"/>
                <a:cs typeface="Calibri" pitchFamily="34" charset="-120"/>
              </a:rPr>
              <a:t>Select data sources and perform ETL transformations</a:t>
            </a:r>
            <a:endParaRPr lang="en-US" sz="1500" dirty="0"/>
          </a:p>
        </p:txBody>
      </p:sp>
      <p:sp>
        <p:nvSpPr>
          <p:cNvPr id="14" name="Shape 12"/>
          <p:cNvSpPr/>
          <p:nvPr/>
        </p:nvSpPr>
        <p:spPr>
          <a:xfrm>
            <a:off x="640080" y="3209544"/>
            <a:ext cx="347472" cy="347472"/>
          </a:xfrm>
          <a:prstGeom prst="ellipse">
            <a:avLst/>
          </a:prstGeom>
          <a:solidFill>
            <a:srgbClr val="0F4C81"/>
          </a:solidFill>
          <a:ln w="12700">
            <a:solidFill>
              <a:srgbClr val="333333"/>
            </a:solidFill>
            <a:prstDash val="solid"/>
          </a:ln>
        </p:spPr>
        <p:txBody>
          <a:bodyPr/>
          <a:lstStyle/>
          <a:p>
            <a:endParaRPr lang="en-US"/>
          </a:p>
        </p:txBody>
      </p:sp>
      <p:sp>
        <p:nvSpPr>
          <p:cNvPr id="15" name="Text 13"/>
          <p:cNvSpPr/>
          <p:nvPr/>
        </p:nvSpPr>
        <p:spPr>
          <a:xfrm>
            <a:off x="640080" y="3209544"/>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6" name="Text 14"/>
          <p:cNvSpPr/>
          <p:nvPr/>
        </p:nvSpPr>
        <p:spPr>
          <a:xfrm>
            <a:off x="1188720" y="3136392"/>
            <a:ext cx="10332720" cy="512064"/>
          </a:xfrm>
          <a:prstGeom prst="rect">
            <a:avLst/>
          </a:prstGeom>
          <a:noFill/>
          <a:ln/>
        </p:spPr>
        <p:txBody>
          <a:bodyPr wrap="square" lIns="0" tIns="0" rIns="0" bIns="0" rtlCol="0" anchor="ctr"/>
          <a:lstStyle/>
          <a:p>
            <a:pPr marL="0" indent="0">
              <a:buNone/>
            </a:pPr>
            <a:r>
              <a:rPr lang="en-US" sz="1500" dirty="0">
                <a:solidFill>
                  <a:srgbClr val="1E293B"/>
                </a:solidFill>
                <a:latin typeface="Calibri" pitchFamily="34" charset="0"/>
                <a:ea typeface="Calibri" pitchFamily="34" charset="-122"/>
                <a:cs typeface="Calibri" pitchFamily="34" charset="-120"/>
              </a:rPr>
              <a:t>Implement as a relational star schema (Kimball model)</a:t>
            </a:r>
            <a:endParaRPr lang="en-US" sz="1500" dirty="0"/>
          </a:p>
        </p:txBody>
      </p:sp>
      <p:sp>
        <p:nvSpPr>
          <p:cNvPr id="17" name="Shape 15"/>
          <p:cNvSpPr/>
          <p:nvPr/>
        </p:nvSpPr>
        <p:spPr>
          <a:xfrm>
            <a:off x="640080" y="3721608"/>
            <a:ext cx="347472" cy="347472"/>
          </a:xfrm>
          <a:prstGeom prst="ellipse">
            <a:avLst/>
          </a:prstGeom>
          <a:solidFill>
            <a:srgbClr val="0F4C81"/>
          </a:solidFill>
          <a:ln w="12700">
            <a:solidFill>
              <a:srgbClr val="333333"/>
            </a:solidFill>
            <a:prstDash val="solid"/>
          </a:ln>
        </p:spPr>
        <p:txBody>
          <a:bodyPr/>
          <a:lstStyle/>
          <a:p>
            <a:endParaRPr lang="en-US"/>
          </a:p>
        </p:txBody>
      </p:sp>
      <p:sp>
        <p:nvSpPr>
          <p:cNvPr id="18" name="Text 16"/>
          <p:cNvSpPr/>
          <p:nvPr/>
        </p:nvSpPr>
        <p:spPr>
          <a:xfrm>
            <a:off x="640080" y="3721608"/>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9" name="Text 17"/>
          <p:cNvSpPr/>
          <p:nvPr/>
        </p:nvSpPr>
        <p:spPr>
          <a:xfrm>
            <a:off x="1188720" y="3648456"/>
            <a:ext cx="10332720" cy="512064"/>
          </a:xfrm>
          <a:prstGeom prst="rect">
            <a:avLst/>
          </a:prstGeom>
          <a:noFill/>
          <a:ln/>
        </p:spPr>
        <p:txBody>
          <a:bodyPr wrap="square" lIns="0" tIns="0" rIns="0" bIns="0" rtlCol="0" anchor="ctr"/>
          <a:lstStyle/>
          <a:p>
            <a:pPr marL="0" indent="0">
              <a:buNone/>
            </a:pPr>
            <a:r>
              <a:rPr lang="en-US" sz="1500" dirty="0">
                <a:solidFill>
                  <a:srgbClr val="1E293B"/>
                </a:solidFill>
                <a:latin typeface="Calibri" pitchFamily="34" charset="0"/>
                <a:ea typeface="Calibri" pitchFamily="34" charset="-122"/>
                <a:cs typeface="Calibri" pitchFamily="34" charset="-120"/>
              </a:rPr>
              <a:t>Provide two NoSQL alternative implementations</a:t>
            </a:r>
            <a:endParaRPr lang="en-US" sz="1500" dirty="0"/>
          </a:p>
        </p:txBody>
      </p:sp>
      <p:sp>
        <p:nvSpPr>
          <p:cNvPr id="20" name="Shape 18"/>
          <p:cNvSpPr/>
          <p:nvPr/>
        </p:nvSpPr>
        <p:spPr>
          <a:xfrm>
            <a:off x="640080" y="4233672"/>
            <a:ext cx="347472" cy="347472"/>
          </a:xfrm>
          <a:prstGeom prst="ellipse">
            <a:avLst/>
          </a:prstGeom>
          <a:solidFill>
            <a:srgbClr val="0F4C81"/>
          </a:solidFill>
          <a:ln w="12700">
            <a:solidFill>
              <a:srgbClr val="333333"/>
            </a:solidFill>
            <a:prstDash val="solid"/>
          </a:ln>
        </p:spPr>
        <p:txBody>
          <a:bodyPr/>
          <a:lstStyle/>
          <a:p>
            <a:endParaRPr lang="en-US"/>
          </a:p>
        </p:txBody>
      </p:sp>
      <p:sp>
        <p:nvSpPr>
          <p:cNvPr id="21" name="Text 19"/>
          <p:cNvSpPr/>
          <p:nvPr/>
        </p:nvSpPr>
        <p:spPr>
          <a:xfrm>
            <a:off x="640080" y="4233672"/>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2" name="Text 20"/>
          <p:cNvSpPr/>
          <p:nvPr/>
        </p:nvSpPr>
        <p:spPr>
          <a:xfrm>
            <a:off x="1188720" y="4160520"/>
            <a:ext cx="10332720" cy="512064"/>
          </a:xfrm>
          <a:prstGeom prst="rect">
            <a:avLst/>
          </a:prstGeom>
          <a:noFill/>
          <a:ln/>
        </p:spPr>
        <p:txBody>
          <a:bodyPr wrap="square" lIns="0" tIns="0" rIns="0" bIns="0" rtlCol="0" anchor="ctr"/>
          <a:lstStyle/>
          <a:p>
            <a:pPr marL="0" indent="0">
              <a:buNone/>
            </a:pPr>
            <a:r>
              <a:rPr lang="en-US" sz="1500" dirty="0">
                <a:solidFill>
                  <a:srgbClr val="1E293B"/>
                </a:solidFill>
                <a:latin typeface="Calibri" pitchFamily="34" charset="0"/>
                <a:ea typeface="Calibri" pitchFamily="34" charset="-122"/>
                <a:cs typeface="Calibri" pitchFamily="34" charset="-120"/>
              </a:rPr>
              <a:t>Compare relational vs NoSQL advantages and trade-offs</a:t>
            </a:r>
            <a:endParaRPr lang="en-US" sz="1500" dirty="0"/>
          </a:p>
        </p:txBody>
      </p:sp>
      <p:sp>
        <p:nvSpPr>
          <p:cNvPr id="23" name="Shape 21"/>
          <p:cNvSpPr/>
          <p:nvPr/>
        </p:nvSpPr>
        <p:spPr>
          <a:xfrm>
            <a:off x="640080" y="4745736"/>
            <a:ext cx="347472" cy="347472"/>
          </a:xfrm>
          <a:prstGeom prst="ellipse">
            <a:avLst/>
          </a:prstGeom>
          <a:solidFill>
            <a:srgbClr val="0F4C81"/>
          </a:solidFill>
          <a:ln w="12700">
            <a:solidFill>
              <a:srgbClr val="333333"/>
            </a:solidFill>
            <a:prstDash val="solid"/>
          </a:ln>
        </p:spPr>
        <p:txBody>
          <a:bodyPr/>
          <a:lstStyle/>
          <a:p>
            <a:endParaRPr lang="en-US"/>
          </a:p>
        </p:txBody>
      </p:sp>
      <p:sp>
        <p:nvSpPr>
          <p:cNvPr id="24" name="Text 22"/>
          <p:cNvSpPr/>
          <p:nvPr/>
        </p:nvSpPr>
        <p:spPr>
          <a:xfrm>
            <a:off x="640080" y="4745736"/>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25" name="Text 23"/>
          <p:cNvSpPr/>
          <p:nvPr/>
        </p:nvSpPr>
        <p:spPr>
          <a:xfrm>
            <a:off x="1188720" y="4672584"/>
            <a:ext cx="10332720" cy="512064"/>
          </a:xfrm>
          <a:prstGeom prst="rect">
            <a:avLst/>
          </a:prstGeom>
          <a:noFill/>
          <a:ln/>
        </p:spPr>
        <p:txBody>
          <a:bodyPr wrap="square" lIns="0" tIns="0" rIns="0" bIns="0" rtlCol="0" anchor="ctr"/>
          <a:lstStyle/>
          <a:p>
            <a:pPr marL="0" indent="0">
              <a:buNone/>
            </a:pPr>
            <a:r>
              <a:rPr lang="en-US" sz="1500" dirty="0">
                <a:solidFill>
                  <a:srgbClr val="1E293B"/>
                </a:solidFill>
                <a:latin typeface="Calibri" pitchFamily="34" charset="0"/>
                <a:ea typeface="Calibri" pitchFamily="34" charset="-122"/>
                <a:cs typeface="Calibri" pitchFamily="34" charset="-120"/>
              </a:rPr>
              <a:t>Dockerize the complete stack (DB + NoSQL + streaming)</a:t>
            </a:r>
            <a:endParaRPr lang="en-US" sz="1500" dirty="0"/>
          </a:p>
        </p:txBody>
      </p:sp>
      <p:sp>
        <p:nvSpPr>
          <p:cNvPr id="26" name="Shape 24"/>
          <p:cNvSpPr/>
          <p:nvPr/>
        </p:nvSpPr>
        <p:spPr>
          <a:xfrm>
            <a:off x="640080" y="5257800"/>
            <a:ext cx="347472" cy="347472"/>
          </a:xfrm>
          <a:prstGeom prst="ellipse">
            <a:avLst/>
          </a:prstGeom>
          <a:solidFill>
            <a:srgbClr val="0F4C81"/>
          </a:solidFill>
          <a:ln w="12700">
            <a:solidFill>
              <a:srgbClr val="333333"/>
            </a:solidFill>
            <a:prstDash val="solid"/>
          </a:ln>
        </p:spPr>
        <p:txBody>
          <a:bodyPr/>
          <a:lstStyle/>
          <a:p>
            <a:endParaRPr lang="en-US"/>
          </a:p>
        </p:txBody>
      </p:sp>
      <p:sp>
        <p:nvSpPr>
          <p:cNvPr id="27" name="Text 25"/>
          <p:cNvSpPr/>
          <p:nvPr/>
        </p:nvSpPr>
        <p:spPr>
          <a:xfrm>
            <a:off x="640080" y="5257800"/>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28" name="Text 26"/>
          <p:cNvSpPr/>
          <p:nvPr/>
        </p:nvSpPr>
        <p:spPr>
          <a:xfrm>
            <a:off x="1188720" y="5184648"/>
            <a:ext cx="10332720" cy="512064"/>
          </a:xfrm>
          <a:prstGeom prst="rect">
            <a:avLst/>
          </a:prstGeom>
          <a:noFill/>
          <a:ln/>
        </p:spPr>
        <p:txBody>
          <a:bodyPr wrap="square" lIns="0" tIns="0" rIns="0" bIns="0" rtlCol="0" anchor="ctr"/>
          <a:lstStyle/>
          <a:p>
            <a:pPr marL="0" indent="0">
              <a:buNone/>
            </a:pPr>
            <a:r>
              <a:rPr lang="en-US" sz="1500" dirty="0">
                <a:solidFill>
                  <a:srgbClr val="1E293B"/>
                </a:solidFill>
                <a:latin typeface="Calibri" pitchFamily="34" charset="0"/>
                <a:ea typeface="Calibri" pitchFamily="34" charset="-122"/>
                <a:cs typeface="Calibri" pitchFamily="34" charset="-120"/>
              </a:rPr>
              <a:t>Apply stream processing as an additional contribution</a:t>
            </a:r>
            <a:endParaRPr lang="en-US" sz="1500" dirty="0"/>
          </a:p>
        </p:txBody>
      </p:sp>
      <p:sp>
        <p:nvSpPr>
          <p:cNvPr id="29" name="Text 27"/>
          <p:cNvSpPr/>
          <p:nvPr/>
        </p:nvSpPr>
        <p:spPr>
          <a:xfrm>
            <a:off x="548640" y="5806440"/>
            <a:ext cx="11064240" cy="292608"/>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All 8 delivered. Objective 8 (streaming) was designated as optional extra credit in the brief.</a:t>
            </a:r>
            <a:endParaRPr lang="en-US" sz="1100" dirty="0"/>
          </a:p>
        </p:txBody>
      </p:sp>
      <p:sp>
        <p:nvSpPr>
          <p:cNvPr id="30" name="Text 28"/>
          <p:cNvSpPr/>
          <p:nvPr/>
        </p:nvSpPr>
        <p:spPr>
          <a:xfrm>
            <a:off x="548640" y="6446520"/>
            <a:ext cx="73152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Anwar Debes · IKT453 · University of Agder</a:t>
            </a:r>
            <a:endParaRPr lang="en-US" sz="900" dirty="0"/>
          </a:p>
        </p:txBody>
      </p:sp>
      <p:sp>
        <p:nvSpPr>
          <p:cNvPr id="31" name="Text 29"/>
          <p:cNvSpPr/>
          <p:nvPr/>
        </p:nvSpPr>
        <p:spPr>
          <a:xfrm>
            <a:off x="10789920" y="6446520"/>
            <a:ext cx="86868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 / 20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02920"/>
          </a:xfrm>
          <a:prstGeom prst="rect">
            <a:avLst/>
          </a:prstGeom>
          <a:noFill/>
          <a:ln/>
        </p:spPr>
        <p:txBody>
          <a:bodyPr wrap="square" lIns="0" tIns="0" rIns="0" bIns="0" rtlCol="0" anchor="ctr"/>
          <a:lstStyle/>
          <a:p>
            <a:pPr marL="0" indent="0" algn="l">
              <a:buNone/>
            </a:pPr>
            <a:r>
              <a:rPr lang="en-US" sz="2800" b="1" dirty="0">
                <a:solidFill>
                  <a:srgbClr val="1E293B"/>
                </a:solidFill>
                <a:latin typeface="Cambria" pitchFamily="34" charset="0"/>
                <a:ea typeface="Cambria" pitchFamily="34" charset="-122"/>
                <a:cs typeface="Cambria" pitchFamily="34" charset="-120"/>
              </a:rPr>
              <a:t>The Dataset</a:t>
            </a:r>
            <a:endParaRPr lang="en-US" sz="2800" dirty="0"/>
          </a:p>
        </p:txBody>
      </p:sp>
      <p:sp>
        <p:nvSpPr>
          <p:cNvPr id="3" name="Text 1"/>
          <p:cNvSpPr/>
          <p:nvPr/>
        </p:nvSpPr>
        <p:spPr>
          <a:xfrm>
            <a:off x="548640" y="841248"/>
            <a:ext cx="11064240" cy="292608"/>
          </a:xfrm>
          <a:prstGeom prst="rect">
            <a:avLst/>
          </a:prstGeom>
          <a:noFill/>
          <a:ln/>
        </p:spPr>
        <p:txBody>
          <a:bodyPr wrap="square" lIns="0" tIns="0" rIns="0" bIns="0" rtlCol="0" anchor="ctr"/>
          <a:lstStyle/>
          <a:p>
            <a:pPr marL="0" indent="0" algn="l">
              <a:buNone/>
            </a:pPr>
            <a:r>
              <a:rPr lang="en-US" sz="1300" i="1" dirty="0">
                <a:solidFill>
                  <a:srgbClr val="64748B"/>
                </a:solidFill>
                <a:latin typeface="Calibri" pitchFamily="34" charset="0"/>
                <a:ea typeface="Calibri" pitchFamily="34" charset="-122"/>
                <a:cs typeface="Calibri" pitchFamily="34" charset="-120"/>
              </a:rPr>
              <a:t>Project Tycho Level 1 University of Pittsburgh</a:t>
            </a:r>
            <a:endParaRPr lang="en-US" sz="1300" dirty="0"/>
          </a:p>
        </p:txBody>
      </p:sp>
      <p:sp>
        <p:nvSpPr>
          <p:cNvPr id="4" name="Shape 2"/>
          <p:cNvSpPr/>
          <p:nvPr/>
        </p:nvSpPr>
        <p:spPr>
          <a:xfrm>
            <a:off x="548640" y="1207008"/>
            <a:ext cx="11064240" cy="0"/>
          </a:xfrm>
          <a:prstGeom prst="line">
            <a:avLst/>
          </a:prstGeom>
          <a:noFill/>
          <a:ln w="9525">
            <a:solidFill>
              <a:srgbClr val="CBD5E1"/>
            </a:solidFill>
            <a:prstDash val="solid"/>
          </a:ln>
        </p:spPr>
        <p:txBody>
          <a:bodyPr/>
          <a:lstStyle/>
          <a:p>
            <a:endParaRPr lang="en-US"/>
          </a:p>
        </p:txBody>
      </p:sp>
      <p:sp>
        <p:nvSpPr>
          <p:cNvPr id="5" name="Text 3"/>
          <p:cNvSpPr/>
          <p:nvPr/>
        </p:nvSpPr>
        <p:spPr>
          <a:xfrm>
            <a:off x="548640" y="1463040"/>
            <a:ext cx="5669280" cy="1371600"/>
          </a:xfrm>
          <a:prstGeom prst="rect">
            <a:avLst/>
          </a:prstGeom>
          <a:noFill/>
          <a:ln/>
        </p:spPr>
        <p:txBody>
          <a:bodyPr wrap="square" lIns="0" tIns="0" rIns="0" bIns="0" rtlCol="0" anchor="ctr"/>
          <a:lstStyle/>
          <a:p>
            <a:pPr marL="0" indent="0">
              <a:buNone/>
            </a:pPr>
            <a:r>
              <a:rPr lang="en-US" sz="1400" dirty="0">
                <a:solidFill>
                  <a:srgbClr val="334155"/>
                </a:solidFill>
                <a:latin typeface="Calibri" pitchFamily="34" charset="0"/>
                <a:ea typeface="Calibri" pitchFamily="34" charset="-122"/>
                <a:cs typeface="Calibri" pitchFamily="34" charset="-120"/>
              </a:rPr>
              <a:t>A research-quality subset of US notifiable-disease surveillance data, curated from the country's weekly disease reporting system (operating since 1888).</a:t>
            </a:r>
            <a:endParaRPr lang="en-US" sz="1400" dirty="0"/>
          </a:p>
        </p:txBody>
      </p:sp>
      <p:sp>
        <p:nvSpPr>
          <p:cNvPr id="6" name="Text 4"/>
          <p:cNvSpPr/>
          <p:nvPr/>
        </p:nvSpPr>
        <p:spPr>
          <a:xfrm>
            <a:off x="548640" y="2880360"/>
            <a:ext cx="5669280" cy="274320"/>
          </a:xfrm>
          <a:prstGeom prst="rect">
            <a:avLst/>
          </a:prstGeom>
          <a:noFill/>
          <a:ln/>
        </p:spPr>
        <p:txBody>
          <a:bodyPr wrap="square" lIns="0" tIns="0" rIns="0" bIns="0" rtlCol="0" anchor="ctr"/>
          <a:lstStyle/>
          <a:p>
            <a:pPr marL="0" indent="0">
              <a:buNone/>
            </a:pPr>
            <a:r>
              <a:rPr lang="en-US" sz="1200" b="1" kern="0" spc="200" dirty="0">
                <a:solidFill>
                  <a:srgbClr val="0F4C81"/>
                </a:solidFill>
                <a:latin typeface="Calibri" pitchFamily="34" charset="0"/>
                <a:ea typeface="Calibri" pitchFamily="34" charset="-122"/>
                <a:cs typeface="Calibri" pitchFamily="34" charset="-120"/>
              </a:rPr>
              <a:t>Coverage</a:t>
            </a:r>
            <a:endParaRPr lang="en-US" sz="1200" dirty="0"/>
          </a:p>
        </p:txBody>
      </p:sp>
      <p:sp>
        <p:nvSpPr>
          <p:cNvPr id="7" name="Text 5"/>
          <p:cNvSpPr/>
          <p:nvPr/>
        </p:nvSpPr>
        <p:spPr>
          <a:xfrm>
            <a:off x="548640" y="3200400"/>
            <a:ext cx="5669280" cy="1463040"/>
          </a:xfrm>
          <a:prstGeom prst="rect">
            <a:avLst/>
          </a:prstGeom>
          <a:noFill/>
          <a:ln/>
        </p:spPr>
        <p:txBody>
          <a:bodyPr wrap="square" lIns="0" tIns="0" rIns="0" bIns="0" rtlCol="0" anchor="ctr"/>
          <a:lstStyle/>
          <a:p>
            <a:pPr marL="0" indent="0">
              <a:spcAft>
                <a:spcPts val="200"/>
              </a:spcAft>
              <a:buNone/>
            </a:pPr>
            <a:r>
              <a:rPr lang="en-US" sz="1300" dirty="0">
                <a:solidFill>
                  <a:srgbClr val="334155"/>
                </a:solidFill>
                <a:latin typeface="Calibri" pitchFamily="34" charset="0"/>
                <a:ea typeface="Calibri" pitchFamily="34" charset="-122"/>
                <a:cs typeface="Calibri" pitchFamily="34" charset="-120"/>
              </a:rPr>
              <a:t>Measles, Pertussis, Polio, Diphtheria, Smallpox,</a:t>
            </a:r>
            <a:endParaRPr lang="en-US" sz="1300" dirty="0"/>
          </a:p>
          <a:p>
            <a:pPr marL="0" indent="0">
              <a:spcAft>
                <a:spcPts val="200"/>
              </a:spcAft>
              <a:buNone/>
            </a:pPr>
            <a:r>
              <a:rPr lang="en-US" sz="1300" i="1" dirty="0">
                <a:solidFill>
                  <a:srgbClr val="334155"/>
                </a:solidFill>
                <a:latin typeface="Calibri" pitchFamily="34" charset="0"/>
                <a:ea typeface="Calibri" pitchFamily="34" charset="-122"/>
                <a:cs typeface="Calibri" pitchFamily="34" charset="-120"/>
              </a:rPr>
              <a:t>Hepatitis A, Mumps, Rubella</a:t>
            </a:r>
            <a:endParaRPr lang="en-US" sz="1300" dirty="0"/>
          </a:p>
          <a:p>
            <a:pPr marL="0" indent="0">
              <a:spcAft>
                <a:spcPts val="200"/>
              </a:spcAft>
              <a:buNone/>
            </a:pPr>
            <a:endParaRPr lang="en-US" sz="1300" dirty="0"/>
          </a:p>
          <a:p>
            <a:pPr marL="0" indent="0">
              <a:spcAft>
                <a:spcPts val="200"/>
              </a:spcAft>
              <a:buNone/>
            </a:pPr>
            <a:r>
              <a:rPr lang="en-US" sz="1300" dirty="0">
                <a:solidFill>
                  <a:srgbClr val="334155"/>
                </a:solidFill>
                <a:latin typeface="Calibri" pitchFamily="34" charset="0"/>
                <a:ea typeface="Calibri" pitchFamily="34" charset="-122"/>
                <a:cs typeface="Calibri" pitchFamily="34" charset="-120"/>
              </a:rPr>
              <a:t>7 diseases at state grain · Diphtheria at city grain (1916-1947)</a:t>
            </a:r>
            <a:endParaRPr lang="en-US" sz="1300" dirty="0"/>
          </a:p>
        </p:txBody>
      </p:sp>
      <p:sp>
        <p:nvSpPr>
          <p:cNvPr id="8" name="Text 6"/>
          <p:cNvSpPr/>
          <p:nvPr/>
        </p:nvSpPr>
        <p:spPr>
          <a:xfrm>
            <a:off x="548640" y="4937760"/>
            <a:ext cx="5669280" cy="91440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Raw file: 759,467 rows. After cleaning (drop zeros, nulls, non-numeric): 473,189 weekly observations.</a:t>
            </a:r>
            <a:endParaRPr lang="en-US" sz="1200" dirty="0"/>
          </a:p>
        </p:txBody>
      </p:sp>
      <p:sp>
        <p:nvSpPr>
          <p:cNvPr id="9" name="Shape 7"/>
          <p:cNvSpPr/>
          <p:nvPr/>
        </p:nvSpPr>
        <p:spPr>
          <a:xfrm>
            <a:off x="6675120" y="1508760"/>
            <a:ext cx="2514600" cy="1371600"/>
          </a:xfrm>
          <a:prstGeom prst="rect">
            <a:avLst/>
          </a:prstGeom>
          <a:solidFill>
            <a:srgbClr val="F1F5F9"/>
          </a:solidFill>
          <a:ln w="6350">
            <a:solidFill>
              <a:srgbClr val="CBD5E1"/>
            </a:solidFill>
            <a:prstDash val="solid"/>
          </a:ln>
        </p:spPr>
        <p:txBody>
          <a:bodyPr/>
          <a:lstStyle/>
          <a:p>
            <a:endParaRPr lang="en-US"/>
          </a:p>
        </p:txBody>
      </p:sp>
      <p:sp>
        <p:nvSpPr>
          <p:cNvPr id="10" name="Text 8"/>
          <p:cNvSpPr/>
          <p:nvPr/>
        </p:nvSpPr>
        <p:spPr>
          <a:xfrm>
            <a:off x="6675120" y="1645920"/>
            <a:ext cx="2514600" cy="754380"/>
          </a:xfrm>
          <a:prstGeom prst="rect">
            <a:avLst/>
          </a:prstGeom>
          <a:noFill/>
          <a:ln/>
        </p:spPr>
        <p:txBody>
          <a:bodyPr wrap="square" lIns="0" tIns="0" rIns="0" bIns="0" rtlCol="0" anchor="ctr"/>
          <a:lstStyle/>
          <a:p>
            <a:pPr marL="0" indent="0" algn="ctr">
              <a:buNone/>
            </a:pPr>
            <a:r>
              <a:rPr lang="en-US" sz="2600" b="1" dirty="0">
                <a:solidFill>
                  <a:srgbClr val="0F4C81"/>
                </a:solidFill>
                <a:latin typeface="Cambria" pitchFamily="34" charset="0"/>
                <a:ea typeface="Cambria" pitchFamily="34" charset="-122"/>
                <a:cs typeface="Cambria" pitchFamily="34" charset="-120"/>
              </a:rPr>
              <a:t>473,189</a:t>
            </a:r>
            <a:endParaRPr lang="en-US" sz="2600" dirty="0"/>
          </a:p>
        </p:txBody>
      </p:sp>
      <p:sp>
        <p:nvSpPr>
          <p:cNvPr id="11" name="Text 9"/>
          <p:cNvSpPr/>
          <p:nvPr/>
        </p:nvSpPr>
        <p:spPr>
          <a:xfrm>
            <a:off x="6766560" y="2304288"/>
            <a:ext cx="2331720" cy="521208"/>
          </a:xfrm>
          <a:prstGeom prst="rect">
            <a:avLst/>
          </a:prstGeom>
          <a:noFill/>
          <a:ln/>
        </p:spPr>
        <p:txBody>
          <a:bodyPr wrap="square" lIns="0" tIns="0" rIns="0" bIns="0" rtlCol="0" anchor="t"/>
          <a:lstStyle/>
          <a:p>
            <a:pPr marL="0" indent="0" algn="ctr">
              <a:buNone/>
            </a:pPr>
            <a:r>
              <a:rPr lang="en-US" sz="1000" dirty="0">
                <a:solidFill>
                  <a:srgbClr val="64748B"/>
                </a:solidFill>
                <a:latin typeface="Calibri" pitchFamily="34" charset="0"/>
                <a:ea typeface="Calibri" pitchFamily="34" charset="-122"/>
                <a:cs typeface="Calibri" pitchFamily="34" charset="-120"/>
              </a:rPr>
              <a:t>Weekly observations (cleaned)</a:t>
            </a:r>
            <a:endParaRPr lang="en-US" sz="1000" dirty="0"/>
          </a:p>
        </p:txBody>
      </p:sp>
      <p:sp>
        <p:nvSpPr>
          <p:cNvPr id="12" name="Shape 10"/>
          <p:cNvSpPr/>
          <p:nvPr/>
        </p:nvSpPr>
        <p:spPr>
          <a:xfrm>
            <a:off x="9326880" y="1508760"/>
            <a:ext cx="2514600" cy="1371600"/>
          </a:xfrm>
          <a:prstGeom prst="rect">
            <a:avLst/>
          </a:prstGeom>
          <a:solidFill>
            <a:srgbClr val="F1F5F9"/>
          </a:solidFill>
          <a:ln w="6350">
            <a:solidFill>
              <a:srgbClr val="CBD5E1"/>
            </a:solidFill>
            <a:prstDash val="solid"/>
          </a:ln>
        </p:spPr>
        <p:txBody>
          <a:bodyPr/>
          <a:lstStyle/>
          <a:p>
            <a:endParaRPr lang="en-US"/>
          </a:p>
        </p:txBody>
      </p:sp>
      <p:sp>
        <p:nvSpPr>
          <p:cNvPr id="13" name="Text 11"/>
          <p:cNvSpPr/>
          <p:nvPr/>
        </p:nvSpPr>
        <p:spPr>
          <a:xfrm>
            <a:off x="9326880" y="1645920"/>
            <a:ext cx="2514600" cy="754380"/>
          </a:xfrm>
          <a:prstGeom prst="rect">
            <a:avLst/>
          </a:prstGeom>
          <a:noFill/>
          <a:ln/>
        </p:spPr>
        <p:txBody>
          <a:bodyPr wrap="square" lIns="0" tIns="0" rIns="0" bIns="0" rtlCol="0" anchor="ctr"/>
          <a:lstStyle/>
          <a:p>
            <a:pPr marL="0" indent="0" algn="ctr">
              <a:buNone/>
            </a:pPr>
            <a:r>
              <a:rPr lang="en-US" sz="2600" b="1" dirty="0">
                <a:solidFill>
                  <a:srgbClr val="0F4C81"/>
                </a:solidFill>
                <a:latin typeface="Cambria" pitchFamily="34" charset="0"/>
                <a:ea typeface="Cambria" pitchFamily="34" charset="-122"/>
                <a:cs typeface="Cambria" pitchFamily="34" charset="-120"/>
              </a:rPr>
              <a:t>96</a:t>
            </a:r>
            <a:endParaRPr lang="en-US" sz="2600" dirty="0"/>
          </a:p>
        </p:txBody>
      </p:sp>
      <p:sp>
        <p:nvSpPr>
          <p:cNvPr id="14" name="Text 12"/>
          <p:cNvSpPr/>
          <p:nvPr/>
        </p:nvSpPr>
        <p:spPr>
          <a:xfrm>
            <a:off x="9418320" y="2304288"/>
            <a:ext cx="2331720" cy="521208"/>
          </a:xfrm>
          <a:prstGeom prst="rect">
            <a:avLst/>
          </a:prstGeom>
          <a:noFill/>
          <a:ln/>
        </p:spPr>
        <p:txBody>
          <a:bodyPr wrap="square" lIns="0" tIns="0" rIns="0" bIns="0" rtlCol="0" anchor="t"/>
          <a:lstStyle/>
          <a:p>
            <a:pPr marL="0" indent="0" algn="ctr">
              <a:buNone/>
            </a:pPr>
            <a:r>
              <a:rPr lang="en-US" sz="1000" dirty="0">
                <a:solidFill>
                  <a:srgbClr val="64748B"/>
                </a:solidFill>
                <a:latin typeface="Calibri" pitchFamily="34" charset="0"/>
                <a:ea typeface="Calibri" pitchFamily="34" charset="-122"/>
                <a:cs typeface="Calibri" pitchFamily="34" charset="-120"/>
              </a:rPr>
              <a:t>Years (1916 – 2011)</a:t>
            </a:r>
            <a:endParaRPr lang="en-US" sz="1000" dirty="0"/>
          </a:p>
        </p:txBody>
      </p:sp>
      <p:sp>
        <p:nvSpPr>
          <p:cNvPr id="15" name="Shape 13"/>
          <p:cNvSpPr/>
          <p:nvPr/>
        </p:nvSpPr>
        <p:spPr>
          <a:xfrm>
            <a:off x="6675120" y="3017520"/>
            <a:ext cx="2514600" cy="1371600"/>
          </a:xfrm>
          <a:prstGeom prst="rect">
            <a:avLst/>
          </a:prstGeom>
          <a:solidFill>
            <a:srgbClr val="F1F5F9"/>
          </a:solidFill>
          <a:ln w="6350">
            <a:solidFill>
              <a:srgbClr val="CBD5E1"/>
            </a:solidFill>
            <a:prstDash val="solid"/>
          </a:ln>
        </p:spPr>
        <p:txBody>
          <a:bodyPr/>
          <a:lstStyle/>
          <a:p>
            <a:endParaRPr lang="en-US"/>
          </a:p>
        </p:txBody>
      </p:sp>
      <p:sp>
        <p:nvSpPr>
          <p:cNvPr id="16" name="Text 14"/>
          <p:cNvSpPr/>
          <p:nvPr/>
        </p:nvSpPr>
        <p:spPr>
          <a:xfrm>
            <a:off x="6675120" y="3154680"/>
            <a:ext cx="2514600" cy="754380"/>
          </a:xfrm>
          <a:prstGeom prst="rect">
            <a:avLst/>
          </a:prstGeom>
          <a:noFill/>
          <a:ln/>
        </p:spPr>
        <p:txBody>
          <a:bodyPr wrap="square" lIns="0" tIns="0" rIns="0" bIns="0" rtlCol="0" anchor="ctr"/>
          <a:lstStyle/>
          <a:p>
            <a:pPr marL="0" indent="0" algn="ctr">
              <a:buNone/>
            </a:pPr>
            <a:r>
              <a:rPr lang="en-US" sz="2600" b="1" dirty="0">
                <a:solidFill>
                  <a:srgbClr val="0F4C81"/>
                </a:solidFill>
                <a:latin typeface="Cambria" pitchFamily="34" charset="0"/>
                <a:ea typeface="Cambria" pitchFamily="34" charset="-122"/>
                <a:cs typeface="Cambria" pitchFamily="34" charset="-120"/>
              </a:rPr>
              <a:t>4,947</a:t>
            </a:r>
            <a:endParaRPr lang="en-US" sz="2600" dirty="0"/>
          </a:p>
        </p:txBody>
      </p:sp>
      <p:sp>
        <p:nvSpPr>
          <p:cNvPr id="17" name="Text 15"/>
          <p:cNvSpPr/>
          <p:nvPr/>
        </p:nvSpPr>
        <p:spPr>
          <a:xfrm>
            <a:off x="6766560" y="3813048"/>
            <a:ext cx="2331720" cy="521208"/>
          </a:xfrm>
          <a:prstGeom prst="rect">
            <a:avLst/>
          </a:prstGeom>
          <a:noFill/>
          <a:ln/>
        </p:spPr>
        <p:txBody>
          <a:bodyPr wrap="square" lIns="0" tIns="0" rIns="0" bIns="0" rtlCol="0" anchor="t"/>
          <a:lstStyle/>
          <a:p>
            <a:pPr marL="0" indent="0" algn="ctr">
              <a:buNone/>
            </a:pPr>
            <a:r>
              <a:rPr lang="en-US" sz="1000" dirty="0">
                <a:solidFill>
                  <a:srgbClr val="64748B"/>
                </a:solidFill>
                <a:latin typeface="Calibri" pitchFamily="34" charset="0"/>
                <a:ea typeface="Calibri" pitchFamily="34" charset="-122"/>
                <a:cs typeface="Calibri" pitchFamily="34" charset="-120"/>
              </a:rPr>
              <a:t>Distinct epi-weeks</a:t>
            </a:r>
            <a:endParaRPr lang="en-US" sz="1000" dirty="0"/>
          </a:p>
        </p:txBody>
      </p:sp>
      <p:sp>
        <p:nvSpPr>
          <p:cNvPr id="18" name="Shape 16"/>
          <p:cNvSpPr/>
          <p:nvPr/>
        </p:nvSpPr>
        <p:spPr>
          <a:xfrm>
            <a:off x="9326880" y="3017520"/>
            <a:ext cx="2514600" cy="1371600"/>
          </a:xfrm>
          <a:prstGeom prst="rect">
            <a:avLst/>
          </a:prstGeom>
          <a:solidFill>
            <a:srgbClr val="F1F5F9"/>
          </a:solidFill>
          <a:ln w="6350">
            <a:solidFill>
              <a:srgbClr val="CBD5E1"/>
            </a:solidFill>
            <a:prstDash val="solid"/>
          </a:ln>
        </p:spPr>
        <p:txBody>
          <a:bodyPr/>
          <a:lstStyle/>
          <a:p>
            <a:endParaRPr lang="en-US"/>
          </a:p>
        </p:txBody>
      </p:sp>
      <p:sp>
        <p:nvSpPr>
          <p:cNvPr id="19" name="Text 17"/>
          <p:cNvSpPr/>
          <p:nvPr/>
        </p:nvSpPr>
        <p:spPr>
          <a:xfrm>
            <a:off x="9326880" y="3154680"/>
            <a:ext cx="2514600" cy="754380"/>
          </a:xfrm>
          <a:prstGeom prst="rect">
            <a:avLst/>
          </a:prstGeom>
          <a:noFill/>
          <a:ln/>
        </p:spPr>
        <p:txBody>
          <a:bodyPr wrap="square" lIns="0" tIns="0" rIns="0" bIns="0" rtlCol="0" anchor="ctr"/>
          <a:lstStyle/>
          <a:p>
            <a:pPr marL="0" indent="0" algn="ctr">
              <a:buNone/>
            </a:pPr>
            <a:r>
              <a:rPr lang="en-US" sz="2600" b="1" dirty="0">
                <a:solidFill>
                  <a:srgbClr val="0F4C81"/>
                </a:solidFill>
                <a:latin typeface="Cambria" pitchFamily="34" charset="0"/>
                <a:ea typeface="Cambria" pitchFamily="34" charset="-122"/>
                <a:cs typeface="Cambria" pitchFamily="34" charset="-120"/>
              </a:rPr>
              <a:t>171</a:t>
            </a:r>
            <a:endParaRPr lang="en-US" sz="2600" dirty="0"/>
          </a:p>
        </p:txBody>
      </p:sp>
      <p:sp>
        <p:nvSpPr>
          <p:cNvPr id="20" name="Text 18"/>
          <p:cNvSpPr/>
          <p:nvPr/>
        </p:nvSpPr>
        <p:spPr>
          <a:xfrm>
            <a:off x="9418320" y="3813048"/>
            <a:ext cx="2331720" cy="521208"/>
          </a:xfrm>
          <a:prstGeom prst="rect">
            <a:avLst/>
          </a:prstGeom>
          <a:noFill/>
          <a:ln/>
        </p:spPr>
        <p:txBody>
          <a:bodyPr wrap="square" lIns="0" tIns="0" rIns="0" bIns="0" rtlCol="0" anchor="t"/>
          <a:lstStyle/>
          <a:p>
            <a:pPr marL="0" indent="0" algn="ctr">
              <a:buNone/>
            </a:pPr>
            <a:r>
              <a:rPr lang="en-US" sz="1000" dirty="0">
                <a:solidFill>
                  <a:srgbClr val="64748B"/>
                </a:solidFill>
                <a:latin typeface="Calibri" pitchFamily="34" charset="0"/>
                <a:ea typeface="Calibri" pitchFamily="34" charset="-122"/>
                <a:cs typeface="Calibri" pitchFamily="34" charset="-120"/>
              </a:rPr>
              <a:t>Locations (51 states + 120 cities)</a:t>
            </a:r>
            <a:endParaRPr lang="en-US" sz="1000" dirty="0"/>
          </a:p>
        </p:txBody>
      </p:sp>
      <p:sp>
        <p:nvSpPr>
          <p:cNvPr id="21" name="Shape 19"/>
          <p:cNvSpPr/>
          <p:nvPr/>
        </p:nvSpPr>
        <p:spPr>
          <a:xfrm>
            <a:off x="6675120" y="4572000"/>
            <a:ext cx="5166360" cy="822960"/>
          </a:xfrm>
          <a:prstGeom prst="rect">
            <a:avLst/>
          </a:prstGeom>
          <a:solidFill>
            <a:srgbClr val="F1F5F9"/>
          </a:solidFill>
          <a:ln w="6350">
            <a:solidFill>
              <a:srgbClr val="CBD5E1"/>
            </a:solidFill>
            <a:prstDash val="solid"/>
          </a:ln>
        </p:spPr>
        <p:txBody>
          <a:bodyPr/>
          <a:lstStyle/>
          <a:p>
            <a:endParaRPr lang="en-US"/>
          </a:p>
        </p:txBody>
      </p:sp>
      <p:sp>
        <p:nvSpPr>
          <p:cNvPr id="22" name="Text 20"/>
          <p:cNvSpPr/>
          <p:nvPr/>
        </p:nvSpPr>
        <p:spPr>
          <a:xfrm>
            <a:off x="6858000" y="4572000"/>
            <a:ext cx="2841498" cy="822960"/>
          </a:xfrm>
          <a:prstGeom prst="rect">
            <a:avLst/>
          </a:prstGeom>
          <a:noFill/>
          <a:ln/>
        </p:spPr>
        <p:txBody>
          <a:bodyPr wrap="square" lIns="0" tIns="0" rIns="0" bIns="0" rtlCol="0" anchor="ctr"/>
          <a:lstStyle/>
          <a:p>
            <a:pPr marL="0" indent="0" algn="l">
              <a:buNone/>
            </a:pPr>
            <a:r>
              <a:rPr lang="en-US" sz="2600" b="1" dirty="0">
                <a:solidFill>
                  <a:srgbClr val="0F4C81"/>
                </a:solidFill>
                <a:latin typeface="Cambria" pitchFamily="34" charset="0"/>
                <a:ea typeface="Cambria" pitchFamily="34" charset="-122"/>
                <a:cs typeface="Cambria" pitchFamily="34" charset="-120"/>
              </a:rPr>
              <a:t>24,878,333</a:t>
            </a:r>
            <a:endParaRPr lang="en-US" sz="2600" dirty="0"/>
          </a:p>
        </p:txBody>
      </p:sp>
      <p:sp>
        <p:nvSpPr>
          <p:cNvPr id="23" name="Text 21"/>
          <p:cNvSpPr/>
          <p:nvPr/>
        </p:nvSpPr>
        <p:spPr>
          <a:xfrm>
            <a:off x="9516618" y="4572000"/>
            <a:ext cx="2169871" cy="822960"/>
          </a:xfrm>
          <a:prstGeom prst="rect">
            <a:avLst/>
          </a:prstGeom>
          <a:noFill/>
          <a:ln/>
        </p:spPr>
        <p:txBody>
          <a:bodyPr wrap="square" lIns="0" tIns="0" rIns="0" bIns="0" rtlCol="0" anchor="ctr"/>
          <a:lstStyle/>
          <a:p>
            <a:pPr marL="0" indent="0" algn="l">
              <a:buNone/>
            </a:pPr>
            <a:r>
              <a:rPr lang="en-US" sz="1100" dirty="0">
                <a:solidFill>
                  <a:srgbClr val="64748B"/>
                </a:solidFill>
                <a:latin typeface="Calibri" pitchFamily="34" charset="0"/>
                <a:ea typeface="Calibri" pitchFamily="34" charset="-122"/>
                <a:cs typeface="Calibri" pitchFamily="34" charset="-120"/>
              </a:rPr>
              <a:t>Total reported cases</a:t>
            </a:r>
            <a:endParaRPr lang="en-US" sz="1100" dirty="0"/>
          </a:p>
          <a:p>
            <a:pPr marL="0" indent="0" algn="l">
              <a:buNone/>
            </a:pPr>
            <a:r>
              <a:rPr lang="en-US" sz="1100" dirty="0">
                <a:solidFill>
                  <a:srgbClr val="64748B"/>
                </a:solidFill>
                <a:latin typeface="Calibri" pitchFamily="34" charset="0"/>
                <a:ea typeface="Calibri" pitchFamily="34" charset="-122"/>
                <a:cs typeface="Calibri" pitchFamily="34" charset="-120"/>
              </a:rPr>
              <a:t>across the corpus</a:t>
            </a:r>
            <a:endParaRPr lang="en-US" sz="1100" dirty="0"/>
          </a:p>
        </p:txBody>
      </p:sp>
      <p:sp>
        <p:nvSpPr>
          <p:cNvPr id="24" name="Text 22"/>
          <p:cNvSpPr/>
          <p:nvPr/>
        </p:nvSpPr>
        <p:spPr>
          <a:xfrm>
            <a:off x="548640" y="6446520"/>
            <a:ext cx="73152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Anwar Debes · IKT453 · University of Agder</a:t>
            </a:r>
            <a:endParaRPr lang="en-US" sz="900" dirty="0"/>
          </a:p>
        </p:txBody>
      </p:sp>
      <p:sp>
        <p:nvSpPr>
          <p:cNvPr id="25" name="Text 23"/>
          <p:cNvSpPr/>
          <p:nvPr/>
        </p:nvSpPr>
        <p:spPr>
          <a:xfrm>
            <a:off x="10789920" y="6446520"/>
            <a:ext cx="86868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4 / 20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02920"/>
          </a:xfrm>
          <a:prstGeom prst="rect">
            <a:avLst/>
          </a:prstGeom>
          <a:noFill/>
          <a:ln/>
        </p:spPr>
        <p:txBody>
          <a:bodyPr wrap="square" lIns="0" tIns="0" rIns="0" bIns="0" rtlCol="0" anchor="ctr"/>
          <a:lstStyle/>
          <a:p>
            <a:pPr marL="0" indent="0" algn="l">
              <a:buNone/>
            </a:pPr>
            <a:r>
              <a:rPr lang="en-US" sz="2800" b="1" dirty="0">
                <a:solidFill>
                  <a:srgbClr val="1E293B"/>
                </a:solidFill>
                <a:latin typeface="Cambria" pitchFamily="34" charset="0"/>
                <a:ea typeface="Cambria" pitchFamily="34" charset="-122"/>
                <a:cs typeface="Cambria" pitchFamily="34" charset="-120"/>
              </a:rPr>
              <a:t>System Architecture</a:t>
            </a:r>
            <a:endParaRPr lang="en-US" sz="2800" dirty="0"/>
          </a:p>
        </p:txBody>
      </p:sp>
      <p:sp>
        <p:nvSpPr>
          <p:cNvPr id="3" name="Text 1"/>
          <p:cNvSpPr/>
          <p:nvPr/>
        </p:nvSpPr>
        <p:spPr>
          <a:xfrm>
            <a:off x="548640" y="841248"/>
            <a:ext cx="11064240" cy="292608"/>
          </a:xfrm>
          <a:prstGeom prst="rect">
            <a:avLst/>
          </a:prstGeom>
          <a:noFill/>
          <a:ln/>
        </p:spPr>
        <p:txBody>
          <a:bodyPr wrap="square" lIns="0" tIns="0" rIns="0" bIns="0" rtlCol="0" anchor="ctr"/>
          <a:lstStyle/>
          <a:p>
            <a:pPr marL="0" indent="0" algn="l">
              <a:buNone/>
            </a:pPr>
            <a:r>
              <a:rPr lang="en-US" sz="1300" i="1" dirty="0">
                <a:solidFill>
                  <a:srgbClr val="64748B"/>
                </a:solidFill>
                <a:latin typeface="Calibri" pitchFamily="34" charset="0"/>
                <a:ea typeface="Calibri" pitchFamily="34" charset="-122"/>
                <a:cs typeface="Calibri" pitchFamily="34" charset="-120"/>
              </a:rPr>
              <a:t>Four layers, strict separation of concerns</a:t>
            </a:r>
            <a:endParaRPr lang="en-US" sz="1300" dirty="0"/>
          </a:p>
        </p:txBody>
      </p:sp>
      <p:sp>
        <p:nvSpPr>
          <p:cNvPr id="4" name="Shape 2"/>
          <p:cNvSpPr/>
          <p:nvPr/>
        </p:nvSpPr>
        <p:spPr>
          <a:xfrm>
            <a:off x="548640" y="1207008"/>
            <a:ext cx="11064240" cy="0"/>
          </a:xfrm>
          <a:prstGeom prst="line">
            <a:avLst/>
          </a:prstGeom>
          <a:noFill/>
          <a:ln w="9525">
            <a:solidFill>
              <a:srgbClr val="CBD5E1"/>
            </a:solidFill>
            <a:prstDash val="solid"/>
          </a:ln>
        </p:spPr>
        <p:txBody>
          <a:bodyPr/>
          <a:lstStyle/>
          <a:p>
            <a:endParaRPr lang="en-US"/>
          </a:p>
        </p:txBody>
      </p:sp>
      <p:sp>
        <p:nvSpPr>
          <p:cNvPr id="5" name="Shape 3"/>
          <p:cNvSpPr/>
          <p:nvPr/>
        </p:nvSpPr>
        <p:spPr>
          <a:xfrm>
            <a:off x="640080" y="1508760"/>
            <a:ext cx="10972800" cy="640080"/>
          </a:xfrm>
          <a:prstGeom prst="rect">
            <a:avLst/>
          </a:prstGeom>
          <a:solidFill>
            <a:srgbClr val="F1F5F9"/>
          </a:solidFill>
          <a:ln w="6350">
            <a:solidFill>
              <a:srgbClr val="CBD5E1"/>
            </a:solidFill>
            <a:prstDash val="solid"/>
          </a:ln>
        </p:spPr>
        <p:txBody>
          <a:bodyPr/>
          <a:lstStyle/>
          <a:p>
            <a:endParaRPr lang="en-US"/>
          </a:p>
        </p:txBody>
      </p:sp>
      <p:sp>
        <p:nvSpPr>
          <p:cNvPr id="6" name="Text 4"/>
          <p:cNvSpPr/>
          <p:nvPr/>
        </p:nvSpPr>
        <p:spPr>
          <a:xfrm>
            <a:off x="822960" y="1600200"/>
            <a:ext cx="1828800" cy="274320"/>
          </a:xfrm>
          <a:prstGeom prst="rect">
            <a:avLst/>
          </a:prstGeom>
          <a:noFill/>
          <a:ln/>
        </p:spPr>
        <p:txBody>
          <a:bodyPr wrap="square" lIns="0" tIns="0" rIns="0" bIns="0" rtlCol="0" anchor="ctr"/>
          <a:lstStyle/>
          <a:p>
            <a:pPr marL="0" indent="0">
              <a:buNone/>
            </a:pPr>
            <a:r>
              <a:rPr lang="en-US" sz="900" b="1" kern="0" spc="300" dirty="0">
                <a:solidFill>
                  <a:srgbClr val="0F4C81"/>
                </a:solidFill>
                <a:latin typeface="Calibri" pitchFamily="34" charset="0"/>
                <a:ea typeface="Calibri" pitchFamily="34" charset="-122"/>
                <a:cs typeface="Calibri" pitchFamily="34" charset="-120"/>
              </a:rPr>
              <a:t>PRESENTATION</a:t>
            </a:r>
            <a:endParaRPr lang="en-US" sz="900" dirty="0"/>
          </a:p>
        </p:txBody>
      </p:sp>
      <p:sp>
        <p:nvSpPr>
          <p:cNvPr id="7" name="Text 5"/>
          <p:cNvSpPr/>
          <p:nvPr/>
        </p:nvSpPr>
        <p:spPr>
          <a:xfrm>
            <a:off x="2743200" y="1600200"/>
            <a:ext cx="8686800" cy="457200"/>
          </a:xfrm>
          <a:prstGeom prst="rect">
            <a:avLst/>
          </a:prstGeom>
          <a:noFill/>
          <a:ln/>
        </p:spPr>
        <p:txBody>
          <a:bodyPr wrap="square" lIns="0" tIns="0" rIns="0" bIns="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React Dashboard · Port 3000</a:t>
            </a:r>
            <a:endParaRPr lang="en-US" sz="1300" dirty="0"/>
          </a:p>
        </p:txBody>
      </p:sp>
      <p:sp>
        <p:nvSpPr>
          <p:cNvPr id="8" name="Shape 6"/>
          <p:cNvSpPr/>
          <p:nvPr/>
        </p:nvSpPr>
        <p:spPr>
          <a:xfrm>
            <a:off x="640080" y="2331720"/>
            <a:ext cx="10972800" cy="640080"/>
          </a:xfrm>
          <a:prstGeom prst="rect">
            <a:avLst/>
          </a:prstGeom>
          <a:solidFill>
            <a:srgbClr val="F1F5F9"/>
          </a:solidFill>
          <a:ln w="6350">
            <a:solidFill>
              <a:srgbClr val="CBD5E1"/>
            </a:solidFill>
            <a:prstDash val="solid"/>
          </a:ln>
        </p:spPr>
        <p:txBody>
          <a:bodyPr/>
          <a:lstStyle/>
          <a:p>
            <a:endParaRPr lang="en-US"/>
          </a:p>
        </p:txBody>
      </p:sp>
      <p:sp>
        <p:nvSpPr>
          <p:cNvPr id="9" name="Text 7"/>
          <p:cNvSpPr/>
          <p:nvPr/>
        </p:nvSpPr>
        <p:spPr>
          <a:xfrm>
            <a:off x="822960" y="2423160"/>
            <a:ext cx="1828800" cy="274320"/>
          </a:xfrm>
          <a:prstGeom prst="rect">
            <a:avLst/>
          </a:prstGeom>
          <a:noFill/>
          <a:ln/>
        </p:spPr>
        <p:txBody>
          <a:bodyPr wrap="square" lIns="0" tIns="0" rIns="0" bIns="0" rtlCol="0" anchor="ctr"/>
          <a:lstStyle/>
          <a:p>
            <a:pPr marL="0" indent="0">
              <a:buNone/>
            </a:pPr>
            <a:r>
              <a:rPr lang="en-US" sz="900" b="1" kern="0" spc="300" dirty="0">
                <a:solidFill>
                  <a:srgbClr val="0F4C81"/>
                </a:solidFill>
                <a:latin typeface="Calibri" pitchFamily="34" charset="0"/>
                <a:ea typeface="Calibri" pitchFamily="34" charset="-122"/>
                <a:cs typeface="Calibri" pitchFamily="34" charset="-120"/>
              </a:rPr>
              <a:t>API LAYER</a:t>
            </a:r>
            <a:endParaRPr lang="en-US" sz="900" dirty="0"/>
          </a:p>
        </p:txBody>
      </p:sp>
      <p:sp>
        <p:nvSpPr>
          <p:cNvPr id="10" name="Text 8"/>
          <p:cNvSpPr/>
          <p:nvPr/>
        </p:nvSpPr>
        <p:spPr>
          <a:xfrm>
            <a:off x="2743200" y="2423160"/>
            <a:ext cx="8686800" cy="457200"/>
          </a:xfrm>
          <a:prstGeom prst="rect">
            <a:avLst/>
          </a:prstGeom>
          <a:noFill/>
          <a:ln/>
        </p:spPr>
        <p:txBody>
          <a:bodyPr wrap="square" lIns="0" tIns="0" rIns="0" bIns="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FastAPI REST · /query /compare /olap /stream /metadata · Port 8000</a:t>
            </a:r>
            <a:endParaRPr lang="en-US" sz="1300" dirty="0"/>
          </a:p>
        </p:txBody>
      </p:sp>
      <p:sp>
        <p:nvSpPr>
          <p:cNvPr id="11" name="Text 9"/>
          <p:cNvSpPr/>
          <p:nvPr/>
        </p:nvSpPr>
        <p:spPr>
          <a:xfrm>
            <a:off x="822960" y="3246120"/>
            <a:ext cx="1828800" cy="274320"/>
          </a:xfrm>
          <a:prstGeom prst="rect">
            <a:avLst/>
          </a:prstGeom>
          <a:noFill/>
          <a:ln/>
        </p:spPr>
        <p:txBody>
          <a:bodyPr wrap="square" lIns="0" tIns="0" rIns="0" bIns="0" rtlCol="0" anchor="ctr"/>
          <a:lstStyle/>
          <a:p>
            <a:pPr marL="0" indent="0">
              <a:buNone/>
            </a:pPr>
            <a:r>
              <a:rPr lang="en-US" sz="900" b="1" kern="0" spc="300" dirty="0">
                <a:solidFill>
                  <a:srgbClr val="0F4C81"/>
                </a:solidFill>
                <a:latin typeface="Calibri" pitchFamily="34" charset="0"/>
                <a:ea typeface="Calibri" pitchFamily="34" charset="-122"/>
                <a:cs typeface="Calibri" pitchFamily="34" charset="-120"/>
              </a:rPr>
              <a:t>STORAGE</a:t>
            </a:r>
            <a:endParaRPr lang="en-US" sz="900" dirty="0"/>
          </a:p>
        </p:txBody>
      </p:sp>
      <p:sp>
        <p:nvSpPr>
          <p:cNvPr id="12" name="Shape 10"/>
          <p:cNvSpPr/>
          <p:nvPr/>
        </p:nvSpPr>
        <p:spPr>
          <a:xfrm>
            <a:off x="640080" y="3611880"/>
            <a:ext cx="3444240" cy="1188720"/>
          </a:xfrm>
          <a:prstGeom prst="rect">
            <a:avLst/>
          </a:prstGeom>
          <a:solidFill>
            <a:srgbClr val="FFFFFF"/>
          </a:solidFill>
          <a:ln w="12700">
            <a:solidFill>
              <a:srgbClr val="0F4C81"/>
            </a:solidFill>
            <a:prstDash val="solid"/>
          </a:ln>
        </p:spPr>
        <p:txBody>
          <a:bodyPr/>
          <a:lstStyle/>
          <a:p>
            <a:endParaRPr lang="en-US"/>
          </a:p>
        </p:txBody>
      </p:sp>
      <p:sp>
        <p:nvSpPr>
          <p:cNvPr id="13" name="Text 11"/>
          <p:cNvSpPr/>
          <p:nvPr/>
        </p:nvSpPr>
        <p:spPr>
          <a:xfrm>
            <a:off x="640080" y="3749040"/>
            <a:ext cx="3444240" cy="320040"/>
          </a:xfrm>
          <a:prstGeom prst="rect">
            <a:avLst/>
          </a:prstGeom>
          <a:noFill/>
          <a:ln/>
        </p:spPr>
        <p:txBody>
          <a:bodyPr wrap="square" lIns="0" tIns="0" rIns="0" bIns="0" rtlCol="0" anchor="ctr"/>
          <a:lstStyle/>
          <a:p>
            <a:pPr marL="0" indent="0" algn="ctr">
              <a:buNone/>
            </a:pPr>
            <a:r>
              <a:rPr lang="en-US" sz="1400" b="1" dirty="0">
                <a:solidFill>
                  <a:srgbClr val="1E293B"/>
                </a:solidFill>
                <a:latin typeface="Calibri" pitchFamily="34" charset="0"/>
                <a:ea typeface="Calibri" pitchFamily="34" charset="-122"/>
                <a:cs typeface="Calibri" pitchFamily="34" charset="-120"/>
              </a:rPr>
              <a:t>PostgreSQL 18</a:t>
            </a:r>
            <a:endParaRPr lang="en-US" sz="1400" dirty="0"/>
          </a:p>
        </p:txBody>
      </p:sp>
      <p:sp>
        <p:nvSpPr>
          <p:cNvPr id="14" name="Text 12"/>
          <p:cNvSpPr/>
          <p:nvPr/>
        </p:nvSpPr>
        <p:spPr>
          <a:xfrm>
            <a:off x="640080" y="4114800"/>
            <a:ext cx="3444240" cy="274320"/>
          </a:xfrm>
          <a:prstGeom prst="rect">
            <a:avLst/>
          </a:prstGeom>
          <a:noFill/>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Star Schema</a:t>
            </a:r>
            <a:endParaRPr lang="en-US" sz="1100" dirty="0"/>
          </a:p>
        </p:txBody>
      </p:sp>
      <p:sp>
        <p:nvSpPr>
          <p:cNvPr id="15" name="Text 13"/>
          <p:cNvSpPr/>
          <p:nvPr/>
        </p:nvSpPr>
        <p:spPr>
          <a:xfrm>
            <a:off x="640080" y="4389120"/>
            <a:ext cx="3444240" cy="274320"/>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Port 15432</a:t>
            </a:r>
            <a:endParaRPr lang="en-US" sz="1000" dirty="0"/>
          </a:p>
        </p:txBody>
      </p:sp>
      <p:sp>
        <p:nvSpPr>
          <p:cNvPr id="16" name="Shape 14"/>
          <p:cNvSpPr/>
          <p:nvPr/>
        </p:nvSpPr>
        <p:spPr>
          <a:xfrm>
            <a:off x="4358640" y="3611880"/>
            <a:ext cx="3444240" cy="1188720"/>
          </a:xfrm>
          <a:prstGeom prst="rect">
            <a:avLst/>
          </a:prstGeom>
          <a:solidFill>
            <a:srgbClr val="FFFFFF"/>
          </a:solidFill>
          <a:ln w="12700">
            <a:solidFill>
              <a:srgbClr val="0F4C81"/>
            </a:solidFill>
            <a:prstDash val="solid"/>
          </a:ln>
        </p:spPr>
        <p:txBody>
          <a:bodyPr/>
          <a:lstStyle/>
          <a:p>
            <a:endParaRPr lang="en-US"/>
          </a:p>
        </p:txBody>
      </p:sp>
      <p:sp>
        <p:nvSpPr>
          <p:cNvPr id="17" name="Text 15"/>
          <p:cNvSpPr/>
          <p:nvPr/>
        </p:nvSpPr>
        <p:spPr>
          <a:xfrm>
            <a:off x="4358640" y="3749040"/>
            <a:ext cx="3444240" cy="320040"/>
          </a:xfrm>
          <a:prstGeom prst="rect">
            <a:avLst/>
          </a:prstGeom>
          <a:noFill/>
          <a:ln/>
        </p:spPr>
        <p:txBody>
          <a:bodyPr wrap="square" lIns="0" tIns="0" rIns="0" bIns="0" rtlCol="0" anchor="ctr"/>
          <a:lstStyle/>
          <a:p>
            <a:pPr marL="0" indent="0" algn="ctr">
              <a:buNone/>
            </a:pPr>
            <a:r>
              <a:rPr lang="en-US" sz="1400" b="1" dirty="0">
                <a:solidFill>
                  <a:srgbClr val="1E293B"/>
                </a:solidFill>
                <a:latin typeface="Calibri" pitchFamily="34" charset="0"/>
                <a:ea typeface="Calibri" pitchFamily="34" charset="-122"/>
                <a:cs typeface="Calibri" pitchFamily="34" charset="-120"/>
              </a:rPr>
              <a:t>MongoDB 8</a:t>
            </a:r>
            <a:endParaRPr lang="en-US" sz="1400" dirty="0"/>
          </a:p>
        </p:txBody>
      </p:sp>
      <p:sp>
        <p:nvSpPr>
          <p:cNvPr id="18" name="Text 16"/>
          <p:cNvSpPr/>
          <p:nvPr/>
        </p:nvSpPr>
        <p:spPr>
          <a:xfrm>
            <a:off x="4358640" y="4114800"/>
            <a:ext cx="3444240" cy="274320"/>
          </a:xfrm>
          <a:prstGeom prst="rect">
            <a:avLst/>
          </a:prstGeom>
          <a:noFill/>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Bucket Pattern</a:t>
            </a:r>
            <a:endParaRPr lang="en-US" sz="1100" dirty="0"/>
          </a:p>
        </p:txBody>
      </p:sp>
      <p:sp>
        <p:nvSpPr>
          <p:cNvPr id="19" name="Text 17"/>
          <p:cNvSpPr/>
          <p:nvPr/>
        </p:nvSpPr>
        <p:spPr>
          <a:xfrm>
            <a:off x="4358640" y="4389120"/>
            <a:ext cx="3444240" cy="274320"/>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Port 27017</a:t>
            </a:r>
            <a:endParaRPr lang="en-US" sz="1000" dirty="0"/>
          </a:p>
        </p:txBody>
      </p:sp>
      <p:sp>
        <p:nvSpPr>
          <p:cNvPr id="20" name="Shape 18"/>
          <p:cNvSpPr/>
          <p:nvPr/>
        </p:nvSpPr>
        <p:spPr>
          <a:xfrm>
            <a:off x="7894320" y="3611880"/>
            <a:ext cx="3444240" cy="1188720"/>
          </a:xfrm>
          <a:prstGeom prst="rect">
            <a:avLst/>
          </a:prstGeom>
          <a:solidFill>
            <a:srgbClr val="FFFFFF"/>
          </a:solidFill>
          <a:ln w="12700">
            <a:solidFill>
              <a:srgbClr val="0F4C81"/>
            </a:solidFill>
            <a:prstDash val="solid"/>
          </a:ln>
        </p:spPr>
        <p:txBody>
          <a:bodyPr/>
          <a:lstStyle/>
          <a:p>
            <a:endParaRPr lang="en-US"/>
          </a:p>
        </p:txBody>
      </p:sp>
      <p:sp>
        <p:nvSpPr>
          <p:cNvPr id="21" name="Text 19"/>
          <p:cNvSpPr/>
          <p:nvPr/>
        </p:nvSpPr>
        <p:spPr>
          <a:xfrm>
            <a:off x="7894320" y="3749040"/>
            <a:ext cx="3444240" cy="320040"/>
          </a:xfrm>
          <a:prstGeom prst="rect">
            <a:avLst/>
          </a:prstGeom>
          <a:noFill/>
          <a:ln/>
        </p:spPr>
        <p:txBody>
          <a:bodyPr wrap="square" lIns="0" tIns="0" rIns="0" bIns="0" rtlCol="0" anchor="ctr"/>
          <a:lstStyle/>
          <a:p>
            <a:pPr marL="0" indent="0" algn="ctr">
              <a:buNone/>
            </a:pPr>
            <a:r>
              <a:rPr lang="en-US" sz="1400" b="1" dirty="0">
                <a:solidFill>
                  <a:srgbClr val="1E293B"/>
                </a:solidFill>
                <a:latin typeface="Calibri" pitchFamily="34" charset="0"/>
                <a:ea typeface="Calibri" pitchFamily="34" charset="-122"/>
                <a:cs typeface="Calibri" pitchFamily="34" charset="-120"/>
              </a:rPr>
              <a:t>Neo4j 2026.03</a:t>
            </a:r>
            <a:endParaRPr lang="en-US" sz="1400" dirty="0"/>
          </a:p>
        </p:txBody>
      </p:sp>
      <p:sp>
        <p:nvSpPr>
          <p:cNvPr id="22" name="Text 20"/>
          <p:cNvSpPr/>
          <p:nvPr/>
        </p:nvSpPr>
        <p:spPr>
          <a:xfrm>
            <a:off x="7894320" y="4114800"/>
            <a:ext cx="3444240" cy="274320"/>
          </a:xfrm>
          <a:prstGeom prst="rect">
            <a:avLst/>
          </a:prstGeom>
          <a:noFill/>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Labeled Property Graph</a:t>
            </a:r>
            <a:endParaRPr lang="en-US" sz="1100" dirty="0"/>
          </a:p>
        </p:txBody>
      </p:sp>
      <p:sp>
        <p:nvSpPr>
          <p:cNvPr id="23" name="Text 21"/>
          <p:cNvSpPr/>
          <p:nvPr/>
        </p:nvSpPr>
        <p:spPr>
          <a:xfrm>
            <a:off x="7894320" y="4389120"/>
            <a:ext cx="3444240" cy="274320"/>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Port 7474 / 7687</a:t>
            </a:r>
            <a:endParaRPr lang="en-US" sz="1000" dirty="0"/>
          </a:p>
        </p:txBody>
      </p:sp>
      <p:sp>
        <p:nvSpPr>
          <p:cNvPr id="24" name="Shape 22"/>
          <p:cNvSpPr/>
          <p:nvPr/>
        </p:nvSpPr>
        <p:spPr>
          <a:xfrm>
            <a:off x="640080" y="5029200"/>
            <a:ext cx="10972800" cy="960120"/>
          </a:xfrm>
          <a:prstGeom prst="rect">
            <a:avLst/>
          </a:prstGeom>
          <a:solidFill>
            <a:srgbClr val="D6E4F0"/>
          </a:solidFill>
          <a:ln w="6350">
            <a:solidFill>
              <a:srgbClr val="CBD5E1"/>
            </a:solidFill>
            <a:prstDash val="solid"/>
          </a:ln>
        </p:spPr>
        <p:txBody>
          <a:bodyPr/>
          <a:lstStyle/>
          <a:p>
            <a:endParaRPr lang="en-US"/>
          </a:p>
        </p:txBody>
      </p:sp>
      <p:sp>
        <p:nvSpPr>
          <p:cNvPr id="25" name="Text 23"/>
          <p:cNvSpPr/>
          <p:nvPr/>
        </p:nvSpPr>
        <p:spPr>
          <a:xfrm>
            <a:off x="822960" y="5120640"/>
            <a:ext cx="1828800" cy="274320"/>
          </a:xfrm>
          <a:prstGeom prst="rect">
            <a:avLst/>
          </a:prstGeom>
          <a:noFill/>
          <a:ln/>
        </p:spPr>
        <p:txBody>
          <a:bodyPr wrap="square" lIns="0" tIns="0" rIns="0" bIns="0" rtlCol="0" anchor="ctr"/>
          <a:lstStyle/>
          <a:p>
            <a:pPr marL="0" indent="0">
              <a:buNone/>
            </a:pPr>
            <a:r>
              <a:rPr lang="en-US" sz="900" b="1" kern="0" spc="300" dirty="0">
                <a:solidFill>
                  <a:srgbClr val="0F4C81"/>
                </a:solidFill>
                <a:latin typeface="Calibri" pitchFamily="34" charset="0"/>
                <a:ea typeface="Calibri" pitchFamily="34" charset="-122"/>
                <a:cs typeface="Calibri" pitchFamily="34" charset="-120"/>
              </a:rPr>
              <a:t>INGESTION</a:t>
            </a:r>
            <a:endParaRPr lang="en-US" sz="900" dirty="0"/>
          </a:p>
        </p:txBody>
      </p:sp>
      <p:sp>
        <p:nvSpPr>
          <p:cNvPr id="26" name="Text 24"/>
          <p:cNvSpPr/>
          <p:nvPr/>
        </p:nvSpPr>
        <p:spPr>
          <a:xfrm>
            <a:off x="2743200" y="5166360"/>
            <a:ext cx="8686800" cy="77724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Kafka KRaft (Port 9092)</a:t>
            </a:r>
            <a:endParaRPr lang="en-US" sz="1200" dirty="0"/>
          </a:p>
          <a:p>
            <a:pPr marL="0" indent="0">
              <a:buNone/>
            </a:pPr>
            <a:r>
              <a:rPr lang="en-US" sz="1200" dirty="0">
                <a:solidFill>
                  <a:srgbClr val="1E293B"/>
                </a:solidFill>
                <a:latin typeface="Calibri" pitchFamily="34" charset="0"/>
                <a:ea typeface="Calibri" pitchFamily="34" charset="-122"/>
                <a:cs typeface="Calibri" pitchFamily="34" charset="-120"/>
              </a:rPr>
              <a:t>ksqlDB Server (Port 8088) · ETL Pipeline (Python): Extract → Transform → Load</a:t>
            </a:r>
            <a:endParaRPr lang="en-US" sz="1200" dirty="0"/>
          </a:p>
        </p:txBody>
      </p:sp>
      <p:sp>
        <p:nvSpPr>
          <p:cNvPr id="27" name="Text 25"/>
          <p:cNvSpPr/>
          <p:nvPr/>
        </p:nvSpPr>
        <p:spPr>
          <a:xfrm>
            <a:off x="640080" y="6080760"/>
            <a:ext cx="10972800" cy="274320"/>
          </a:xfrm>
          <a:prstGeom prst="rect">
            <a:avLst/>
          </a:prstGeom>
          <a:noFill/>
          <a:ln/>
        </p:spPr>
        <p:txBody>
          <a:bodyPr wrap="square" lIns="0" tIns="0" rIns="0" bIns="0" rtlCol="0" anchor="ctr"/>
          <a:lstStyle/>
          <a:p>
            <a:pPr marL="0" indent="0" algn="ctr">
              <a:buNone/>
            </a:pPr>
            <a:r>
              <a:rPr lang="en-US" sz="1100" i="1" dirty="0">
                <a:solidFill>
                  <a:srgbClr val="64748B"/>
                </a:solidFill>
                <a:latin typeface="Calibri" pitchFamily="34" charset="0"/>
                <a:ea typeface="Calibri" pitchFamily="34" charset="-122"/>
                <a:cs typeface="Calibri" pitchFamily="34" charset="-120"/>
              </a:rPr>
              <a:t>Source: Project Tycho Level 1 CSV (473K clean rows) → batch ETL + Kafka stream</a:t>
            </a:r>
            <a:endParaRPr lang="en-US" sz="1100" dirty="0"/>
          </a:p>
        </p:txBody>
      </p:sp>
      <p:sp>
        <p:nvSpPr>
          <p:cNvPr id="28" name="Text 26"/>
          <p:cNvSpPr/>
          <p:nvPr/>
        </p:nvSpPr>
        <p:spPr>
          <a:xfrm>
            <a:off x="548640" y="6446520"/>
            <a:ext cx="73152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Anwar Debes · IKT453 · University of Agder</a:t>
            </a:r>
            <a:endParaRPr lang="en-US" sz="900" dirty="0"/>
          </a:p>
        </p:txBody>
      </p:sp>
      <p:sp>
        <p:nvSpPr>
          <p:cNvPr id="29" name="Text 27"/>
          <p:cNvSpPr/>
          <p:nvPr/>
        </p:nvSpPr>
        <p:spPr>
          <a:xfrm>
            <a:off x="10789920" y="6446520"/>
            <a:ext cx="86868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5 / 20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02920"/>
          </a:xfrm>
          <a:prstGeom prst="rect">
            <a:avLst/>
          </a:prstGeom>
          <a:noFill/>
          <a:ln/>
        </p:spPr>
        <p:txBody>
          <a:bodyPr wrap="square" lIns="0" tIns="0" rIns="0" bIns="0" rtlCol="0" anchor="ctr"/>
          <a:lstStyle/>
          <a:p>
            <a:pPr marL="0" indent="0" algn="l">
              <a:buNone/>
            </a:pPr>
            <a:r>
              <a:rPr lang="en-US" sz="2800" b="1" dirty="0">
                <a:solidFill>
                  <a:srgbClr val="1E293B"/>
                </a:solidFill>
                <a:latin typeface="Cambria" pitchFamily="34" charset="0"/>
                <a:ea typeface="Cambria" pitchFamily="34" charset="-122"/>
                <a:cs typeface="Cambria" pitchFamily="34" charset="-120"/>
              </a:rPr>
              <a:t>Docker Service Topology</a:t>
            </a:r>
            <a:endParaRPr lang="en-US" sz="2800" dirty="0"/>
          </a:p>
        </p:txBody>
      </p:sp>
      <p:sp>
        <p:nvSpPr>
          <p:cNvPr id="3" name="Text 1"/>
          <p:cNvSpPr/>
          <p:nvPr/>
        </p:nvSpPr>
        <p:spPr>
          <a:xfrm>
            <a:off x="548640" y="841248"/>
            <a:ext cx="11064240" cy="292608"/>
          </a:xfrm>
          <a:prstGeom prst="rect">
            <a:avLst/>
          </a:prstGeom>
          <a:noFill/>
          <a:ln/>
        </p:spPr>
        <p:txBody>
          <a:bodyPr wrap="square" lIns="0" tIns="0" rIns="0" bIns="0" rtlCol="0" anchor="ctr"/>
          <a:lstStyle/>
          <a:p>
            <a:pPr marL="0" indent="0" algn="l">
              <a:buNone/>
            </a:pPr>
            <a:r>
              <a:rPr lang="en-US" sz="1300" i="1" dirty="0">
                <a:solidFill>
                  <a:srgbClr val="64748B"/>
                </a:solidFill>
                <a:latin typeface="Calibri" pitchFamily="34" charset="0"/>
                <a:ea typeface="Calibri" pitchFamily="34" charset="-122"/>
                <a:cs typeface="Calibri" pitchFamily="34" charset="-120"/>
              </a:rPr>
              <a:t>Eight containers, one `docker compose up`</a:t>
            </a:r>
            <a:endParaRPr lang="en-US" sz="1300" dirty="0"/>
          </a:p>
        </p:txBody>
      </p:sp>
      <p:sp>
        <p:nvSpPr>
          <p:cNvPr id="4" name="Shape 2"/>
          <p:cNvSpPr/>
          <p:nvPr/>
        </p:nvSpPr>
        <p:spPr>
          <a:xfrm>
            <a:off x="548640" y="1207008"/>
            <a:ext cx="11064240" cy="0"/>
          </a:xfrm>
          <a:prstGeom prst="line">
            <a:avLst/>
          </a:prstGeom>
          <a:noFill/>
          <a:ln w="9525">
            <a:solidFill>
              <a:srgbClr val="CBD5E1"/>
            </a:solidFill>
            <a:prstDash val="solid"/>
          </a:ln>
        </p:spPr>
        <p:txBody>
          <a:bodyPr/>
          <a:lstStyle/>
          <a:p>
            <a:endParaRPr lang="en-US"/>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3127248"/>
        </p:xfrm>
        <a:graphic>
          <a:graphicData uri="http://schemas.openxmlformats.org/drawingml/2006/table">
            <a:tbl>
              <a:tblPr/>
              <a:tblGrid>
                <a:gridCol w="237744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4297680">
                  <a:extLst>
                    <a:ext uri="{9D8B030D-6E8A-4147-A177-3AD203B41FA5}">
                      <a16:colId xmlns:a16="http://schemas.microsoft.com/office/drawing/2014/main" val="20003"/>
                    </a:ext>
                  </a:extLst>
                </a:gridCol>
              </a:tblGrid>
              <a:tr h="347472">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Service</a:t>
                      </a:r>
                      <a:endParaRPr lang="en-US" sz="12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4C81"/>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Container</a:t>
                      </a:r>
                      <a:endParaRPr lang="en-US" sz="12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4C81"/>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Port</a:t>
                      </a:r>
                      <a:endParaRPr lang="en-US" sz="12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4C81"/>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Role</a:t>
                      </a:r>
                      <a:endParaRPr lang="en-US" sz="12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4C81"/>
                    </a:solidFill>
                  </a:tcPr>
                </a:tc>
                <a:extLst>
                  <a:ext uri="{0D108BD9-81ED-4DB2-BD59-A6C34878D82A}">
                    <a16:rowId xmlns:a16="http://schemas.microsoft.com/office/drawing/2014/main" val="10000"/>
                  </a:ext>
                </a:extLst>
              </a:tr>
              <a:tr h="347472">
                <a:tc>
                  <a:txBody>
                    <a:bodyPr/>
                    <a:lstStyle/>
                    <a:p>
                      <a:pPr marL="0" indent="0" algn="l">
                        <a:buNone/>
                      </a:pPr>
                      <a:r>
                        <a:rPr lang="en-US" sz="1200" dirty="0">
                          <a:solidFill>
                            <a:srgbClr val="1E293B"/>
                          </a:solidFill>
                          <a:latin typeface="Calibri" pitchFamily="34" charset="0"/>
                          <a:ea typeface="Calibri" pitchFamily="34" charset="-122"/>
                          <a:cs typeface="Calibri" pitchFamily="34" charset="-120"/>
                        </a:rPr>
                        <a:t>PostgreSQL 18</a:t>
                      </a:r>
                      <a:endParaRPr lang="en-US" sz="12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E293B"/>
                          </a:solidFill>
                          <a:latin typeface="Calibri" pitchFamily="34" charset="0"/>
                          <a:ea typeface="Calibri" pitchFamily="34" charset="-122"/>
                          <a:cs typeface="Calibri" pitchFamily="34" charset="-120"/>
                        </a:rPr>
                        <a:t>epid-postgres</a:t>
                      </a:r>
                      <a:endParaRPr lang="en-US" sz="12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15432</a:t>
                      </a:r>
                      <a:endParaRPr lang="en-US" sz="12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E293B"/>
                          </a:solidFill>
                          <a:latin typeface="Calibri" pitchFamily="34" charset="0"/>
                          <a:ea typeface="Calibri" pitchFamily="34" charset="-122"/>
                          <a:cs typeface="Calibri" pitchFamily="34" charset="-120"/>
                        </a:rPr>
                        <a:t>Relational star schema DW</a:t>
                      </a:r>
                      <a:endParaRPr lang="en-US" sz="12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lgn="l">
                        <a:buNone/>
                      </a:pPr>
                      <a:r>
                        <a:rPr lang="en-US" sz="1200" dirty="0">
                          <a:solidFill>
                            <a:srgbClr val="1E293B"/>
                          </a:solidFill>
                          <a:latin typeface="Calibri" pitchFamily="34" charset="0"/>
                          <a:ea typeface="Calibri" pitchFamily="34" charset="-122"/>
                          <a:cs typeface="Calibri" pitchFamily="34" charset="-120"/>
                        </a:rPr>
                        <a:t>MongoDB 8</a:t>
                      </a:r>
                      <a:endParaRPr lang="en-US" sz="12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lgn="l">
                        <a:buNone/>
                      </a:pPr>
                      <a:r>
                        <a:rPr lang="en-US" sz="1200" dirty="0">
                          <a:solidFill>
                            <a:srgbClr val="1E293B"/>
                          </a:solidFill>
                          <a:latin typeface="Calibri" pitchFamily="34" charset="0"/>
                          <a:ea typeface="Calibri" pitchFamily="34" charset="-122"/>
                          <a:cs typeface="Calibri" pitchFamily="34" charset="-120"/>
                        </a:rPr>
                        <a:t>epid-mongodb</a:t>
                      </a:r>
                      <a:endParaRPr lang="en-US" sz="12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27017</a:t>
                      </a:r>
                      <a:endParaRPr lang="en-US" sz="12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lgn="l">
                        <a:buNone/>
                      </a:pPr>
                      <a:r>
                        <a:rPr lang="en-US" sz="1200" dirty="0">
                          <a:solidFill>
                            <a:srgbClr val="1E293B"/>
                          </a:solidFill>
                          <a:latin typeface="Calibri" pitchFamily="34" charset="0"/>
                          <a:ea typeface="Calibri" pitchFamily="34" charset="-122"/>
                          <a:cs typeface="Calibri" pitchFamily="34" charset="-120"/>
                        </a:rPr>
                        <a:t>Document-based DW (Bucket Pattern)</a:t>
                      </a:r>
                      <a:endParaRPr lang="en-US" sz="12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347472">
                <a:tc>
                  <a:txBody>
                    <a:bodyPr/>
                    <a:lstStyle/>
                    <a:p>
                      <a:pPr marL="0" indent="0" algn="l">
                        <a:buNone/>
                      </a:pPr>
                      <a:r>
                        <a:rPr lang="en-US" sz="1200" dirty="0">
                          <a:solidFill>
                            <a:srgbClr val="1E293B"/>
                          </a:solidFill>
                          <a:latin typeface="Calibri" pitchFamily="34" charset="0"/>
                          <a:ea typeface="Calibri" pitchFamily="34" charset="-122"/>
                          <a:cs typeface="Calibri" pitchFamily="34" charset="-120"/>
                        </a:rPr>
                        <a:t>Neo4j 2026.03</a:t>
                      </a:r>
                      <a:endParaRPr lang="en-US" sz="12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E293B"/>
                          </a:solidFill>
                          <a:latin typeface="Calibri" pitchFamily="34" charset="0"/>
                          <a:ea typeface="Calibri" pitchFamily="34" charset="-122"/>
                          <a:cs typeface="Calibri" pitchFamily="34" charset="-120"/>
                        </a:rPr>
                        <a:t>epid-neo4j</a:t>
                      </a:r>
                      <a:endParaRPr lang="en-US" sz="12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7474 / 7687</a:t>
                      </a:r>
                      <a:endParaRPr lang="en-US" sz="12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E293B"/>
                          </a:solidFill>
                          <a:latin typeface="Calibri" pitchFamily="34" charset="0"/>
                          <a:ea typeface="Calibri" pitchFamily="34" charset="-122"/>
                          <a:cs typeface="Calibri" pitchFamily="34" charset="-120"/>
                        </a:rPr>
                        <a:t>Graph-based DW with APOC</a:t>
                      </a:r>
                      <a:endParaRPr lang="en-US" sz="12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7472">
                <a:tc>
                  <a:txBody>
                    <a:bodyPr/>
                    <a:lstStyle/>
                    <a:p>
                      <a:pPr marL="0" indent="0" algn="l">
                        <a:buNone/>
                      </a:pPr>
                      <a:r>
                        <a:rPr lang="en-US" sz="1200" dirty="0">
                          <a:solidFill>
                            <a:srgbClr val="1E293B"/>
                          </a:solidFill>
                          <a:latin typeface="Calibri" pitchFamily="34" charset="0"/>
                          <a:ea typeface="Calibri" pitchFamily="34" charset="-122"/>
                          <a:cs typeface="Calibri" pitchFamily="34" charset="-120"/>
                        </a:rPr>
                        <a:t>Kafka (KRaft)</a:t>
                      </a:r>
                      <a:endParaRPr lang="en-US" sz="12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lgn="l">
                        <a:buNone/>
                      </a:pPr>
                      <a:r>
                        <a:rPr lang="en-US" sz="1200" dirty="0">
                          <a:solidFill>
                            <a:srgbClr val="1E293B"/>
                          </a:solidFill>
                          <a:latin typeface="Calibri" pitchFamily="34" charset="0"/>
                          <a:ea typeface="Calibri" pitchFamily="34" charset="-122"/>
                          <a:cs typeface="Calibri" pitchFamily="34" charset="-120"/>
                        </a:rPr>
                        <a:t>epid-kafka</a:t>
                      </a:r>
                      <a:endParaRPr lang="en-US" sz="12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9092</a:t>
                      </a:r>
                      <a:endParaRPr lang="en-US" sz="12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lgn="l">
                        <a:buNone/>
                      </a:pPr>
                      <a:r>
                        <a:rPr lang="en-US" sz="1200" dirty="0">
                          <a:solidFill>
                            <a:srgbClr val="1E293B"/>
                          </a:solidFill>
                          <a:latin typeface="Calibri" pitchFamily="34" charset="0"/>
                          <a:ea typeface="Calibri" pitchFamily="34" charset="-122"/>
                          <a:cs typeface="Calibri" pitchFamily="34" charset="-120"/>
                        </a:rPr>
                        <a:t>Event-streaming broker</a:t>
                      </a:r>
                      <a:endParaRPr lang="en-US" sz="12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extLst>
                  <a:ext uri="{0D108BD9-81ED-4DB2-BD59-A6C34878D82A}">
                    <a16:rowId xmlns:a16="http://schemas.microsoft.com/office/drawing/2014/main" val="10004"/>
                  </a:ext>
                </a:extLst>
              </a:tr>
              <a:tr h="347472">
                <a:tc>
                  <a:txBody>
                    <a:bodyPr/>
                    <a:lstStyle/>
                    <a:p>
                      <a:pPr marL="0" indent="0" algn="l">
                        <a:buNone/>
                      </a:pPr>
                      <a:r>
                        <a:rPr lang="en-US" sz="1200" dirty="0">
                          <a:solidFill>
                            <a:srgbClr val="1E293B"/>
                          </a:solidFill>
                          <a:latin typeface="Calibri" pitchFamily="34" charset="0"/>
                          <a:ea typeface="Calibri" pitchFamily="34" charset="-122"/>
                          <a:cs typeface="Calibri" pitchFamily="34" charset="-120"/>
                        </a:rPr>
                        <a:t>ksqlDB Server</a:t>
                      </a:r>
                      <a:endParaRPr lang="en-US" sz="12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E293B"/>
                          </a:solidFill>
                          <a:latin typeface="Calibri" pitchFamily="34" charset="0"/>
                          <a:ea typeface="Calibri" pitchFamily="34" charset="-122"/>
                          <a:cs typeface="Calibri" pitchFamily="34" charset="-120"/>
                        </a:rPr>
                        <a:t>epid-ksqldb-server</a:t>
                      </a:r>
                      <a:endParaRPr lang="en-US" sz="12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8088</a:t>
                      </a:r>
                      <a:endParaRPr lang="en-US" sz="12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E293B"/>
                          </a:solidFill>
                          <a:latin typeface="Calibri" pitchFamily="34" charset="0"/>
                          <a:ea typeface="Calibri" pitchFamily="34" charset="-122"/>
                          <a:cs typeface="Calibri" pitchFamily="34" charset="-120"/>
                        </a:rPr>
                        <a:t>Stream-processing engine</a:t>
                      </a:r>
                      <a:endParaRPr lang="en-US" sz="12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47472">
                <a:tc>
                  <a:txBody>
                    <a:bodyPr/>
                    <a:lstStyle/>
                    <a:p>
                      <a:pPr marL="0" indent="0" algn="l">
                        <a:buNone/>
                      </a:pPr>
                      <a:r>
                        <a:rPr lang="en-US" sz="1200" dirty="0">
                          <a:solidFill>
                            <a:srgbClr val="1E293B"/>
                          </a:solidFill>
                          <a:latin typeface="Calibri" pitchFamily="34" charset="0"/>
                          <a:ea typeface="Calibri" pitchFamily="34" charset="-122"/>
                          <a:cs typeface="Calibri" pitchFamily="34" charset="-120"/>
                        </a:rPr>
                        <a:t>ksqlDB CLI</a:t>
                      </a:r>
                      <a:endParaRPr lang="en-US" sz="12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lgn="l">
                        <a:buNone/>
                      </a:pPr>
                      <a:r>
                        <a:rPr lang="en-US" sz="1200" dirty="0">
                          <a:solidFill>
                            <a:srgbClr val="1E293B"/>
                          </a:solidFill>
                          <a:latin typeface="Calibri" pitchFamily="34" charset="0"/>
                          <a:ea typeface="Calibri" pitchFamily="34" charset="-122"/>
                          <a:cs typeface="Calibri" pitchFamily="34" charset="-120"/>
                        </a:rPr>
                        <a:t>epid-ksqldb-cli</a:t>
                      </a:r>
                      <a:endParaRPr lang="en-US" sz="12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lgn="l">
                        <a:buNone/>
                      </a:pPr>
                      <a:r>
                        <a:rPr lang="en-US" sz="1200" dirty="0">
                          <a:solidFill>
                            <a:srgbClr val="1E293B"/>
                          </a:solidFill>
                          <a:latin typeface="Calibri" pitchFamily="34" charset="0"/>
                          <a:ea typeface="Calibri" pitchFamily="34" charset="-122"/>
                          <a:cs typeface="Calibri" pitchFamily="34" charset="-120"/>
                        </a:rPr>
                        <a:t>Interactive ksqlDB client</a:t>
                      </a:r>
                      <a:endParaRPr lang="en-US" sz="12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extLst>
                  <a:ext uri="{0D108BD9-81ED-4DB2-BD59-A6C34878D82A}">
                    <a16:rowId xmlns:a16="http://schemas.microsoft.com/office/drawing/2014/main" val="10006"/>
                  </a:ext>
                </a:extLst>
              </a:tr>
              <a:tr h="347472">
                <a:tc>
                  <a:txBody>
                    <a:bodyPr/>
                    <a:lstStyle/>
                    <a:p>
                      <a:pPr marL="0" indent="0" algn="l">
                        <a:buNone/>
                      </a:pPr>
                      <a:r>
                        <a:rPr lang="en-US" sz="1200" dirty="0">
                          <a:solidFill>
                            <a:srgbClr val="1E293B"/>
                          </a:solidFill>
                          <a:latin typeface="Calibri" pitchFamily="34" charset="0"/>
                          <a:ea typeface="Calibri" pitchFamily="34" charset="-122"/>
                          <a:cs typeface="Calibri" pitchFamily="34" charset="-120"/>
                        </a:rPr>
                        <a:t>FastAPI backend</a:t>
                      </a:r>
                      <a:endParaRPr lang="en-US" sz="12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E293B"/>
                          </a:solidFill>
                          <a:latin typeface="Calibri" pitchFamily="34" charset="0"/>
                          <a:ea typeface="Calibri" pitchFamily="34" charset="-122"/>
                          <a:cs typeface="Calibri" pitchFamily="34" charset="-120"/>
                        </a:rPr>
                        <a:t>epid-backend</a:t>
                      </a:r>
                      <a:endParaRPr lang="en-US" sz="12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8000</a:t>
                      </a:r>
                      <a:endParaRPr lang="en-US" sz="12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E293B"/>
                          </a:solidFill>
                          <a:latin typeface="Calibri" pitchFamily="34" charset="0"/>
                          <a:ea typeface="Calibri" pitchFamily="34" charset="-122"/>
                          <a:cs typeface="Calibri" pitchFamily="34" charset="-120"/>
                        </a:rPr>
                        <a:t>Unified REST API</a:t>
                      </a:r>
                      <a:endParaRPr lang="en-US" sz="12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47472">
                <a:tc>
                  <a:txBody>
                    <a:bodyPr/>
                    <a:lstStyle/>
                    <a:p>
                      <a:pPr marL="0" indent="0" algn="l">
                        <a:buNone/>
                      </a:pPr>
                      <a:r>
                        <a:rPr lang="en-US" sz="1200" dirty="0">
                          <a:solidFill>
                            <a:srgbClr val="1E293B"/>
                          </a:solidFill>
                          <a:latin typeface="Calibri" pitchFamily="34" charset="0"/>
                          <a:ea typeface="Calibri" pitchFamily="34" charset="-122"/>
                          <a:cs typeface="Calibri" pitchFamily="34" charset="-120"/>
                        </a:rPr>
                        <a:t>React frontend</a:t>
                      </a:r>
                      <a:endParaRPr lang="en-US" sz="12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lgn="l">
                        <a:buNone/>
                      </a:pPr>
                      <a:r>
                        <a:rPr lang="en-US" sz="1200" dirty="0">
                          <a:solidFill>
                            <a:srgbClr val="1E293B"/>
                          </a:solidFill>
                          <a:latin typeface="Calibri" pitchFamily="34" charset="0"/>
                          <a:ea typeface="Calibri" pitchFamily="34" charset="-122"/>
                          <a:cs typeface="Calibri" pitchFamily="34" charset="-120"/>
                        </a:rPr>
                        <a:t>epid-frontend</a:t>
                      </a:r>
                      <a:endParaRPr lang="en-US" sz="12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3000</a:t>
                      </a:r>
                      <a:endParaRPr lang="en-US" sz="12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lgn="l">
                        <a:buNone/>
                      </a:pPr>
                      <a:r>
                        <a:rPr lang="en-US" sz="1200" dirty="0">
                          <a:solidFill>
                            <a:srgbClr val="1E293B"/>
                          </a:solidFill>
                          <a:latin typeface="Calibri" pitchFamily="34" charset="0"/>
                          <a:ea typeface="Calibri" pitchFamily="34" charset="-122"/>
                          <a:cs typeface="Calibri" pitchFamily="34" charset="-120"/>
                        </a:rPr>
                        <a:t>Analytics dashboard</a:t>
                      </a:r>
                      <a:endParaRPr lang="en-US" sz="12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extLst>
                  <a:ext uri="{0D108BD9-81ED-4DB2-BD59-A6C34878D82A}">
                    <a16:rowId xmlns:a16="http://schemas.microsoft.com/office/drawing/2014/main" val="10008"/>
                  </a:ext>
                </a:extLst>
              </a:tr>
            </a:tbl>
          </a:graphicData>
        </a:graphic>
      </p:graphicFrame>
      <p:sp>
        <p:nvSpPr>
          <p:cNvPr id="6" name="Shape 3"/>
          <p:cNvSpPr/>
          <p:nvPr/>
        </p:nvSpPr>
        <p:spPr>
          <a:xfrm>
            <a:off x="548640" y="4754880"/>
            <a:ext cx="11064240" cy="1280160"/>
          </a:xfrm>
          <a:prstGeom prst="rect">
            <a:avLst/>
          </a:prstGeom>
          <a:solidFill>
            <a:srgbClr val="F1F5F9"/>
          </a:solidFill>
          <a:ln w="6350">
            <a:solidFill>
              <a:srgbClr val="CBD5E1"/>
            </a:solidFill>
            <a:prstDash val="solid"/>
          </a:ln>
        </p:spPr>
        <p:txBody>
          <a:bodyPr/>
          <a:lstStyle/>
          <a:p>
            <a:endParaRPr lang="en-US"/>
          </a:p>
        </p:txBody>
      </p:sp>
      <p:sp>
        <p:nvSpPr>
          <p:cNvPr id="5" name="Shape 4"/>
          <p:cNvSpPr/>
          <p:nvPr/>
        </p:nvSpPr>
        <p:spPr>
          <a:xfrm>
            <a:off x="548640" y="4754880"/>
            <a:ext cx="73152" cy="1280160"/>
          </a:xfrm>
          <a:prstGeom prst="rect">
            <a:avLst/>
          </a:prstGeom>
          <a:solidFill>
            <a:srgbClr val="0F4C81"/>
          </a:solidFill>
          <a:ln w="12700">
            <a:solidFill>
              <a:srgbClr val="333333"/>
            </a:solidFill>
            <a:prstDash val="solid"/>
          </a:ln>
        </p:spPr>
        <p:txBody>
          <a:bodyPr/>
          <a:lstStyle/>
          <a:p>
            <a:endParaRPr lang="en-US"/>
          </a:p>
        </p:txBody>
      </p:sp>
      <p:sp>
        <p:nvSpPr>
          <p:cNvPr id="8" name="Text 5"/>
          <p:cNvSpPr/>
          <p:nvPr/>
        </p:nvSpPr>
        <p:spPr>
          <a:xfrm>
            <a:off x="777240" y="4846320"/>
            <a:ext cx="10698480" cy="274320"/>
          </a:xfrm>
          <a:prstGeom prst="rect">
            <a:avLst/>
          </a:prstGeom>
          <a:noFill/>
          <a:ln/>
        </p:spPr>
        <p:txBody>
          <a:bodyPr wrap="square" lIns="0" tIns="0" rIns="0" bIns="0" rtlCol="0" anchor="ctr"/>
          <a:lstStyle/>
          <a:p>
            <a:pPr marL="0" indent="0">
              <a:buNone/>
            </a:pPr>
            <a:r>
              <a:rPr lang="en-US" sz="1100" b="1" kern="0" spc="300" dirty="0">
                <a:solidFill>
                  <a:srgbClr val="0F4C81"/>
                </a:solidFill>
                <a:latin typeface="Calibri" pitchFamily="34" charset="0"/>
                <a:ea typeface="Calibri" pitchFamily="34" charset="-122"/>
                <a:cs typeface="Calibri" pitchFamily="34" charset="-120"/>
              </a:rPr>
              <a:t>KRAFT MODE NO ZOOKEEPER</a:t>
            </a:r>
            <a:endParaRPr lang="en-US" sz="1100" dirty="0"/>
          </a:p>
        </p:txBody>
      </p:sp>
      <p:sp>
        <p:nvSpPr>
          <p:cNvPr id="9" name="Text 6"/>
          <p:cNvSpPr/>
          <p:nvPr/>
        </p:nvSpPr>
        <p:spPr>
          <a:xfrm>
            <a:off x="777240" y="5120640"/>
            <a:ext cx="10698480" cy="91440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Kafka runs in KRaft mode (Raft-based internal consensus), which replaces the external ZooKeeper dependency. This reduces the total container count from 9 to 8 and is the only supported metadata mode in Kafka 4.0+. Confluent Platform 8.2 ships Kafka 4.2 and ksqlDB as a matched release.</a:t>
            </a:r>
            <a:endParaRPr lang="en-US" sz="1200" dirty="0"/>
          </a:p>
        </p:txBody>
      </p:sp>
      <p:sp>
        <p:nvSpPr>
          <p:cNvPr id="10" name="Text 7"/>
          <p:cNvSpPr/>
          <p:nvPr/>
        </p:nvSpPr>
        <p:spPr>
          <a:xfrm>
            <a:off x="548640" y="6446520"/>
            <a:ext cx="73152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Anwar Debes · IKT453 · University of Agder</a:t>
            </a:r>
            <a:endParaRPr lang="en-US" sz="900" dirty="0"/>
          </a:p>
        </p:txBody>
      </p:sp>
      <p:sp>
        <p:nvSpPr>
          <p:cNvPr id="11" name="Text 8"/>
          <p:cNvSpPr/>
          <p:nvPr/>
        </p:nvSpPr>
        <p:spPr>
          <a:xfrm>
            <a:off x="10789920" y="6446520"/>
            <a:ext cx="86868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6 / 20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02920"/>
          </a:xfrm>
          <a:prstGeom prst="rect">
            <a:avLst/>
          </a:prstGeom>
          <a:noFill/>
          <a:ln/>
        </p:spPr>
        <p:txBody>
          <a:bodyPr wrap="square" lIns="0" tIns="0" rIns="0" bIns="0" rtlCol="0" anchor="ctr"/>
          <a:lstStyle/>
          <a:p>
            <a:pPr marL="0" indent="0" algn="l">
              <a:buNone/>
            </a:pPr>
            <a:r>
              <a:rPr lang="en-US" sz="2800" b="1" dirty="0">
                <a:solidFill>
                  <a:srgbClr val="1E293B"/>
                </a:solidFill>
                <a:latin typeface="Cambria" pitchFamily="34" charset="0"/>
                <a:ea typeface="Cambria" pitchFamily="34" charset="-122"/>
                <a:cs typeface="Cambria" pitchFamily="34" charset="-120"/>
              </a:rPr>
              <a:t>Backend 1 PostgreSQL Star Schema</a:t>
            </a:r>
            <a:endParaRPr lang="en-US" sz="2800" dirty="0"/>
          </a:p>
        </p:txBody>
      </p:sp>
      <p:sp>
        <p:nvSpPr>
          <p:cNvPr id="3" name="Text 1"/>
          <p:cNvSpPr/>
          <p:nvPr/>
        </p:nvSpPr>
        <p:spPr>
          <a:xfrm>
            <a:off x="548640" y="841248"/>
            <a:ext cx="11064240" cy="292608"/>
          </a:xfrm>
          <a:prstGeom prst="rect">
            <a:avLst/>
          </a:prstGeom>
          <a:noFill/>
          <a:ln/>
        </p:spPr>
        <p:txBody>
          <a:bodyPr wrap="square" lIns="0" tIns="0" rIns="0" bIns="0" rtlCol="0" anchor="ctr"/>
          <a:lstStyle/>
          <a:p>
            <a:pPr marL="0" indent="0" algn="l">
              <a:buNone/>
            </a:pPr>
            <a:r>
              <a:rPr lang="en-US" sz="1300" i="1" dirty="0">
                <a:solidFill>
                  <a:srgbClr val="64748B"/>
                </a:solidFill>
                <a:latin typeface="Calibri" pitchFamily="34" charset="0"/>
                <a:ea typeface="Calibri" pitchFamily="34" charset="-122"/>
                <a:cs typeface="Calibri" pitchFamily="34" charset="-120"/>
              </a:rPr>
              <a:t>Classical Kimball dimensional model</a:t>
            </a:r>
            <a:endParaRPr lang="en-US" sz="1300" dirty="0"/>
          </a:p>
        </p:txBody>
      </p:sp>
      <p:sp>
        <p:nvSpPr>
          <p:cNvPr id="4" name="Shape 2"/>
          <p:cNvSpPr/>
          <p:nvPr/>
        </p:nvSpPr>
        <p:spPr>
          <a:xfrm>
            <a:off x="548640" y="1207008"/>
            <a:ext cx="11064240" cy="0"/>
          </a:xfrm>
          <a:prstGeom prst="line">
            <a:avLst/>
          </a:prstGeom>
          <a:noFill/>
          <a:ln w="9525">
            <a:solidFill>
              <a:srgbClr val="CBD5E1"/>
            </a:solidFill>
            <a:prstDash val="solid"/>
          </a:ln>
        </p:spPr>
        <p:txBody>
          <a:bodyPr/>
          <a:lstStyle/>
          <a:p>
            <a:endParaRPr lang="en-US"/>
          </a:p>
        </p:txBody>
      </p:sp>
      <p:sp>
        <p:nvSpPr>
          <p:cNvPr id="21" name="Text 19"/>
          <p:cNvSpPr/>
          <p:nvPr/>
        </p:nvSpPr>
        <p:spPr>
          <a:xfrm>
            <a:off x="7190754" y="1508760"/>
            <a:ext cx="4422126" cy="320040"/>
          </a:xfrm>
          <a:prstGeom prst="rect">
            <a:avLst/>
          </a:prstGeom>
          <a:noFill/>
          <a:ln/>
        </p:spPr>
        <p:txBody>
          <a:bodyPr wrap="square" lIns="0" tIns="0" rIns="0" bIns="0" rtlCol="0" anchor="ctr"/>
          <a:lstStyle/>
          <a:p>
            <a:pPr marL="0" indent="0">
              <a:buNone/>
            </a:pPr>
            <a:r>
              <a:rPr lang="en-US" sz="1200" b="1" kern="0" spc="200" dirty="0">
                <a:solidFill>
                  <a:srgbClr val="0F4C81"/>
                </a:solidFill>
                <a:latin typeface="Calibri" pitchFamily="34" charset="0"/>
                <a:ea typeface="Calibri" pitchFamily="34" charset="-122"/>
                <a:cs typeface="Calibri" pitchFamily="34" charset="-120"/>
              </a:rPr>
              <a:t>Design highlights</a:t>
            </a:r>
            <a:endParaRPr lang="en-US" sz="1200" dirty="0"/>
          </a:p>
        </p:txBody>
      </p:sp>
      <p:sp>
        <p:nvSpPr>
          <p:cNvPr id="22" name="Text 20"/>
          <p:cNvSpPr/>
          <p:nvPr/>
        </p:nvSpPr>
        <p:spPr>
          <a:xfrm>
            <a:off x="7190754" y="1874520"/>
            <a:ext cx="4422125" cy="2499517"/>
          </a:xfrm>
          <a:prstGeom prst="rect">
            <a:avLst/>
          </a:prstGeom>
          <a:noFill/>
          <a:ln/>
        </p:spPr>
        <p:txBody>
          <a:bodyPr wrap="square" lIns="0" tIns="0" rIns="0" bIns="0" rtlCol="0" anchor="ctr"/>
          <a:lstStyle/>
          <a:p>
            <a:pPr marL="342900" indent="-342900">
              <a:spcAft>
                <a:spcPts val="500"/>
              </a:spcAft>
              <a:buSzPct val="100000"/>
              <a:buChar char="•"/>
            </a:pPr>
            <a:r>
              <a:rPr lang="en-US" sz="1200" dirty="0">
                <a:solidFill>
                  <a:srgbClr val="334155"/>
                </a:solidFill>
                <a:latin typeface="Calibri" pitchFamily="34" charset="0"/>
                <a:ea typeface="Calibri" pitchFamily="34" charset="-122"/>
                <a:cs typeface="Calibri" pitchFamily="34" charset="-120"/>
              </a:rPr>
              <a:t>Three dimension tables + one fact table.</a:t>
            </a:r>
            <a:endParaRPr lang="en-US" sz="1200" dirty="0"/>
          </a:p>
          <a:p>
            <a:pPr marL="342900" indent="-342900">
              <a:spcAft>
                <a:spcPts val="500"/>
              </a:spcAft>
              <a:buSzPct val="100000"/>
              <a:buChar char="•"/>
            </a:pPr>
            <a:r>
              <a:rPr lang="en-US" sz="1200" dirty="0">
                <a:solidFill>
                  <a:srgbClr val="334155"/>
                </a:solidFill>
                <a:latin typeface="Calibri" pitchFamily="34" charset="0"/>
                <a:ea typeface="Calibri" pitchFamily="34" charset="-122"/>
                <a:cs typeface="Calibri" pitchFamily="34" charset="-120"/>
              </a:rPr>
              <a:t>Composite index on (disease_key, time_key, location_key) covers the primary star-join access pattern.</a:t>
            </a:r>
            <a:endParaRPr lang="en-US" sz="1200" dirty="0"/>
          </a:p>
          <a:p>
            <a:pPr marL="342900" indent="-342900">
              <a:spcAft>
                <a:spcPts val="500"/>
              </a:spcAft>
              <a:buSzPct val="100000"/>
              <a:buChar char="•"/>
            </a:pPr>
            <a:r>
              <a:rPr lang="en-US" sz="1200" dirty="0">
                <a:solidFill>
                  <a:srgbClr val="334155"/>
                </a:solidFill>
                <a:latin typeface="Calibri" pitchFamily="34" charset="0"/>
                <a:ea typeface="Calibri" pitchFamily="34" charset="-122"/>
                <a:cs typeface="Calibri" pitchFamily="34" charset="-120"/>
              </a:rPr>
              <a:t>Four materialized views pre-aggregate at progressively coarser grain: monthly-by-state, yearly-by-region, decade-national, yearly-city.</a:t>
            </a:r>
            <a:endParaRPr lang="en-US" sz="1200" dirty="0"/>
          </a:p>
          <a:p>
            <a:pPr marL="342900" indent="-342900">
              <a:spcAft>
                <a:spcPts val="500"/>
              </a:spcAft>
              <a:buSzPct val="100000"/>
              <a:buChar char="•"/>
            </a:pPr>
            <a:r>
              <a:rPr lang="en-US" sz="1200" dirty="0">
                <a:solidFill>
                  <a:srgbClr val="334155"/>
                </a:solidFill>
                <a:latin typeface="Calibri" pitchFamily="34" charset="0"/>
                <a:ea typeface="Calibri" pitchFamily="34" charset="-122"/>
                <a:cs typeface="Calibri" pitchFamily="34" charset="-120"/>
              </a:rPr>
              <a:t>dim_time supports drill-down: week → month → quarter → year → decade.</a:t>
            </a:r>
            <a:endParaRPr lang="en-US" sz="1200" dirty="0"/>
          </a:p>
          <a:p>
            <a:pPr marL="342900" indent="-342900">
              <a:spcAft>
                <a:spcPts val="500"/>
              </a:spcAft>
              <a:buSzPct val="100000"/>
              <a:buChar char="•"/>
            </a:pPr>
            <a:r>
              <a:rPr lang="en-US" sz="1200" dirty="0">
                <a:solidFill>
                  <a:srgbClr val="334155"/>
                </a:solidFill>
                <a:latin typeface="Calibri" pitchFamily="34" charset="0"/>
                <a:ea typeface="Calibri" pitchFamily="34" charset="-122"/>
                <a:cs typeface="Calibri" pitchFamily="34" charset="-120"/>
              </a:rPr>
              <a:t>Query tools used: CTEs, window functions (LAG, RANK, STDDEV), LATERAL joins, CORR aggregate.</a:t>
            </a:r>
            <a:endParaRPr lang="en-US" sz="1200" dirty="0"/>
          </a:p>
        </p:txBody>
      </p:sp>
      <p:sp>
        <p:nvSpPr>
          <p:cNvPr id="23" name="Shape 21"/>
          <p:cNvSpPr/>
          <p:nvPr/>
        </p:nvSpPr>
        <p:spPr>
          <a:xfrm>
            <a:off x="548640" y="5897880"/>
            <a:ext cx="11064240" cy="457200"/>
          </a:xfrm>
          <a:prstGeom prst="rect">
            <a:avLst/>
          </a:prstGeom>
          <a:solidFill>
            <a:srgbClr val="F1F5F9"/>
          </a:solidFill>
          <a:ln w="6350">
            <a:solidFill>
              <a:srgbClr val="CBD5E1"/>
            </a:solidFill>
            <a:prstDash val="solid"/>
          </a:ln>
        </p:spPr>
        <p:txBody>
          <a:bodyPr/>
          <a:lstStyle/>
          <a:p>
            <a:endParaRPr lang="en-US"/>
          </a:p>
        </p:txBody>
      </p:sp>
      <p:sp>
        <p:nvSpPr>
          <p:cNvPr id="24" name="Text 22"/>
          <p:cNvSpPr/>
          <p:nvPr/>
        </p:nvSpPr>
        <p:spPr>
          <a:xfrm>
            <a:off x="685800" y="5943600"/>
            <a:ext cx="10881360" cy="36576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Total size on disk: </a:t>
            </a:r>
            <a:r>
              <a:rPr lang="en-US" sz="1100" b="1" dirty="0">
                <a:solidFill>
                  <a:srgbClr val="1E293B"/>
                </a:solidFill>
                <a:latin typeface="Calibri" pitchFamily="34" charset="0"/>
                <a:ea typeface="Calibri" pitchFamily="34" charset="-122"/>
                <a:cs typeface="Calibri" pitchFamily="34" charset="-120"/>
              </a:rPr>
              <a:t>92 MB</a:t>
            </a:r>
            <a:r>
              <a:rPr lang="en-US" sz="1100" dirty="0">
                <a:solidFill>
                  <a:srgbClr val="64748B"/>
                </a:solidFill>
                <a:latin typeface="Calibri" pitchFamily="34" charset="0"/>
                <a:ea typeface="Calibri" pitchFamily="34" charset="-122"/>
                <a:cs typeface="Calibri" pitchFamily="34" charset="-120"/>
              </a:rPr>
              <a:t> · Fact table: 66 MB · Mat. views: 17.4 MB · Dimensions: &lt;1 MB · End-to-end load + index + refresh: ~163 s</a:t>
            </a:r>
            <a:endParaRPr lang="en-US" sz="1100" dirty="0"/>
          </a:p>
        </p:txBody>
      </p:sp>
      <p:sp>
        <p:nvSpPr>
          <p:cNvPr id="25" name="Text 23"/>
          <p:cNvSpPr/>
          <p:nvPr/>
        </p:nvSpPr>
        <p:spPr>
          <a:xfrm>
            <a:off x="548640" y="6446520"/>
            <a:ext cx="73152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Anwar Debes · IKT453 · University of Agder</a:t>
            </a:r>
            <a:endParaRPr lang="en-US" sz="900" dirty="0"/>
          </a:p>
        </p:txBody>
      </p:sp>
      <p:sp>
        <p:nvSpPr>
          <p:cNvPr id="26" name="Text 24"/>
          <p:cNvSpPr/>
          <p:nvPr/>
        </p:nvSpPr>
        <p:spPr>
          <a:xfrm>
            <a:off x="10789920" y="6446520"/>
            <a:ext cx="86868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7 / 20</a:t>
            </a:r>
            <a:endParaRPr lang="en-US" sz="900" dirty="0"/>
          </a:p>
        </p:txBody>
      </p:sp>
      <p:pic>
        <p:nvPicPr>
          <p:cNvPr id="28" name="Picture 27">
            <a:extLst>
              <a:ext uri="{FF2B5EF4-FFF2-40B4-BE49-F238E27FC236}">
                <a16:creationId xmlns:a16="http://schemas.microsoft.com/office/drawing/2014/main" id="{299F4BD1-59D7-A312-469A-D82C92CE4116}"/>
              </a:ext>
            </a:extLst>
          </p:cNvPr>
          <p:cNvPicPr>
            <a:picLocks noChangeAspect="1"/>
          </p:cNvPicPr>
          <p:nvPr/>
        </p:nvPicPr>
        <p:blipFill>
          <a:blip r:embed="rId3"/>
          <a:stretch>
            <a:fillRect/>
          </a:stretch>
        </p:blipFill>
        <p:spPr>
          <a:xfrm>
            <a:off x="579120" y="1572769"/>
            <a:ext cx="6557528" cy="395935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02920"/>
          </a:xfrm>
          <a:prstGeom prst="rect">
            <a:avLst/>
          </a:prstGeom>
          <a:noFill/>
          <a:ln/>
        </p:spPr>
        <p:txBody>
          <a:bodyPr wrap="square" lIns="0" tIns="0" rIns="0" bIns="0" rtlCol="0" anchor="ctr"/>
          <a:lstStyle/>
          <a:p>
            <a:pPr marL="0" indent="0" algn="l">
              <a:buNone/>
            </a:pPr>
            <a:r>
              <a:rPr lang="en-US" sz="2800" b="1" dirty="0">
                <a:solidFill>
                  <a:srgbClr val="1E293B"/>
                </a:solidFill>
                <a:latin typeface="Cambria" pitchFamily="34" charset="0"/>
                <a:ea typeface="Cambria" pitchFamily="34" charset="-122"/>
                <a:cs typeface="Cambria" pitchFamily="34" charset="-120"/>
              </a:rPr>
              <a:t>Backend 2 MongoDB Bucket Pattern</a:t>
            </a:r>
            <a:endParaRPr lang="en-US" sz="2800" dirty="0"/>
          </a:p>
        </p:txBody>
      </p:sp>
      <p:sp>
        <p:nvSpPr>
          <p:cNvPr id="3" name="Text 1"/>
          <p:cNvSpPr/>
          <p:nvPr/>
        </p:nvSpPr>
        <p:spPr>
          <a:xfrm>
            <a:off x="548640" y="841248"/>
            <a:ext cx="11064240" cy="292608"/>
          </a:xfrm>
          <a:prstGeom prst="rect">
            <a:avLst/>
          </a:prstGeom>
          <a:noFill/>
          <a:ln/>
        </p:spPr>
        <p:txBody>
          <a:bodyPr wrap="square" lIns="0" tIns="0" rIns="0" bIns="0" rtlCol="0" anchor="ctr"/>
          <a:lstStyle/>
          <a:p>
            <a:pPr marL="0" indent="0" algn="l">
              <a:buNone/>
            </a:pPr>
            <a:r>
              <a:rPr lang="en-US" sz="1300" i="1" dirty="0">
                <a:solidFill>
                  <a:srgbClr val="64748B"/>
                </a:solidFill>
                <a:latin typeface="Calibri" pitchFamily="34" charset="0"/>
                <a:ea typeface="Calibri" pitchFamily="34" charset="-122"/>
                <a:cs typeface="Calibri" pitchFamily="34" charset="-120"/>
              </a:rPr>
              <a:t>Denormalized time-series documents</a:t>
            </a:r>
            <a:endParaRPr lang="en-US" sz="1300" dirty="0"/>
          </a:p>
        </p:txBody>
      </p:sp>
      <p:sp>
        <p:nvSpPr>
          <p:cNvPr id="4" name="Shape 2"/>
          <p:cNvSpPr/>
          <p:nvPr/>
        </p:nvSpPr>
        <p:spPr>
          <a:xfrm>
            <a:off x="548640" y="1207008"/>
            <a:ext cx="11064240" cy="0"/>
          </a:xfrm>
          <a:prstGeom prst="line">
            <a:avLst/>
          </a:prstGeom>
          <a:noFill/>
          <a:ln w="9525">
            <a:solidFill>
              <a:srgbClr val="CBD5E1"/>
            </a:solidFill>
            <a:prstDash val="solid"/>
          </a:ln>
        </p:spPr>
        <p:txBody>
          <a:bodyPr/>
          <a:lstStyle/>
          <a:p>
            <a:endParaRPr lang="en-US"/>
          </a:p>
        </p:txBody>
      </p:sp>
      <p:sp>
        <p:nvSpPr>
          <p:cNvPr id="5" name="Text 3"/>
          <p:cNvSpPr/>
          <p:nvPr/>
        </p:nvSpPr>
        <p:spPr>
          <a:xfrm>
            <a:off x="548640" y="1463040"/>
            <a:ext cx="5669280" cy="320040"/>
          </a:xfrm>
          <a:prstGeom prst="rect">
            <a:avLst/>
          </a:prstGeom>
          <a:noFill/>
          <a:ln/>
        </p:spPr>
        <p:txBody>
          <a:bodyPr wrap="square" lIns="0" tIns="0" rIns="0" bIns="0" rtlCol="0" anchor="ctr"/>
          <a:lstStyle/>
          <a:p>
            <a:pPr marL="0" indent="0">
              <a:buNone/>
            </a:pPr>
            <a:r>
              <a:rPr lang="en-US" sz="1200" b="1" kern="0" spc="200" dirty="0">
                <a:solidFill>
                  <a:srgbClr val="0F4C81"/>
                </a:solidFill>
                <a:latin typeface="Calibri" pitchFamily="34" charset="0"/>
                <a:ea typeface="Calibri" pitchFamily="34" charset="-122"/>
                <a:cs typeface="Calibri" pitchFamily="34" charset="-120"/>
              </a:rPr>
              <a:t>The problem with naïve time-series</a:t>
            </a:r>
            <a:endParaRPr lang="en-US" sz="1200" dirty="0"/>
          </a:p>
        </p:txBody>
      </p:sp>
      <p:sp>
        <p:nvSpPr>
          <p:cNvPr id="6" name="Text 4"/>
          <p:cNvSpPr/>
          <p:nvPr/>
        </p:nvSpPr>
        <p:spPr>
          <a:xfrm>
            <a:off x="548640" y="1783080"/>
            <a:ext cx="5669280" cy="685800"/>
          </a:xfrm>
          <a:prstGeom prst="rect">
            <a:avLst/>
          </a:prstGeom>
          <a:noFill/>
          <a:ln/>
        </p:spPr>
        <p:txBody>
          <a:bodyPr wrap="square" lIns="0" tIns="0" rIns="0" bIns="0" rtlCol="0" anchor="ctr"/>
          <a:lstStyle/>
          <a:p>
            <a:pPr marL="0" indent="0">
              <a:buNone/>
            </a:pPr>
            <a:r>
              <a:rPr lang="en-US" sz="1300" dirty="0">
                <a:solidFill>
                  <a:srgbClr val="334155"/>
                </a:solidFill>
                <a:latin typeface="Calibri" pitchFamily="34" charset="0"/>
                <a:ea typeface="Calibri" pitchFamily="34" charset="-122"/>
                <a:cs typeface="Calibri" pitchFamily="34" charset="-120"/>
              </a:rPr>
              <a:t>Storing one document per weekly observation would create 473,189 small documents high overhead in index size and query latency.</a:t>
            </a:r>
            <a:endParaRPr lang="en-US" sz="1300" dirty="0"/>
          </a:p>
        </p:txBody>
      </p:sp>
      <p:sp>
        <p:nvSpPr>
          <p:cNvPr id="7" name="Text 5"/>
          <p:cNvSpPr/>
          <p:nvPr/>
        </p:nvSpPr>
        <p:spPr>
          <a:xfrm>
            <a:off x="548640" y="2606040"/>
            <a:ext cx="5669280" cy="320040"/>
          </a:xfrm>
          <a:prstGeom prst="rect">
            <a:avLst/>
          </a:prstGeom>
          <a:noFill/>
          <a:ln/>
        </p:spPr>
        <p:txBody>
          <a:bodyPr wrap="square" lIns="0" tIns="0" rIns="0" bIns="0" rtlCol="0" anchor="ctr"/>
          <a:lstStyle/>
          <a:p>
            <a:pPr marL="0" indent="0">
              <a:buNone/>
            </a:pPr>
            <a:r>
              <a:rPr lang="en-US" sz="1200" b="1" kern="0" spc="200" dirty="0">
                <a:solidFill>
                  <a:srgbClr val="0F4C81"/>
                </a:solidFill>
                <a:latin typeface="Calibri" pitchFamily="34" charset="0"/>
                <a:ea typeface="Calibri" pitchFamily="34" charset="-122"/>
                <a:cs typeface="Calibri" pitchFamily="34" charset="-120"/>
              </a:rPr>
              <a:t>Bucket Pattern solution</a:t>
            </a:r>
            <a:endParaRPr lang="en-US" sz="1200" dirty="0"/>
          </a:p>
        </p:txBody>
      </p:sp>
      <p:sp>
        <p:nvSpPr>
          <p:cNvPr id="8" name="Text 6"/>
          <p:cNvSpPr/>
          <p:nvPr/>
        </p:nvSpPr>
        <p:spPr>
          <a:xfrm>
            <a:off x="548640" y="2926080"/>
            <a:ext cx="5669280" cy="777240"/>
          </a:xfrm>
          <a:prstGeom prst="rect">
            <a:avLst/>
          </a:prstGeom>
          <a:noFill/>
          <a:ln/>
        </p:spPr>
        <p:txBody>
          <a:bodyPr wrap="square" lIns="0" tIns="0" rIns="0" bIns="0" rtlCol="0" anchor="ctr"/>
          <a:lstStyle/>
          <a:p>
            <a:pPr marL="0" indent="0">
              <a:buNone/>
            </a:pPr>
            <a:r>
              <a:rPr lang="en-US" sz="1300" dirty="0">
                <a:solidFill>
                  <a:srgbClr val="334155"/>
                </a:solidFill>
                <a:latin typeface="Calibri" pitchFamily="34" charset="0"/>
                <a:ea typeface="Calibri" pitchFamily="34" charset="-122"/>
                <a:cs typeface="Calibri" pitchFamily="34" charset="-120"/>
              </a:rPr>
              <a:t>Group observations by (disease, location, month) into a single document containing an array of weekly measurements plus pre-computed monthly summary.</a:t>
            </a:r>
            <a:endParaRPr lang="en-US" sz="1300" dirty="0"/>
          </a:p>
        </p:txBody>
      </p:sp>
      <p:sp>
        <p:nvSpPr>
          <p:cNvPr id="9" name="Shape 7"/>
          <p:cNvSpPr/>
          <p:nvPr/>
        </p:nvSpPr>
        <p:spPr>
          <a:xfrm>
            <a:off x="548640" y="3794760"/>
            <a:ext cx="1783080" cy="1005840"/>
          </a:xfrm>
          <a:prstGeom prst="rect">
            <a:avLst/>
          </a:prstGeom>
          <a:solidFill>
            <a:srgbClr val="F1F5F9"/>
          </a:solidFill>
          <a:ln w="6350">
            <a:solidFill>
              <a:srgbClr val="CBD5E1"/>
            </a:solidFill>
            <a:prstDash val="solid"/>
          </a:ln>
        </p:spPr>
        <p:txBody>
          <a:bodyPr/>
          <a:lstStyle/>
          <a:p>
            <a:endParaRPr lang="en-US"/>
          </a:p>
        </p:txBody>
      </p:sp>
      <p:sp>
        <p:nvSpPr>
          <p:cNvPr id="10" name="Text 8"/>
          <p:cNvSpPr/>
          <p:nvPr/>
        </p:nvSpPr>
        <p:spPr>
          <a:xfrm>
            <a:off x="548640" y="3931920"/>
            <a:ext cx="1783080" cy="553212"/>
          </a:xfrm>
          <a:prstGeom prst="rect">
            <a:avLst/>
          </a:prstGeom>
          <a:noFill/>
          <a:ln/>
        </p:spPr>
        <p:txBody>
          <a:bodyPr wrap="square" lIns="0" tIns="0" rIns="0" bIns="0" rtlCol="0" anchor="ctr"/>
          <a:lstStyle/>
          <a:p>
            <a:pPr marL="0" indent="0" algn="ctr">
              <a:buNone/>
            </a:pPr>
            <a:r>
              <a:rPr lang="en-US" sz="2600" b="1" dirty="0">
                <a:solidFill>
                  <a:srgbClr val="0F4C81"/>
                </a:solidFill>
                <a:latin typeface="Cambria" pitchFamily="34" charset="0"/>
                <a:ea typeface="Cambria" pitchFamily="34" charset="-122"/>
                <a:cs typeface="Cambria" pitchFamily="34" charset="-120"/>
              </a:rPr>
              <a:t>155,063</a:t>
            </a:r>
            <a:endParaRPr lang="en-US" sz="2600" dirty="0"/>
          </a:p>
        </p:txBody>
      </p:sp>
      <p:sp>
        <p:nvSpPr>
          <p:cNvPr id="11" name="Text 9"/>
          <p:cNvSpPr/>
          <p:nvPr/>
        </p:nvSpPr>
        <p:spPr>
          <a:xfrm>
            <a:off x="640080" y="4378147"/>
            <a:ext cx="1600200" cy="382219"/>
          </a:xfrm>
          <a:prstGeom prst="rect">
            <a:avLst/>
          </a:prstGeom>
          <a:noFill/>
          <a:ln/>
        </p:spPr>
        <p:txBody>
          <a:bodyPr wrap="square" lIns="0" tIns="0" rIns="0" bIns="0" rtlCol="0" anchor="t"/>
          <a:lstStyle/>
          <a:p>
            <a:pPr marL="0" indent="0" algn="ctr">
              <a:buNone/>
            </a:pPr>
            <a:r>
              <a:rPr lang="en-US" sz="1000" dirty="0">
                <a:solidFill>
                  <a:srgbClr val="64748B"/>
                </a:solidFill>
                <a:latin typeface="Calibri" pitchFamily="34" charset="0"/>
                <a:ea typeface="Calibri" pitchFamily="34" charset="-122"/>
                <a:cs typeface="Calibri" pitchFamily="34" charset="-120"/>
              </a:rPr>
              <a:t>Bucket documents</a:t>
            </a:r>
            <a:endParaRPr lang="en-US" sz="1000" dirty="0"/>
          </a:p>
        </p:txBody>
      </p:sp>
      <p:sp>
        <p:nvSpPr>
          <p:cNvPr id="12" name="Shape 10"/>
          <p:cNvSpPr/>
          <p:nvPr/>
        </p:nvSpPr>
        <p:spPr>
          <a:xfrm>
            <a:off x="2468880" y="3794760"/>
            <a:ext cx="1783080" cy="1005840"/>
          </a:xfrm>
          <a:prstGeom prst="rect">
            <a:avLst/>
          </a:prstGeom>
          <a:solidFill>
            <a:srgbClr val="F1F5F9"/>
          </a:solidFill>
          <a:ln w="6350">
            <a:solidFill>
              <a:srgbClr val="CBD5E1"/>
            </a:solidFill>
            <a:prstDash val="solid"/>
          </a:ln>
        </p:spPr>
        <p:txBody>
          <a:bodyPr/>
          <a:lstStyle/>
          <a:p>
            <a:endParaRPr lang="en-US"/>
          </a:p>
        </p:txBody>
      </p:sp>
      <p:sp>
        <p:nvSpPr>
          <p:cNvPr id="13" name="Text 11"/>
          <p:cNvSpPr/>
          <p:nvPr/>
        </p:nvSpPr>
        <p:spPr>
          <a:xfrm>
            <a:off x="2468880" y="3931920"/>
            <a:ext cx="1783080" cy="553212"/>
          </a:xfrm>
          <a:prstGeom prst="rect">
            <a:avLst/>
          </a:prstGeom>
          <a:noFill/>
          <a:ln/>
        </p:spPr>
        <p:txBody>
          <a:bodyPr wrap="square" lIns="0" tIns="0" rIns="0" bIns="0" rtlCol="0" anchor="ctr"/>
          <a:lstStyle/>
          <a:p>
            <a:pPr marL="0" indent="0" algn="ctr">
              <a:buNone/>
            </a:pPr>
            <a:r>
              <a:rPr lang="en-US" sz="2600" b="1" dirty="0">
                <a:solidFill>
                  <a:srgbClr val="0F4C81"/>
                </a:solidFill>
                <a:latin typeface="Cambria" pitchFamily="34" charset="0"/>
                <a:ea typeface="Cambria" pitchFamily="34" charset="-122"/>
                <a:cs typeface="Cambria" pitchFamily="34" charset="-120"/>
              </a:rPr>
              <a:t>3.05</a:t>
            </a:r>
            <a:endParaRPr lang="en-US" sz="2600" dirty="0"/>
          </a:p>
        </p:txBody>
      </p:sp>
      <p:sp>
        <p:nvSpPr>
          <p:cNvPr id="14" name="Text 12"/>
          <p:cNvSpPr/>
          <p:nvPr/>
        </p:nvSpPr>
        <p:spPr>
          <a:xfrm>
            <a:off x="2560320" y="4378147"/>
            <a:ext cx="1600200" cy="382219"/>
          </a:xfrm>
          <a:prstGeom prst="rect">
            <a:avLst/>
          </a:prstGeom>
          <a:noFill/>
          <a:ln/>
        </p:spPr>
        <p:txBody>
          <a:bodyPr wrap="square" lIns="0" tIns="0" rIns="0" bIns="0" rtlCol="0" anchor="t"/>
          <a:lstStyle/>
          <a:p>
            <a:pPr marL="0" indent="0" algn="ctr">
              <a:buNone/>
            </a:pPr>
            <a:r>
              <a:rPr lang="en-US" sz="1000" dirty="0">
                <a:solidFill>
                  <a:srgbClr val="64748B"/>
                </a:solidFill>
                <a:latin typeface="Calibri" pitchFamily="34" charset="0"/>
                <a:ea typeface="Calibri" pitchFamily="34" charset="-122"/>
                <a:cs typeface="Calibri" pitchFamily="34" charset="-120"/>
              </a:rPr>
              <a:t>Weekly obs / bucket</a:t>
            </a:r>
            <a:endParaRPr lang="en-US" sz="1000" dirty="0"/>
          </a:p>
        </p:txBody>
      </p:sp>
      <p:sp>
        <p:nvSpPr>
          <p:cNvPr id="15" name="Shape 13"/>
          <p:cNvSpPr/>
          <p:nvPr/>
        </p:nvSpPr>
        <p:spPr>
          <a:xfrm>
            <a:off x="4389120" y="3794760"/>
            <a:ext cx="1783080" cy="1005840"/>
          </a:xfrm>
          <a:prstGeom prst="rect">
            <a:avLst/>
          </a:prstGeom>
          <a:solidFill>
            <a:srgbClr val="F1F5F9"/>
          </a:solidFill>
          <a:ln w="6350">
            <a:solidFill>
              <a:srgbClr val="CBD5E1"/>
            </a:solidFill>
            <a:prstDash val="solid"/>
          </a:ln>
        </p:spPr>
        <p:txBody>
          <a:bodyPr/>
          <a:lstStyle/>
          <a:p>
            <a:endParaRPr lang="en-US"/>
          </a:p>
        </p:txBody>
      </p:sp>
      <p:sp>
        <p:nvSpPr>
          <p:cNvPr id="16" name="Text 14"/>
          <p:cNvSpPr/>
          <p:nvPr/>
        </p:nvSpPr>
        <p:spPr>
          <a:xfrm>
            <a:off x="4389120" y="3931920"/>
            <a:ext cx="1783080" cy="553212"/>
          </a:xfrm>
          <a:prstGeom prst="rect">
            <a:avLst/>
          </a:prstGeom>
          <a:noFill/>
          <a:ln/>
        </p:spPr>
        <p:txBody>
          <a:bodyPr wrap="square" lIns="0" tIns="0" rIns="0" bIns="0" rtlCol="0" anchor="ctr"/>
          <a:lstStyle/>
          <a:p>
            <a:pPr marL="0" indent="0" algn="ctr">
              <a:buNone/>
            </a:pPr>
            <a:r>
              <a:rPr lang="en-US" sz="2600" b="1" dirty="0">
                <a:solidFill>
                  <a:srgbClr val="0F4C81"/>
                </a:solidFill>
                <a:latin typeface="Cambria" pitchFamily="34" charset="0"/>
                <a:ea typeface="Cambria" pitchFamily="34" charset="-122"/>
                <a:cs typeface="Cambria" pitchFamily="34" charset="-120"/>
              </a:rPr>
              <a:t>114 MB</a:t>
            </a:r>
            <a:endParaRPr lang="en-US" sz="2600" dirty="0"/>
          </a:p>
        </p:txBody>
      </p:sp>
      <p:sp>
        <p:nvSpPr>
          <p:cNvPr id="17" name="Text 15"/>
          <p:cNvSpPr/>
          <p:nvPr/>
        </p:nvSpPr>
        <p:spPr>
          <a:xfrm>
            <a:off x="4480560" y="4378147"/>
            <a:ext cx="1600200" cy="382219"/>
          </a:xfrm>
          <a:prstGeom prst="rect">
            <a:avLst/>
          </a:prstGeom>
          <a:noFill/>
          <a:ln/>
        </p:spPr>
        <p:txBody>
          <a:bodyPr wrap="square" lIns="0" tIns="0" rIns="0" bIns="0" rtlCol="0" anchor="t"/>
          <a:lstStyle/>
          <a:p>
            <a:pPr marL="0" indent="0" algn="ctr">
              <a:buNone/>
            </a:pPr>
            <a:r>
              <a:rPr lang="en-US" sz="1000" dirty="0">
                <a:solidFill>
                  <a:srgbClr val="64748B"/>
                </a:solidFill>
                <a:latin typeface="Calibri" pitchFamily="34" charset="0"/>
                <a:ea typeface="Calibri" pitchFamily="34" charset="-122"/>
                <a:cs typeface="Calibri" pitchFamily="34" charset="-120"/>
              </a:rPr>
              <a:t>Total size</a:t>
            </a:r>
            <a:endParaRPr lang="en-US" sz="1000" dirty="0"/>
          </a:p>
        </p:txBody>
      </p:sp>
      <p:sp>
        <p:nvSpPr>
          <p:cNvPr id="18" name="Shape 16"/>
          <p:cNvSpPr/>
          <p:nvPr/>
        </p:nvSpPr>
        <p:spPr>
          <a:xfrm>
            <a:off x="6583680" y="1463040"/>
            <a:ext cx="5120640" cy="4709160"/>
          </a:xfrm>
          <a:prstGeom prst="rect">
            <a:avLst/>
          </a:prstGeom>
          <a:solidFill>
            <a:srgbClr val="F1F5F9"/>
          </a:solidFill>
          <a:ln w="6350">
            <a:solidFill>
              <a:srgbClr val="CBD5E1"/>
            </a:solidFill>
            <a:prstDash val="solid"/>
          </a:ln>
        </p:spPr>
        <p:txBody>
          <a:bodyPr/>
          <a:lstStyle/>
          <a:p>
            <a:endParaRPr lang="en-US"/>
          </a:p>
        </p:txBody>
      </p:sp>
      <p:sp>
        <p:nvSpPr>
          <p:cNvPr id="19" name="Shape 17"/>
          <p:cNvSpPr/>
          <p:nvPr/>
        </p:nvSpPr>
        <p:spPr>
          <a:xfrm>
            <a:off x="6583680" y="1463040"/>
            <a:ext cx="73152" cy="4709160"/>
          </a:xfrm>
          <a:prstGeom prst="rect">
            <a:avLst/>
          </a:prstGeom>
          <a:solidFill>
            <a:srgbClr val="0F4C81"/>
          </a:solidFill>
          <a:ln w="12700">
            <a:solidFill>
              <a:srgbClr val="333333"/>
            </a:solidFill>
            <a:prstDash val="solid"/>
          </a:ln>
        </p:spPr>
        <p:txBody>
          <a:bodyPr/>
          <a:lstStyle/>
          <a:p>
            <a:endParaRPr lang="en-US"/>
          </a:p>
        </p:txBody>
      </p:sp>
      <p:sp>
        <p:nvSpPr>
          <p:cNvPr id="20" name="Text 18"/>
          <p:cNvSpPr/>
          <p:nvPr/>
        </p:nvSpPr>
        <p:spPr>
          <a:xfrm>
            <a:off x="6812280" y="1600200"/>
            <a:ext cx="4754880" cy="274320"/>
          </a:xfrm>
          <a:prstGeom prst="rect">
            <a:avLst/>
          </a:prstGeom>
          <a:noFill/>
          <a:ln/>
        </p:spPr>
        <p:txBody>
          <a:bodyPr wrap="square" lIns="0" tIns="0" rIns="0" bIns="0" rtlCol="0" anchor="ctr"/>
          <a:lstStyle/>
          <a:p>
            <a:pPr marL="0" indent="0">
              <a:buNone/>
            </a:pPr>
            <a:r>
              <a:rPr lang="en-US" sz="1000" b="1" kern="0" spc="300" dirty="0">
                <a:solidFill>
                  <a:srgbClr val="0F4C81"/>
                </a:solidFill>
                <a:latin typeface="Calibri" pitchFamily="34" charset="0"/>
                <a:ea typeface="Calibri" pitchFamily="34" charset="-122"/>
                <a:cs typeface="Calibri" pitchFamily="34" charset="-120"/>
              </a:rPr>
              <a:t>BUCKET DOCUMENT</a:t>
            </a:r>
            <a:endParaRPr lang="en-US" sz="1000" dirty="0"/>
          </a:p>
        </p:txBody>
      </p:sp>
      <p:sp>
        <p:nvSpPr>
          <p:cNvPr id="21" name="Text 19"/>
          <p:cNvSpPr/>
          <p:nvPr/>
        </p:nvSpPr>
        <p:spPr>
          <a:xfrm>
            <a:off x="6812280" y="1920240"/>
            <a:ext cx="4754880" cy="4206240"/>
          </a:xfrm>
          <a:prstGeom prst="rect">
            <a:avLst/>
          </a:prstGeom>
          <a:noFill/>
          <a:ln/>
        </p:spPr>
        <p:txBody>
          <a:bodyPr wrap="square" lIns="0" tIns="0" rIns="0" bIns="0" rtlCol="0" anchor="t"/>
          <a:lstStyle/>
          <a:p>
            <a:pPr marL="0" indent="0">
              <a:buNone/>
            </a:pPr>
            <a:r>
              <a:rPr lang="en-US" sz="1000" dirty="0">
                <a:solidFill>
                  <a:srgbClr val="1E293B"/>
                </a:solidFill>
                <a:latin typeface="Consolas" pitchFamily="34" charset="0"/>
                <a:ea typeface="Consolas" pitchFamily="34" charset="-122"/>
                <a:cs typeface="Consolas" pitchFamily="34" charset="-120"/>
              </a:rPr>
              <a:t>{</a:t>
            </a:r>
            <a:endParaRPr lang="en-US" sz="1000" dirty="0"/>
          </a:p>
          <a:p>
            <a:pPr marL="0" indent="0">
              <a:buNone/>
            </a:pPr>
            <a:r>
              <a:rPr lang="en-US" sz="1000" dirty="0">
                <a:solidFill>
                  <a:srgbClr val="1E293B"/>
                </a:solidFill>
                <a:latin typeface="Consolas" pitchFamily="34" charset="0"/>
                <a:ea typeface="Consolas" pitchFamily="34" charset="-122"/>
                <a:cs typeface="Consolas" pitchFamily="34" charset="-120"/>
              </a:rPr>
              <a:t>  "disease": { "name": "MEASLES", "category": "Viral",</a:t>
            </a:r>
            <a:endParaRPr lang="en-US" sz="1000" dirty="0"/>
          </a:p>
          <a:p>
            <a:pPr marL="0" indent="0">
              <a:buNone/>
            </a:pPr>
            <a:r>
              <a:rPr lang="en-US" sz="1000" dirty="0">
                <a:solidFill>
                  <a:srgbClr val="1E293B"/>
                </a:solidFill>
                <a:latin typeface="Consolas" pitchFamily="34" charset="0"/>
                <a:ea typeface="Consolas" pitchFamily="34" charset="-122"/>
                <a:cs typeface="Consolas" pitchFamily="34" charset="-120"/>
              </a:rPr>
              <a:t>                "vaccine_year": 1963 },</a:t>
            </a:r>
            <a:endParaRPr lang="en-US" sz="1000" dirty="0"/>
          </a:p>
          <a:p>
            <a:pPr marL="0" indent="0">
              <a:buNone/>
            </a:pPr>
            <a:r>
              <a:rPr lang="en-US" sz="1000" dirty="0">
                <a:solidFill>
                  <a:srgbClr val="1E293B"/>
                </a:solidFill>
                <a:latin typeface="Consolas" pitchFamily="34" charset="0"/>
                <a:ea typeface="Consolas" pitchFamily="34" charset="-122"/>
                <a:cs typeface="Consolas" pitchFamily="34" charset="-120"/>
              </a:rPr>
              <a:t>  "location": { "state_code": "CA",</a:t>
            </a:r>
            <a:endParaRPr lang="en-US" sz="1000" dirty="0"/>
          </a:p>
          <a:p>
            <a:pPr marL="0" indent="0">
              <a:buNone/>
            </a:pPr>
            <a:r>
              <a:rPr lang="en-US" sz="1000" dirty="0">
                <a:solidFill>
                  <a:srgbClr val="1E293B"/>
                </a:solidFill>
                <a:latin typeface="Consolas" pitchFamily="34" charset="0"/>
                <a:ea typeface="Consolas" pitchFamily="34" charset="-122"/>
                <a:cs typeface="Consolas" pitchFamily="34" charset="-120"/>
              </a:rPr>
              <a:t>                "state_name": "CALIFORNIA",</a:t>
            </a:r>
            <a:endParaRPr lang="en-US" sz="1000" dirty="0"/>
          </a:p>
          <a:p>
            <a:pPr marL="0" indent="0">
              <a:buNone/>
            </a:pPr>
            <a:r>
              <a:rPr lang="en-US" sz="1000" dirty="0">
                <a:solidFill>
                  <a:srgbClr val="1E293B"/>
                </a:solidFill>
                <a:latin typeface="Consolas" pitchFamily="34" charset="0"/>
                <a:ea typeface="Consolas" pitchFamily="34" charset="-122"/>
                <a:cs typeface="Consolas" pitchFamily="34" charset="-120"/>
              </a:rPr>
              <a:t>                "region": "West" },</a:t>
            </a:r>
            <a:endParaRPr lang="en-US" sz="1000" dirty="0"/>
          </a:p>
          <a:p>
            <a:pPr marL="0" indent="0">
              <a:buNone/>
            </a:pPr>
            <a:r>
              <a:rPr lang="en-US" sz="1000" dirty="0">
                <a:solidFill>
                  <a:srgbClr val="1E293B"/>
                </a:solidFill>
                <a:latin typeface="Consolas" pitchFamily="34" charset="0"/>
                <a:ea typeface="Consolas" pitchFamily="34" charset="-122"/>
                <a:cs typeface="Consolas" pitchFamily="34" charset="-120"/>
              </a:rPr>
              <a:t>  "time_bucket": { "year": 1960, "month": 3,</a:t>
            </a:r>
            <a:endParaRPr lang="en-US" sz="1000" dirty="0"/>
          </a:p>
          <a:p>
            <a:pPr marL="0" indent="0">
              <a:buNone/>
            </a:pPr>
            <a:r>
              <a:rPr lang="en-US" sz="1000" dirty="0">
                <a:solidFill>
                  <a:srgbClr val="1E293B"/>
                </a:solidFill>
                <a:latin typeface="Consolas" pitchFamily="34" charset="0"/>
                <a:ea typeface="Consolas" pitchFamily="34" charset="-122"/>
                <a:cs typeface="Consolas" pitchFamily="34" charset="-120"/>
              </a:rPr>
              <a:t>                   "decade": 1960 },</a:t>
            </a:r>
            <a:endParaRPr lang="en-US" sz="1000" dirty="0"/>
          </a:p>
          <a:p>
            <a:pPr marL="0" indent="0">
              <a:buNone/>
            </a:pPr>
            <a:r>
              <a:rPr lang="en-US" sz="1000" dirty="0">
                <a:solidFill>
                  <a:srgbClr val="1E293B"/>
                </a:solidFill>
                <a:latin typeface="Consolas" pitchFamily="34" charset="0"/>
                <a:ea typeface="Consolas" pitchFamily="34" charset="-122"/>
                <a:cs typeface="Consolas" pitchFamily="34" charset="-120"/>
              </a:rPr>
              <a:t>  "weekly_observations": [</a:t>
            </a:r>
            <a:endParaRPr lang="en-US" sz="1000" dirty="0"/>
          </a:p>
          <a:p>
            <a:pPr marL="0" indent="0">
              <a:buNone/>
            </a:pPr>
            <a:r>
              <a:rPr lang="en-US" sz="1000" dirty="0">
                <a:solidFill>
                  <a:srgbClr val="1E293B"/>
                </a:solidFill>
                <a:latin typeface="Consolas" pitchFamily="34" charset="0"/>
                <a:ea typeface="Consolas" pitchFamily="34" charset="-122"/>
                <a:cs typeface="Consolas" pitchFamily="34" charset="-120"/>
              </a:rPr>
              <a:t>     { "epi_week": 196009, "cases": 1247, ... },</a:t>
            </a:r>
            <a:endParaRPr lang="en-US" sz="1000" dirty="0"/>
          </a:p>
          <a:p>
            <a:pPr marL="0" indent="0">
              <a:buNone/>
            </a:pPr>
            <a:r>
              <a:rPr lang="en-US" sz="1000" dirty="0">
                <a:solidFill>
                  <a:srgbClr val="1E293B"/>
                </a:solidFill>
                <a:latin typeface="Consolas" pitchFamily="34" charset="0"/>
                <a:ea typeface="Consolas" pitchFamily="34" charset="-122"/>
                <a:cs typeface="Consolas" pitchFamily="34" charset="-120"/>
              </a:rPr>
              <a:t>     { "epi_week": 196010, "cases": 1389, ... }</a:t>
            </a:r>
            <a:endParaRPr lang="en-US" sz="1000" dirty="0"/>
          </a:p>
          <a:p>
            <a:pPr marL="0" indent="0">
              <a:buNone/>
            </a:pPr>
            <a:r>
              <a:rPr lang="en-US" sz="1000" dirty="0">
                <a:solidFill>
                  <a:srgbClr val="1E293B"/>
                </a:solidFill>
                <a:latin typeface="Consolas" pitchFamily="34" charset="0"/>
                <a:ea typeface="Consolas" pitchFamily="34" charset="-122"/>
                <a:cs typeface="Consolas" pitchFamily="34" charset="-120"/>
              </a:rPr>
              <a:t>  ],</a:t>
            </a:r>
            <a:endParaRPr lang="en-US" sz="1000" dirty="0"/>
          </a:p>
          <a:p>
            <a:pPr marL="0" indent="0">
              <a:buNone/>
            </a:pPr>
            <a:r>
              <a:rPr lang="en-US" sz="1000" dirty="0">
                <a:solidFill>
                  <a:srgbClr val="1E293B"/>
                </a:solidFill>
                <a:latin typeface="Consolas" pitchFamily="34" charset="0"/>
                <a:ea typeface="Consolas" pitchFamily="34" charset="-122"/>
                <a:cs typeface="Consolas" pitchFamily="34" charset="-120"/>
              </a:rPr>
              <a:t>  "monthly_summary": {</a:t>
            </a:r>
            <a:endParaRPr lang="en-US" sz="1000" dirty="0"/>
          </a:p>
          <a:p>
            <a:pPr marL="0" indent="0">
              <a:buNone/>
            </a:pPr>
            <a:r>
              <a:rPr lang="en-US" sz="1000" dirty="0">
                <a:solidFill>
                  <a:srgbClr val="1E293B"/>
                </a:solidFill>
                <a:latin typeface="Consolas" pitchFamily="34" charset="0"/>
                <a:ea typeface="Consolas" pitchFamily="34" charset="-122"/>
                <a:cs typeface="Consolas" pitchFamily="34" charset="-120"/>
              </a:rPr>
              <a:t>     "total_cases": 5604,</a:t>
            </a:r>
            <a:endParaRPr lang="en-US" sz="1000" dirty="0"/>
          </a:p>
          <a:p>
            <a:pPr marL="0" indent="0">
              <a:buNone/>
            </a:pPr>
            <a:r>
              <a:rPr lang="en-US" sz="1000" dirty="0">
                <a:solidFill>
                  <a:srgbClr val="1E293B"/>
                </a:solidFill>
                <a:latin typeface="Consolas" pitchFamily="34" charset="0"/>
                <a:ea typeface="Consolas" pitchFamily="34" charset="-122"/>
                <a:cs typeface="Consolas" pitchFamily="34" charset="-120"/>
              </a:rPr>
              <a:t>     "avg_incidence_rate": 8.91,</a:t>
            </a:r>
            <a:endParaRPr lang="en-US" sz="1000" dirty="0"/>
          </a:p>
          <a:p>
            <a:pPr marL="0" indent="0">
              <a:buNone/>
            </a:pPr>
            <a:r>
              <a:rPr lang="en-US" sz="1000" dirty="0">
                <a:solidFill>
                  <a:srgbClr val="1E293B"/>
                </a:solidFill>
                <a:latin typeface="Consolas" pitchFamily="34" charset="0"/>
                <a:ea typeface="Consolas" pitchFamily="34" charset="-122"/>
                <a:cs typeface="Consolas" pitchFamily="34" charset="-120"/>
              </a:rPr>
              <a:t>     "peak_weekly_cases": 1512,</a:t>
            </a:r>
            <a:endParaRPr lang="en-US" sz="1000" dirty="0"/>
          </a:p>
          <a:p>
            <a:pPr marL="0" indent="0">
              <a:buNone/>
            </a:pPr>
            <a:r>
              <a:rPr lang="en-US" sz="1000" dirty="0">
                <a:solidFill>
                  <a:srgbClr val="1E293B"/>
                </a:solidFill>
                <a:latin typeface="Consolas" pitchFamily="34" charset="0"/>
                <a:ea typeface="Consolas" pitchFamily="34" charset="-122"/>
                <a:cs typeface="Consolas" pitchFamily="34" charset="-120"/>
              </a:rPr>
              <a:t>     "observation_count": 4</a:t>
            </a:r>
            <a:endParaRPr lang="en-US" sz="1000" dirty="0"/>
          </a:p>
          <a:p>
            <a:pPr marL="0" indent="0">
              <a:buNone/>
            </a:pPr>
            <a:r>
              <a:rPr lang="en-US" sz="1000" dirty="0">
                <a:solidFill>
                  <a:srgbClr val="1E293B"/>
                </a:solidFill>
                <a:latin typeface="Consolas" pitchFamily="34" charset="0"/>
                <a:ea typeface="Consolas" pitchFamily="34" charset="-122"/>
                <a:cs typeface="Consolas" pitchFamily="34" charset="-120"/>
              </a:rPr>
              <a:t>  }</a:t>
            </a:r>
            <a:endParaRPr lang="en-US" sz="1000" dirty="0"/>
          </a:p>
          <a:p>
            <a:pPr marL="0" indent="0">
              <a:buNone/>
            </a:pPr>
            <a:r>
              <a:rPr lang="en-US" sz="1000" dirty="0">
                <a:solidFill>
                  <a:srgbClr val="1E293B"/>
                </a:solidFill>
                <a:latin typeface="Consolas" pitchFamily="34" charset="0"/>
                <a:ea typeface="Consolas" pitchFamily="34" charset="-122"/>
                <a:cs typeface="Consolas" pitchFamily="34" charset="-120"/>
              </a:rPr>
              <a:t>}</a:t>
            </a:r>
            <a:endParaRPr lang="en-US" sz="1000" dirty="0"/>
          </a:p>
        </p:txBody>
      </p:sp>
      <p:sp>
        <p:nvSpPr>
          <p:cNvPr id="22" name="Text 20"/>
          <p:cNvSpPr/>
          <p:nvPr/>
        </p:nvSpPr>
        <p:spPr>
          <a:xfrm>
            <a:off x="548640" y="6035040"/>
            <a:ext cx="11064240" cy="27432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Aggregation pipeline operators used: $group · $unwind · $match · $setWindowFields · $stdDevPop · $merge</a:t>
            </a:r>
            <a:endParaRPr lang="en-US" sz="1000" dirty="0"/>
          </a:p>
        </p:txBody>
      </p:sp>
      <p:sp>
        <p:nvSpPr>
          <p:cNvPr id="23" name="Text 21"/>
          <p:cNvSpPr/>
          <p:nvPr/>
        </p:nvSpPr>
        <p:spPr>
          <a:xfrm>
            <a:off x="548640" y="6446520"/>
            <a:ext cx="73152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Anwar Debes · IKT453 · University of Agder</a:t>
            </a:r>
            <a:endParaRPr lang="en-US" sz="900" dirty="0"/>
          </a:p>
        </p:txBody>
      </p:sp>
      <p:sp>
        <p:nvSpPr>
          <p:cNvPr id="24" name="Text 22"/>
          <p:cNvSpPr/>
          <p:nvPr/>
        </p:nvSpPr>
        <p:spPr>
          <a:xfrm>
            <a:off x="10789920" y="6446520"/>
            <a:ext cx="86868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8 / 20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02920"/>
          </a:xfrm>
          <a:prstGeom prst="rect">
            <a:avLst/>
          </a:prstGeom>
          <a:noFill/>
          <a:ln/>
        </p:spPr>
        <p:txBody>
          <a:bodyPr wrap="square" lIns="0" tIns="0" rIns="0" bIns="0" rtlCol="0" anchor="ctr"/>
          <a:lstStyle/>
          <a:p>
            <a:pPr marL="0" indent="0" algn="l">
              <a:buNone/>
            </a:pPr>
            <a:r>
              <a:rPr lang="en-US" sz="2800" b="1" dirty="0">
                <a:solidFill>
                  <a:srgbClr val="1E293B"/>
                </a:solidFill>
                <a:latin typeface="Cambria" pitchFamily="34" charset="0"/>
                <a:ea typeface="Cambria" pitchFamily="34" charset="-122"/>
                <a:cs typeface="Cambria" pitchFamily="34" charset="-120"/>
              </a:rPr>
              <a:t>Backend 3 Neo4j Graph Model</a:t>
            </a:r>
            <a:endParaRPr lang="en-US" sz="2800" dirty="0"/>
          </a:p>
        </p:txBody>
      </p:sp>
      <p:sp>
        <p:nvSpPr>
          <p:cNvPr id="3" name="Text 1"/>
          <p:cNvSpPr/>
          <p:nvPr/>
        </p:nvSpPr>
        <p:spPr>
          <a:xfrm>
            <a:off x="548640" y="841248"/>
            <a:ext cx="11064240" cy="292608"/>
          </a:xfrm>
          <a:prstGeom prst="rect">
            <a:avLst/>
          </a:prstGeom>
          <a:noFill/>
          <a:ln/>
        </p:spPr>
        <p:txBody>
          <a:bodyPr wrap="square" lIns="0" tIns="0" rIns="0" bIns="0" rtlCol="0" anchor="ctr"/>
          <a:lstStyle/>
          <a:p>
            <a:pPr marL="0" indent="0" algn="l">
              <a:buNone/>
            </a:pPr>
            <a:r>
              <a:rPr lang="en-US" sz="1300" i="1" dirty="0">
                <a:solidFill>
                  <a:srgbClr val="64748B"/>
                </a:solidFill>
                <a:latin typeface="Calibri" pitchFamily="34" charset="0"/>
                <a:ea typeface="Calibri" pitchFamily="34" charset="-122"/>
                <a:cs typeface="Calibri" pitchFamily="34" charset="-120"/>
              </a:rPr>
              <a:t>Labeled property graph with BORDERS adjacency</a:t>
            </a:r>
            <a:endParaRPr lang="en-US" sz="1300" dirty="0"/>
          </a:p>
        </p:txBody>
      </p:sp>
      <p:sp>
        <p:nvSpPr>
          <p:cNvPr id="4" name="Shape 2"/>
          <p:cNvSpPr/>
          <p:nvPr/>
        </p:nvSpPr>
        <p:spPr>
          <a:xfrm>
            <a:off x="548640" y="1207008"/>
            <a:ext cx="11064240" cy="0"/>
          </a:xfrm>
          <a:prstGeom prst="line">
            <a:avLst/>
          </a:prstGeom>
          <a:noFill/>
          <a:ln w="9525">
            <a:solidFill>
              <a:srgbClr val="CBD5E1"/>
            </a:solidFill>
            <a:prstDash val="solid"/>
          </a:ln>
        </p:spPr>
        <p:txBody>
          <a:bodyPr/>
          <a:lstStyle/>
          <a:p>
            <a:endParaRPr lang="en-US"/>
          </a:p>
        </p:txBody>
      </p:sp>
      <p:sp>
        <p:nvSpPr>
          <p:cNvPr id="5" name="Shape 3"/>
          <p:cNvSpPr/>
          <p:nvPr/>
        </p:nvSpPr>
        <p:spPr>
          <a:xfrm>
            <a:off x="3337560" y="3410712"/>
            <a:ext cx="1005840" cy="502920"/>
          </a:xfrm>
          <a:prstGeom prst="ellipse">
            <a:avLst/>
          </a:prstGeom>
          <a:solidFill>
            <a:srgbClr val="0F4C81"/>
          </a:solidFill>
          <a:ln w="12700">
            <a:solidFill>
              <a:srgbClr val="0F4C81"/>
            </a:solidFill>
            <a:prstDash val="solid"/>
          </a:ln>
        </p:spPr>
        <p:txBody>
          <a:bodyPr/>
          <a:lstStyle/>
          <a:p>
            <a:endParaRPr lang="en-US"/>
          </a:p>
        </p:txBody>
      </p:sp>
      <p:sp>
        <p:nvSpPr>
          <p:cNvPr id="6" name="Text 4"/>
          <p:cNvSpPr/>
          <p:nvPr/>
        </p:nvSpPr>
        <p:spPr>
          <a:xfrm>
            <a:off x="3337560" y="3410712"/>
            <a:ext cx="1005840"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Observation</a:t>
            </a:r>
            <a:endParaRPr lang="en-US" sz="1000" dirty="0"/>
          </a:p>
        </p:txBody>
      </p:sp>
      <p:sp>
        <p:nvSpPr>
          <p:cNvPr id="7" name="Shape 5"/>
          <p:cNvSpPr/>
          <p:nvPr/>
        </p:nvSpPr>
        <p:spPr>
          <a:xfrm>
            <a:off x="3337560" y="1947672"/>
            <a:ext cx="1005840" cy="502920"/>
          </a:xfrm>
          <a:prstGeom prst="ellipse">
            <a:avLst/>
          </a:prstGeom>
          <a:solidFill>
            <a:srgbClr val="F1F5F9"/>
          </a:solidFill>
          <a:ln w="12700">
            <a:solidFill>
              <a:srgbClr val="0F4C81"/>
            </a:solidFill>
            <a:prstDash val="solid"/>
          </a:ln>
        </p:spPr>
        <p:txBody>
          <a:bodyPr/>
          <a:lstStyle/>
          <a:p>
            <a:endParaRPr lang="en-US"/>
          </a:p>
        </p:txBody>
      </p:sp>
      <p:sp>
        <p:nvSpPr>
          <p:cNvPr id="8" name="Text 6"/>
          <p:cNvSpPr/>
          <p:nvPr/>
        </p:nvSpPr>
        <p:spPr>
          <a:xfrm>
            <a:off x="3337560" y="1947672"/>
            <a:ext cx="1005840" cy="502920"/>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Disease</a:t>
            </a:r>
            <a:endParaRPr lang="en-US" sz="1000" dirty="0"/>
          </a:p>
        </p:txBody>
      </p:sp>
      <p:sp>
        <p:nvSpPr>
          <p:cNvPr id="9" name="Shape 7"/>
          <p:cNvSpPr/>
          <p:nvPr/>
        </p:nvSpPr>
        <p:spPr>
          <a:xfrm flipV="1">
            <a:off x="3840480" y="2441448"/>
            <a:ext cx="0" cy="969264"/>
          </a:xfrm>
          <a:prstGeom prst="line">
            <a:avLst/>
          </a:prstGeom>
          <a:noFill/>
          <a:ln w="9525">
            <a:solidFill>
              <a:srgbClr val="64748B"/>
            </a:solidFill>
            <a:prstDash val="solid"/>
          </a:ln>
        </p:spPr>
        <p:txBody>
          <a:bodyPr/>
          <a:lstStyle/>
          <a:p>
            <a:endParaRPr lang="en-US"/>
          </a:p>
        </p:txBody>
      </p:sp>
      <p:sp>
        <p:nvSpPr>
          <p:cNvPr id="10" name="Text 8"/>
          <p:cNvSpPr/>
          <p:nvPr/>
        </p:nvSpPr>
        <p:spPr>
          <a:xfrm>
            <a:off x="3337560" y="2807208"/>
            <a:ext cx="1005840" cy="201168"/>
          </a:xfrm>
          <a:prstGeom prst="rect">
            <a:avLst/>
          </a:prstGeom>
          <a:solidFill>
            <a:srgbClr val="FFFFFF"/>
          </a:solidFill>
          <a:ln/>
        </p:spPr>
        <p:txBody>
          <a:bodyPr wrap="square" lIns="0" tIns="0" rIns="0" bIns="0" rtlCol="0" anchor="ctr"/>
          <a:lstStyle/>
          <a:p>
            <a:pPr marL="0" indent="0" algn="ctr">
              <a:buNone/>
            </a:pPr>
            <a:r>
              <a:rPr lang="en-US" sz="800" i="1" dirty="0">
                <a:solidFill>
                  <a:srgbClr val="64748B"/>
                </a:solidFill>
                <a:latin typeface="Calibri" pitchFamily="34" charset="0"/>
                <a:ea typeface="Calibri" pitchFamily="34" charset="-122"/>
                <a:cs typeface="Calibri" pitchFamily="34" charset="-120"/>
              </a:rPr>
              <a:t>AFFECTS</a:t>
            </a:r>
            <a:endParaRPr lang="en-US" sz="800" dirty="0"/>
          </a:p>
        </p:txBody>
      </p:sp>
      <p:sp>
        <p:nvSpPr>
          <p:cNvPr id="11" name="Shape 9"/>
          <p:cNvSpPr/>
          <p:nvPr/>
        </p:nvSpPr>
        <p:spPr>
          <a:xfrm>
            <a:off x="1325880" y="3410712"/>
            <a:ext cx="1005840" cy="502920"/>
          </a:xfrm>
          <a:prstGeom prst="ellipse">
            <a:avLst/>
          </a:prstGeom>
          <a:solidFill>
            <a:srgbClr val="F1F5F9"/>
          </a:solidFill>
          <a:ln w="12700">
            <a:solidFill>
              <a:srgbClr val="0F4C81"/>
            </a:solidFill>
            <a:prstDash val="solid"/>
          </a:ln>
        </p:spPr>
        <p:txBody>
          <a:bodyPr/>
          <a:lstStyle/>
          <a:p>
            <a:endParaRPr lang="en-US"/>
          </a:p>
        </p:txBody>
      </p:sp>
      <p:sp>
        <p:nvSpPr>
          <p:cNvPr id="12" name="Text 10"/>
          <p:cNvSpPr/>
          <p:nvPr/>
        </p:nvSpPr>
        <p:spPr>
          <a:xfrm>
            <a:off x="1325880" y="3410712"/>
            <a:ext cx="1005840" cy="502920"/>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State</a:t>
            </a:r>
            <a:endParaRPr lang="en-US" sz="1000" dirty="0"/>
          </a:p>
        </p:txBody>
      </p:sp>
      <p:sp>
        <p:nvSpPr>
          <p:cNvPr id="13" name="Shape 11"/>
          <p:cNvSpPr/>
          <p:nvPr/>
        </p:nvSpPr>
        <p:spPr>
          <a:xfrm flipH="1">
            <a:off x="2331720" y="3657600"/>
            <a:ext cx="1005840" cy="0"/>
          </a:xfrm>
          <a:prstGeom prst="line">
            <a:avLst/>
          </a:prstGeom>
          <a:noFill/>
          <a:ln w="9525">
            <a:solidFill>
              <a:srgbClr val="64748B"/>
            </a:solidFill>
            <a:prstDash val="solid"/>
          </a:ln>
        </p:spPr>
        <p:txBody>
          <a:bodyPr/>
          <a:lstStyle/>
          <a:p>
            <a:endParaRPr lang="en-US"/>
          </a:p>
        </p:txBody>
      </p:sp>
      <p:sp>
        <p:nvSpPr>
          <p:cNvPr id="14" name="Text 12"/>
          <p:cNvSpPr/>
          <p:nvPr/>
        </p:nvSpPr>
        <p:spPr>
          <a:xfrm>
            <a:off x="2331720" y="3538728"/>
            <a:ext cx="1005840" cy="201168"/>
          </a:xfrm>
          <a:prstGeom prst="rect">
            <a:avLst/>
          </a:prstGeom>
          <a:solidFill>
            <a:srgbClr val="FFFFFF"/>
          </a:solidFill>
          <a:ln/>
        </p:spPr>
        <p:txBody>
          <a:bodyPr wrap="square" lIns="0" tIns="0" rIns="0" bIns="0" rtlCol="0" anchor="ctr"/>
          <a:lstStyle/>
          <a:p>
            <a:pPr marL="0" indent="0" algn="ctr">
              <a:buNone/>
            </a:pPr>
            <a:r>
              <a:rPr lang="en-US" sz="800" i="1" dirty="0">
                <a:solidFill>
                  <a:srgbClr val="64748B"/>
                </a:solidFill>
                <a:latin typeface="Calibri" pitchFamily="34" charset="0"/>
                <a:ea typeface="Calibri" pitchFamily="34" charset="-122"/>
                <a:cs typeface="Calibri" pitchFamily="34" charset="-120"/>
              </a:rPr>
              <a:t>OBSERVED_IN</a:t>
            </a:r>
            <a:endParaRPr lang="en-US" sz="800" dirty="0"/>
          </a:p>
        </p:txBody>
      </p:sp>
      <p:sp>
        <p:nvSpPr>
          <p:cNvPr id="15" name="Shape 13"/>
          <p:cNvSpPr/>
          <p:nvPr/>
        </p:nvSpPr>
        <p:spPr>
          <a:xfrm>
            <a:off x="5349240" y="3410712"/>
            <a:ext cx="1005840" cy="502920"/>
          </a:xfrm>
          <a:prstGeom prst="ellipse">
            <a:avLst/>
          </a:prstGeom>
          <a:solidFill>
            <a:srgbClr val="F1F5F9"/>
          </a:solidFill>
          <a:ln w="12700">
            <a:solidFill>
              <a:srgbClr val="0F4C81"/>
            </a:solidFill>
            <a:prstDash val="solid"/>
          </a:ln>
        </p:spPr>
        <p:txBody>
          <a:bodyPr/>
          <a:lstStyle/>
          <a:p>
            <a:endParaRPr lang="en-US"/>
          </a:p>
        </p:txBody>
      </p:sp>
      <p:sp>
        <p:nvSpPr>
          <p:cNvPr id="16" name="Text 14"/>
          <p:cNvSpPr/>
          <p:nvPr/>
        </p:nvSpPr>
        <p:spPr>
          <a:xfrm>
            <a:off x="5349240" y="3410712"/>
            <a:ext cx="1005840" cy="502920"/>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Week</a:t>
            </a:r>
            <a:endParaRPr lang="en-US" sz="1000" dirty="0"/>
          </a:p>
        </p:txBody>
      </p:sp>
      <p:sp>
        <p:nvSpPr>
          <p:cNvPr id="17" name="Shape 15"/>
          <p:cNvSpPr/>
          <p:nvPr/>
        </p:nvSpPr>
        <p:spPr>
          <a:xfrm>
            <a:off x="4343400" y="3657600"/>
            <a:ext cx="1005840" cy="0"/>
          </a:xfrm>
          <a:prstGeom prst="line">
            <a:avLst/>
          </a:prstGeom>
          <a:noFill/>
          <a:ln w="9525">
            <a:solidFill>
              <a:srgbClr val="64748B"/>
            </a:solidFill>
            <a:prstDash val="solid"/>
          </a:ln>
        </p:spPr>
        <p:txBody>
          <a:bodyPr/>
          <a:lstStyle/>
          <a:p>
            <a:endParaRPr lang="en-US"/>
          </a:p>
        </p:txBody>
      </p:sp>
      <p:sp>
        <p:nvSpPr>
          <p:cNvPr id="18" name="Text 16"/>
          <p:cNvSpPr/>
          <p:nvPr/>
        </p:nvSpPr>
        <p:spPr>
          <a:xfrm>
            <a:off x="4343400" y="3538728"/>
            <a:ext cx="1005840" cy="201168"/>
          </a:xfrm>
          <a:prstGeom prst="rect">
            <a:avLst/>
          </a:prstGeom>
          <a:solidFill>
            <a:srgbClr val="FFFFFF"/>
          </a:solidFill>
          <a:ln/>
        </p:spPr>
        <p:txBody>
          <a:bodyPr wrap="square" lIns="0" tIns="0" rIns="0" bIns="0" rtlCol="0" anchor="ctr"/>
          <a:lstStyle/>
          <a:p>
            <a:pPr marL="0" indent="0" algn="ctr">
              <a:buNone/>
            </a:pPr>
            <a:r>
              <a:rPr lang="en-US" sz="800" i="1" dirty="0">
                <a:solidFill>
                  <a:srgbClr val="64748B"/>
                </a:solidFill>
                <a:latin typeface="Calibri" pitchFamily="34" charset="0"/>
                <a:ea typeface="Calibri" pitchFamily="34" charset="-122"/>
                <a:cs typeface="Calibri" pitchFamily="34" charset="-120"/>
              </a:rPr>
              <a:t>OBSERVED_AT</a:t>
            </a:r>
            <a:endParaRPr lang="en-US" sz="800" dirty="0"/>
          </a:p>
        </p:txBody>
      </p:sp>
      <p:sp>
        <p:nvSpPr>
          <p:cNvPr id="19" name="Shape 17"/>
          <p:cNvSpPr/>
          <p:nvPr/>
        </p:nvSpPr>
        <p:spPr>
          <a:xfrm>
            <a:off x="1325880" y="4873752"/>
            <a:ext cx="1005840" cy="502920"/>
          </a:xfrm>
          <a:prstGeom prst="ellipse">
            <a:avLst/>
          </a:prstGeom>
          <a:solidFill>
            <a:srgbClr val="F1F5F9"/>
          </a:solidFill>
          <a:ln w="12700">
            <a:solidFill>
              <a:srgbClr val="0F4C81"/>
            </a:solidFill>
            <a:prstDash val="solid"/>
          </a:ln>
        </p:spPr>
        <p:txBody>
          <a:bodyPr/>
          <a:lstStyle/>
          <a:p>
            <a:endParaRPr lang="en-US"/>
          </a:p>
        </p:txBody>
      </p:sp>
      <p:sp>
        <p:nvSpPr>
          <p:cNvPr id="20" name="Text 18"/>
          <p:cNvSpPr/>
          <p:nvPr/>
        </p:nvSpPr>
        <p:spPr>
          <a:xfrm>
            <a:off x="1325880" y="4873752"/>
            <a:ext cx="1005840" cy="502920"/>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Region</a:t>
            </a:r>
            <a:endParaRPr lang="en-US" sz="1000" dirty="0"/>
          </a:p>
        </p:txBody>
      </p:sp>
      <p:sp>
        <p:nvSpPr>
          <p:cNvPr id="21" name="Shape 19"/>
          <p:cNvSpPr/>
          <p:nvPr/>
        </p:nvSpPr>
        <p:spPr>
          <a:xfrm>
            <a:off x="1828800" y="3904488"/>
            <a:ext cx="0" cy="969264"/>
          </a:xfrm>
          <a:prstGeom prst="line">
            <a:avLst/>
          </a:prstGeom>
          <a:noFill/>
          <a:ln w="9525">
            <a:solidFill>
              <a:srgbClr val="64748B"/>
            </a:solidFill>
            <a:prstDash val="solid"/>
          </a:ln>
        </p:spPr>
        <p:txBody>
          <a:bodyPr/>
          <a:lstStyle/>
          <a:p>
            <a:endParaRPr lang="en-US"/>
          </a:p>
        </p:txBody>
      </p:sp>
      <p:sp>
        <p:nvSpPr>
          <p:cNvPr id="22" name="Text 20"/>
          <p:cNvSpPr/>
          <p:nvPr/>
        </p:nvSpPr>
        <p:spPr>
          <a:xfrm>
            <a:off x="1325880" y="4270248"/>
            <a:ext cx="1005840" cy="201168"/>
          </a:xfrm>
          <a:prstGeom prst="rect">
            <a:avLst/>
          </a:prstGeom>
          <a:solidFill>
            <a:srgbClr val="FFFFFF"/>
          </a:solidFill>
          <a:ln/>
        </p:spPr>
        <p:txBody>
          <a:bodyPr wrap="square" lIns="0" tIns="0" rIns="0" bIns="0" rtlCol="0" anchor="ctr"/>
          <a:lstStyle/>
          <a:p>
            <a:pPr marL="0" indent="0" algn="ctr">
              <a:buNone/>
            </a:pPr>
            <a:r>
              <a:rPr lang="en-US" sz="800" i="1" dirty="0">
                <a:solidFill>
                  <a:srgbClr val="64748B"/>
                </a:solidFill>
                <a:latin typeface="Calibri" pitchFamily="34" charset="0"/>
                <a:ea typeface="Calibri" pitchFamily="34" charset="-122"/>
                <a:cs typeface="Calibri" pitchFamily="34" charset="-120"/>
              </a:rPr>
              <a:t>IN_REGION</a:t>
            </a:r>
            <a:endParaRPr lang="en-US" sz="800" dirty="0"/>
          </a:p>
        </p:txBody>
      </p:sp>
      <p:sp>
        <p:nvSpPr>
          <p:cNvPr id="23" name="Shape 21"/>
          <p:cNvSpPr/>
          <p:nvPr/>
        </p:nvSpPr>
        <p:spPr>
          <a:xfrm>
            <a:off x="5349240" y="4873752"/>
            <a:ext cx="1005840" cy="502920"/>
          </a:xfrm>
          <a:prstGeom prst="ellipse">
            <a:avLst/>
          </a:prstGeom>
          <a:solidFill>
            <a:srgbClr val="F1F5F9"/>
          </a:solidFill>
          <a:ln w="12700">
            <a:solidFill>
              <a:srgbClr val="0F4C81"/>
            </a:solidFill>
            <a:prstDash val="solid"/>
          </a:ln>
        </p:spPr>
        <p:txBody>
          <a:bodyPr/>
          <a:lstStyle/>
          <a:p>
            <a:endParaRPr lang="en-US"/>
          </a:p>
        </p:txBody>
      </p:sp>
      <p:sp>
        <p:nvSpPr>
          <p:cNvPr id="24" name="Text 22"/>
          <p:cNvSpPr/>
          <p:nvPr/>
        </p:nvSpPr>
        <p:spPr>
          <a:xfrm>
            <a:off x="5349240" y="4873752"/>
            <a:ext cx="1005840" cy="502920"/>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Month</a:t>
            </a:r>
            <a:endParaRPr lang="en-US" sz="1000" dirty="0"/>
          </a:p>
        </p:txBody>
      </p:sp>
      <p:sp>
        <p:nvSpPr>
          <p:cNvPr id="25" name="Shape 23"/>
          <p:cNvSpPr/>
          <p:nvPr/>
        </p:nvSpPr>
        <p:spPr>
          <a:xfrm>
            <a:off x="5852160" y="3904488"/>
            <a:ext cx="0" cy="969264"/>
          </a:xfrm>
          <a:prstGeom prst="line">
            <a:avLst/>
          </a:prstGeom>
          <a:noFill/>
          <a:ln w="9525">
            <a:solidFill>
              <a:srgbClr val="64748B"/>
            </a:solidFill>
            <a:prstDash val="solid"/>
          </a:ln>
        </p:spPr>
        <p:txBody>
          <a:bodyPr/>
          <a:lstStyle/>
          <a:p>
            <a:endParaRPr lang="en-US"/>
          </a:p>
        </p:txBody>
      </p:sp>
      <p:sp>
        <p:nvSpPr>
          <p:cNvPr id="26" name="Text 24"/>
          <p:cNvSpPr/>
          <p:nvPr/>
        </p:nvSpPr>
        <p:spPr>
          <a:xfrm>
            <a:off x="5349240" y="4270248"/>
            <a:ext cx="1005840" cy="201168"/>
          </a:xfrm>
          <a:prstGeom prst="rect">
            <a:avLst/>
          </a:prstGeom>
          <a:solidFill>
            <a:srgbClr val="FFFFFF"/>
          </a:solidFill>
          <a:ln/>
        </p:spPr>
        <p:txBody>
          <a:bodyPr wrap="square" lIns="0" tIns="0" rIns="0" bIns="0" rtlCol="0" anchor="ctr"/>
          <a:lstStyle/>
          <a:p>
            <a:pPr marL="0" indent="0" algn="ctr">
              <a:buNone/>
            </a:pPr>
            <a:r>
              <a:rPr lang="en-US" sz="800" i="1" dirty="0">
                <a:solidFill>
                  <a:srgbClr val="64748B"/>
                </a:solidFill>
                <a:latin typeface="Calibri" pitchFamily="34" charset="0"/>
                <a:ea typeface="Calibri" pitchFamily="34" charset="-122"/>
                <a:cs typeface="Calibri" pitchFamily="34" charset="-120"/>
              </a:rPr>
              <a:t>IN_MONTH</a:t>
            </a:r>
            <a:endParaRPr lang="en-US" sz="800" dirty="0"/>
          </a:p>
        </p:txBody>
      </p:sp>
      <p:sp>
        <p:nvSpPr>
          <p:cNvPr id="27" name="Shape 25"/>
          <p:cNvSpPr/>
          <p:nvPr/>
        </p:nvSpPr>
        <p:spPr>
          <a:xfrm>
            <a:off x="1325880" y="1947672"/>
            <a:ext cx="1005840" cy="502920"/>
          </a:xfrm>
          <a:prstGeom prst="ellipse">
            <a:avLst/>
          </a:prstGeom>
          <a:solidFill>
            <a:srgbClr val="D6E4F0"/>
          </a:solidFill>
          <a:ln w="12700">
            <a:solidFill>
              <a:srgbClr val="0F4C81"/>
            </a:solidFill>
            <a:prstDash val="solid"/>
          </a:ln>
        </p:spPr>
        <p:txBody>
          <a:bodyPr/>
          <a:lstStyle/>
          <a:p>
            <a:endParaRPr lang="en-US"/>
          </a:p>
        </p:txBody>
      </p:sp>
      <p:sp>
        <p:nvSpPr>
          <p:cNvPr id="28" name="Text 26"/>
          <p:cNvSpPr/>
          <p:nvPr/>
        </p:nvSpPr>
        <p:spPr>
          <a:xfrm>
            <a:off x="1325880" y="1947672"/>
            <a:ext cx="1005840" cy="502920"/>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State'</a:t>
            </a:r>
            <a:endParaRPr lang="en-US" sz="1000" dirty="0"/>
          </a:p>
        </p:txBody>
      </p:sp>
      <p:sp>
        <p:nvSpPr>
          <p:cNvPr id="29" name="Shape 27"/>
          <p:cNvSpPr/>
          <p:nvPr/>
        </p:nvSpPr>
        <p:spPr>
          <a:xfrm>
            <a:off x="1828800" y="2441448"/>
            <a:ext cx="0" cy="969264"/>
          </a:xfrm>
          <a:prstGeom prst="line">
            <a:avLst/>
          </a:prstGeom>
          <a:noFill/>
          <a:ln w="19050">
            <a:solidFill>
              <a:srgbClr val="0F4C81"/>
            </a:solidFill>
            <a:prstDash val="solid"/>
          </a:ln>
        </p:spPr>
        <p:txBody>
          <a:bodyPr/>
          <a:lstStyle/>
          <a:p>
            <a:endParaRPr lang="en-US"/>
          </a:p>
        </p:txBody>
      </p:sp>
      <p:sp>
        <p:nvSpPr>
          <p:cNvPr id="30" name="Text 28"/>
          <p:cNvSpPr/>
          <p:nvPr/>
        </p:nvSpPr>
        <p:spPr>
          <a:xfrm>
            <a:off x="1234440" y="2834640"/>
            <a:ext cx="1188720" cy="219456"/>
          </a:xfrm>
          <a:prstGeom prst="rect">
            <a:avLst/>
          </a:prstGeom>
          <a:solidFill>
            <a:srgbClr val="FFFFFF"/>
          </a:solidFill>
          <a:ln/>
        </p:spPr>
        <p:txBody>
          <a:bodyPr wrap="square" lIns="0" tIns="0" rIns="0" bIns="0" rtlCol="0" anchor="ctr"/>
          <a:lstStyle/>
          <a:p>
            <a:pPr marL="0" indent="0" algn="ctr">
              <a:buNone/>
            </a:pPr>
            <a:r>
              <a:rPr lang="en-US" sz="900" b="1" i="1" dirty="0">
                <a:solidFill>
                  <a:srgbClr val="0F4C81"/>
                </a:solidFill>
                <a:latin typeface="Calibri" pitchFamily="34" charset="0"/>
                <a:ea typeface="Calibri" pitchFamily="34" charset="-122"/>
                <a:cs typeface="Calibri" pitchFamily="34" charset="-120"/>
              </a:rPr>
              <a:t>BORDERS</a:t>
            </a:r>
            <a:endParaRPr lang="en-US" sz="900" dirty="0"/>
          </a:p>
        </p:txBody>
      </p:sp>
      <p:sp>
        <p:nvSpPr>
          <p:cNvPr id="31" name="Text 29"/>
          <p:cNvSpPr/>
          <p:nvPr/>
        </p:nvSpPr>
        <p:spPr>
          <a:xfrm>
            <a:off x="7315200" y="1463040"/>
            <a:ext cx="4297680" cy="320040"/>
          </a:xfrm>
          <a:prstGeom prst="rect">
            <a:avLst/>
          </a:prstGeom>
          <a:noFill/>
          <a:ln/>
        </p:spPr>
        <p:txBody>
          <a:bodyPr wrap="square" lIns="0" tIns="0" rIns="0" bIns="0" rtlCol="0" anchor="ctr"/>
          <a:lstStyle/>
          <a:p>
            <a:pPr marL="0" indent="0">
              <a:buNone/>
            </a:pPr>
            <a:r>
              <a:rPr lang="en-US" sz="1200" b="1" kern="0" spc="200" dirty="0">
                <a:solidFill>
                  <a:srgbClr val="0F4C81"/>
                </a:solidFill>
                <a:latin typeface="Calibri" pitchFamily="34" charset="0"/>
                <a:ea typeface="Calibri" pitchFamily="34" charset="-122"/>
                <a:cs typeface="Calibri" pitchFamily="34" charset="-120"/>
              </a:rPr>
              <a:t>Graph composition</a:t>
            </a:r>
            <a:endParaRPr lang="en-US" sz="1200" dirty="0"/>
          </a:p>
        </p:txBody>
      </p:sp>
      <p:sp>
        <p:nvSpPr>
          <p:cNvPr id="32" name="Text 30"/>
          <p:cNvSpPr/>
          <p:nvPr/>
        </p:nvSpPr>
        <p:spPr>
          <a:xfrm>
            <a:off x="7315200" y="1828800"/>
            <a:ext cx="4297680" cy="2011680"/>
          </a:xfrm>
          <a:prstGeom prst="rect">
            <a:avLst/>
          </a:prstGeom>
          <a:noFill/>
          <a:ln/>
        </p:spPr>
        <p:txBody>
          <a:bodyPr wrap="square" lIns="0" tIns="0" rIns="0" bIns="0" rtlCol="0" anchor="ctr"/>
          <a:lstStyle/>
          <a:p>
            <a:pPr marL="0" indent="0">
              <a:spcAft>
                <a:spcPts val="400"/>
              </a:spcAft>
              <a:buNone/>
            </a:pPr>
            <a:r>
              <a:rPr lang="en-US" sz="1200" b="1" dirty="0">
                <a:solidFill>
                  <a:srgbClr val="334155"/>
                </a:solidFill>
                <a:latin typeface="Calibri" pitchFamily="34" charset="0"/>
                <a:ea typeface="Calibri" pitchFamily="34" charset="-122"/>
                <a:cs typeface="Calibri" pitchFamily="34" charset="-120"/>
              </a:rPr>
              <a:t>473,189 </a:t>
            </a:r>
            <a:r>
              <a:rPr lang="en-US" sz="1200" dirty="0">
                <a:solidFill>
                  <a:srgbClr val="334155"/>
                </a:solidFill>
                <a:latin typeface="Calibri" pitchFamily="34" charset="0"/>
                <a:ea typeface="Calibri" pitchFamily="34" charset="-122"/>
                <a:cs typeface="Calibri" pitchFamily="34" charset="-120"/>
              </a:rPr>
              <a:t>Observation nodes</a:t>
            </a:r>
            <a:endParaRPr lang="en-US" sz="1200" dirty="0"/>
          </a:p>
          <a:p>
            <a:pPr marL="0" indent="0">
              <a:spcAft>
                <a:spcPts val="400"/>
              </a:spcAft>
              <a:buNone/>
            </a:pPr>
            <a:r>
              <a:rPr lang="en-US" sz="1200" b="1" dirty="0">
                <a:solidFill>
                  <a:srgbClr val="334155"/>
                </a:solidFill>
                <a:latin typeface="Calibri" pitchFamily="34" charset="0"/>
                <a:ea typeface="Calibri" pitchFamily="34" charset="-122"/>
                <a:cs typeface="Calibri" pitchFamily="34" charset="-120"/>
              </a:rPr>
              <a:t>139,683 </a:t>
            </a:r>
            <a:r>
              <a:rPr lang="en-US" sz="1200" dirty="0">
                <a:solidFill>
                  <a:srgbClr val="334155"/>
                </a:solidFill>
                <a:latin typeface="Calibri" pitchFamily="34" charset="0"/>
                <a:ea typeface="Calibri" pitchFamily="34" charset="-122"/>
                <a:cs typeface="Calibri" pitchFamily="34" charset="-120"/>
              </a:rPr>
              <a:t>MonthlyAggregate nodes</a:t>
            </a:r>
            <a:endParaRPr lang="en-US" sz="1200" dirty="0"/>
          </a:p>
          <a:p>
            <a:pPr marL="0" indent="0">
              <a:spcAft>
                <a:spcPts val="400"/>
              </a:spcAft>
              <a:buNone/>
            </a:pPr>
            <a:r>
              <a:rPr lang="en-US" sz="1200" b="1" dirty="0">
                <a:solidFill>
                  <a:srgbClr val="334155"/>
                </a:solidFill>
                <a:latin typeface="Calibri" pitchFamily="34" charset="0"/>
                <a:ea typeface="Calibri" pitchFamily="34" charset="-122"/>
                <a:cs typeface="Calibri" pitchFamily="34" charset="-120"/>
              </a:rPr>
              <a:t>6,774 </a:t>
            </a:r>
            <a:r>
              <a:rPr lang="en-US" sz="1200" dirty="0">
                <a:solidFill>
                  <a:srgbClr val="334155"/>
                </a:solidFill>
                <a:latin typeface="Calibri" pitchFamily="34" charset="0"/>
                <a:ea typeface="Calibri" pitchFamily="34" charset="-122"/>
                <a:cs typeface="Calibri" pitchFamily="34" charset="-120"/>
              </a:rPr>
              <a:t>dimension + hierarchy nodes</a:t>
            </a:r>
            <a:endParaRPr lang="en-US" sz="1200" dirty="0"/>
          </a:p>
          <a:p>
            <a:pPr marL="0" indent="0">
              <a:spcAft>
                <a:spcPts val="400"/>
              </a:spcAft>
              <a:buNone/>
            </a:pPr>
            <a:r>
              <a:rPr lang="en-US" sz="1200" b="1" dirty="0">
                <a:solidFill>
                  <a:srgbClr val="334155"/>
                </a:solidFill>
                <a:latin typeface="Calibri" pitchFamily="34" charset="0"/>
                <a:ea typeface="Calibri" pitchFamily="34" charset="-122"/>
                <a:cs typeface="Calibri" pitchFamily="34" charset="-120"/>
              </a:rPr>
              <a:t>214 </a:t>
            </a:r>
            <a:r>
              <a:rPr lang="en-US" sz="1200" dirty="0">
                <a:solidFill>
                  <a:srgbClr val="334155"/>
                </a:solidFill>
                <a:latin typeface="Calibri" pitchFamily="34" charset="0"/>
                <a:ea typeface="Calibri" pitchFamily="34" charset="-122"/>
                <a:cs typeface="Calibri" pitchFamily="34" charset="-120"/>
              </a:rPr>
              <a:t>BORDERS edges (48 contiguous states)</a:t>
            </a:r>
            <a:endParaRPr lang="en-US" sz="1200" dirty="0"/>
          </a:p>
          <a:p>
            <a:pPr marL="0" indent="0">
              <a:spcAft>
                <a:spcPts val="400"/>
              </a:spcAft>
              <a:buNone/>
            </a:pPr>
            <a:r>
              <a:rPr lang="en-US" sz="1200" b="1" dirty="0">
                <a:solidFill>
                  <a:srgbClr val="334155"/>
                </a:solidFill>
                <a:latin typeface="Calibri" pitchFamily="34" charset="0"/>
                <a:ea typeface="Calibri" pitchFamily="34" charset="-122"/>
                <a:cs typeface="Calibri" pitchFamily="34" charset="-120"/>
              </a:rPr>
              <a:t>1,845,584 </a:t>
            </a:r>
            <a:r>
              <a:rPr lang="en-US" sz="1200" dirty="0">
                <a:solidFill>
                  <a:srgbClr val="334155"/>
                </a:solidFill>
                <a:latin typeface="Calibri" pitchFamily="34" charset="0"/>
                <a:ea typeface="Calibri" pitchFamily="34" charset="-122"/>
                <a:cs typeface="Calibri" pitchFamily="34" charset="-120"/>
              </a:rPr>
              <a:t>relationships total</a:t>
            </a:r>
            <a:endParaRPr lang="en-US" sz="1200" dirty="0"/>
          </a:p>
        </p:txBody>
      </p:sp>
      <p:sp>
        <p:nvSpPr>
          <p:cNvPr id="33" name="Text 31"/>
          <p:cNvSpPr/>
          <p:nvPr/>
        </p:nvSpPr>
        <p:spPr>
          <a:xfrm>
            <a:off x="7315200" y="3977640"/>
            <a:ext cx="4297680" cy="320040"/>
          </a:xfrm>
          <a:prstGeom prst="rect">
            <a:avLst/>
          </a:prstGeom>
          <a:noFill/>
          <a:ln/>
        </p:spPr>
        <p:txBody>
          <a:bodyPr wrap="square" lIns="0" tIns="0" rIns="0" bIns="0" rtlCol="0" anchor="ctr"/>
          <a:lstStyle/>
          <a:p>
            <a:pPr marL="0" indent="0">
              <a:buNone/>
            </a:pPr>
            <a:r>
              <a:rPr lang="en-US" sz="1200" b="1" kern="0" spc="200" dirty="0">
                <a:solidFill>
                  <a:srgbClr val="0F4C81"/>
                </a:solidFill>
                <a:latin typeface="Calibri" pitchFamily="34" charset="0"/>
                <a:ea typeface="Calibri" pitchFamily="34" charset="-122"/>
                <a:cs typeface="Calibri" pitchFamily="34" charset="-120"/>
              </a:rPr>
              <a:t>Why the graph earns its keep</a:t>
            </a:r>
            <a:endParaRPr lang="en-US" sz="1200" dirty="0"/>
          </a:p>
        </p:txBody>
      </p:sp>
      <p:sp>
        <p:nvSpPr>
          <p:cNvPr id="34" name="Text 32"/>
          <p:cNvSpPr/>
          <p:nvPr/>
        </p:nvSpPr>
        <p:spPr>
          <a:xfrm>
            <a:off x="7315200" y="4343400"/>
            <a:ext cx="4297680" cy="1828800"/>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334155"/>
                </a:solidFill>
                <a:latin typeface="Calibri" pitchFamily="34" charset="0"/>
                <a:ea typeface="Calibri" pitchFamily="34" charset="-122"/>
                <a:cs typeface="Calibri" pitchFamily="34" charset="-120"/>
              </a:rPr>
              <a:t>BORDERS relationships enable spatial spread analysis with no natural SQL equivalent.</a:t>
            </a:r>
            <a:endParaRPr lang="en-US" sz="1100" dirty="0"/>
          </a:p>
          <a:p>
            <a:pPr marL="342900" indent="-342900">
              <a:spcAft>
                <a:spcPts val="400"/>
              </a:spcAft>
              <a:buSzPct val="100000"/>
              <a:buChar char="•"/>
            </a:pPr>
            <a:r>
              <a:rPr lang="en-US" sz="1100" dirty="0">
                <a:solidFill>
                  <a:srgbClr val="334155"/>
                </a:solidFill>
                <a:latin typeface="Calibri" pitchFamily="34" charset="0"/>
                <a:ea typeface="Calibri" pitchFamily="34" charset="-122"/>
                <a:cs typeface="Calibri" pitchFamily="34" charset="-120"/>
              </a:rPr>
              <a:t>Index-free adjacency: constant-time traversal per hop.</a:t>
            </a:r>
            <a:endParaRPr lang="en-US" sz="1100" dirty="0"/>
          </a:p>
          <a:p>
            <a:pPr marL="342900" indent="-342900">
              <a:spcAft>
                <a:spcPts val="400"/>
              </a:spcAft>
              <a:buSzPct val="100000"/>
              <a:buChar char="•"/>
            </a:pPr>
            <a:r>
              <a:rPr lang="en-US" sz="1100" dirty="0">
                <a:solidFill>
                  <a:srgbClr val="334155"/>
                </a:solidFill>
                <a:latin typeface="Calibri" pitchFamily="34" charset="0"/>
                <a:ea typeface="Calibri" pitchFamily="34" charset="-122"/>
                <a:cs typeface="Calibri" pitchFamily="34" charset="-120"/>
              </a:rPr>
              <a:t>City-level diphtheria linked to parent state via LOCATED_IN_STATE.</a:t>
            </a:r>
            <a:endParaRPr lang="en-US" sz="1100" dirty="0"/>
          </a:p>
        </p:txBody>
      </p:sp>
      <p:sp>
        <p:nvSpPr>
          <p:cNvPr id="35" name="Text 33"/>
          <p:cNvSpPr/>
          <p:nvPr/>
        </p:nvSpPr>
        <p:spPr>
          <a:xfrm>
            <a:off x="548640" y="6446520"/>
            <a:ext cx="73152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Anwar Debes · IKT453 · University of Agder</a:t>
            </a:r>
            <a:endParaRPr lang="en-US" sz="900" dirty="0"/>
          </a:p>
        </p:txBody>
      </p:sp>
      <p:sp>
        <p:nvSpPr>
          <p:cNvPr id="36" name="Text 34"/>
          <p:cNvSpPr/>
          <p:nvPr/>
        </p:nvSpPr>
        <p:spPr>
          <a:xfrm>
            <a:off x="10789920" y="6446520"/>
            <a:ext cx="86868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9 / 20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02920"/>
          </a:xfrm>
          <a:prstGeom prst="rect">
            <a:avLst/>
          </a:prstGeom>
          <a:noFill/>
          <a:ln/>
        </p:spPr>
        <p:txBody>
          <a:bodyPr wrap="square" lIns="0" tIns="0" rIns="0" bIns="0" rtlCol="0" anchor="ctr"/>
          <a:lstStyle/>
          <a:p>
            <a:pPr marL="0" indent="0" algn="l">
              <a:buNone/>
            </a:pPr>
            <a:r>
              <a:rPr lang="en-US" sz="2800" b="1" dirty="0">
                <a:solidFill>
                  <a:srgbClr val="1E293B"/>
                </a:solidFill>
                <a:latin typeface="Cambria" pitchFamily="34" charset="0"/>
                <a:ea typeface="Cambria" pitchFamily="34" charset="-122"/>
                <a:cs typeface="Cambria" pitchFamily="34" charset="-120"/>
              </a:rPr>
              <a:t>ETL Pipeline</a:t>
            </a:r>
            <a:endParaRPr lang="en-US" sz="2800" dirty="0"/>
          </a:p>
        </p:txBody>
      </p:sp>
      <p:sp>
        <p:nvSpPr>
          <p:cNvPr id="3" name="Text 1"/>
          <p:cNvSpPr/>
          <p:nvPr/>
        </p:nvSpPr>
        <p:spPr>
          <a:xfrm>
            <a:off x="548640" y="841248"/>
            <a:ext cx="11064240" cy="292608"/>
          </a:xfrm>
          <a:prstGeom prst="rect">
            <a:avLst/>
          </a:prstGeom>
          <a:noFill/>
          <a:ln/>
        </p:spPr>
        <p:txBody>
          <a:bodyPr wrap="square" lIns="0" tIns="0" rIns="0" bIns="0" rtlCol="0" anchor="ctr"/>
          <a:lstStyle/>
          <a:p>
            <a:pPr marL="0" indent="0" algn="l">
              <a:buNone/>
            </a:pPr>
            <a:r>
              <a:rPr lang="en-US" sz="1300" i="1" dirty="0">
                <a:solidFill>
                  <a:srgbClr val="64748B"/>
                </a:solidFill>
                <a:latin typeface="Calibri" pitchFamily="34" charset="0"/>
                <a:ea typeface="Calibri" pitchFamily="34" charset="-122"/>
                <a:cs typeface="Calibri" pitchFamily="34" charset="-120"/>
              </a:rPr>
              <a:t>Single-pass extraction feeding three backend loaders</a:t>
            </a:r>
            <a:endParaRPr lang="en-US" sz="1300" dirty="0"/>
          </a:p>
        </p:txBody>
      </p:sp>
      <p:sp>
        <p:nvSpPr>
          <p:cNvPr id="4" name="Shape 2"/>
          <p:cNvSpPr/>
          <p:nvPr/>
        </p:nvSpPr>
        <p:spPr>
          <a:xfrm>
            <a:off x="548640" y="1207008"/>
            <a:ext cx="11064240" cy="0"/>
          </a:xfrm>
          <a:prstGeom prst="line">
            <a:avLst/>
          </a:prstGeom>
          <a:noFill/>
          <a:ln w="9525">
            <a:solidFill>
              <a:srgbClr val="CBD5E1"/>
            </a:solidFill>
            <a:prstDash val="solid"/>
          </a:ln>
        </p:spPr>
        <p:txBody>
          <a:bodyPr/>
          <a:lstStyle/>
          <a:p>
            <a:endParaRPr lang="en-US"/>
          </a:p>
        </p:txBody>
      </p:sp>
      <p:sp>
        <p:nvSpPr>
          <p:cNvPr id="5" name="Shape 3"/>
          <p:cNvSpPr/>
          <p:nvPr/>
        </p:nvSpPr>
        <p:spPr>
          <a:xfrm>
            <a:off x="548640" y="2286000"/>
            <a:ext cx="2011680" cy="1188720"/>
          </a:xfrm>
          <a:prstGeom prst="rect">
            <a:avLst/>
          </a:prstGeom>
          <a:solidFill>
            <a:srgbClr val="F1F5F9"/>
          </a:solidFill>
          <a:ln w="12700">
            <a:solidFill>
              <a:srgbClr val="0F4C81"/>
            </a:solidFill>
            <a:prstDash val="solid"/>
          </a:ln>
        </p:spPr>
        <p:txBody>
          <a:bodyPr/>
          <a:lstStyle/>
          <a:p>
            <a:endParaRPr lang="en-US"/>
          </a:p>
        </p:txBody>
      </p:sp>
      <p:sp>
        <p:nvSpPr>
          <p:cNvPr id="6" name="Text 4"/>
          <p:cNvSpPr/>
          <p:nvPr/>
        </p:nvSpPr>
        <p:spPr>
          <a:xfrm>
            <a:off x="640080" y="2377440"/>
            <a:ext cx="1828800" cy="228600"/>
          </a:xfrm>
          <a:prstGeom prst="rect">
            <a:avLst/>
          </a:prstGeom>
          <a:noFill/>
          <a:ln/>
        </p:spPr>
        <p:txBody>
          <a:bodyPr wrap="square" lIns="0" tIns="0" rIns="0" bIns="0" rtlCol="0" anchor="ctr"/>
          <a:lstStyle/>
          <a:p>
            <a:pPr marL="0" indent="0">
              <a:buNone/>
            </a:pPr>
            <a:r>
              <a:rPr lang="en-US" sz="900" b="1" kern="0" spc="300" dirty="0">
                <a:solidFill>
                  <a:srgbClr val="0F4C81"/>
                </a:solidFill>
                <a:latin typeface="Calibri" pitchFamily="34" charset="0"/>
                <a:ea typeface="Calibri" pitchFamily="34" charset="-122"/>
                <a:cs typeface="Calibri" pitchFamily="34" charset="-120"/>
              </a:rPr>
              <a:t>SOURCE</a:t>
            </a:r>
            <a:endParaRPr lang="en-US" sz="900" dirty="0"/>
          </a:p>
        </p:txBody>
      </p:sp>
      <p:sp>
        <p:nvSpPr>
          <p:cNvPr id="7" name="Text 5"/>
          <p:cNvSpPr/>
          <p:nvPr/>
        </p:nvSpPr>
        <p:spPr>
          <a:xfrm>
            <a:off x="640080" y="2651760"/>
            <a:ext cx="1828800" cy="32004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Tycho L1 CSV</a:t>
            </a:r>
            <a:endParaRPr lang="en-US" sz="1400" dirty="0"/>
          </a:p>
        </p:txBody>
      </p:sp>
      <p:sp>
        <p:nvSpPr>
          <p:cNvPr id="8" name="Text 6"/>
          <p:cNvSpPr/>
          <p:nvPr/>
        </p:nvSpPr>
        <p:spPr>
          <a:xfrm>
            <a:off x="640080" y="2999232"/>
            <a:ext cx="1828800" cy="45720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759K raw rows</a:t>
            </a:r>
            <a:endParaRPr lang="en-US" sz="1000" dirty="0"/>
          </a:p>
          <a:p>
            <a:pPr marL="0" indent="0">
              <a:buNone/>
            </a:pPr>
            <a:r>
              <a:rPr lang="en-US" sz="1000" dirty="0">
                <a:solidFill>
                  <a:srgbClr val="334155"/>
                </a:solidFill>
                <a:latin typeface="Calibri" pitchFamily="34" charset="0"/>
                <a:ea typeface="Calibri" pitchFamily="34" charset="-122"/>
                <a:cs typeface="Calibri" pitchFamily="34" charset="-120"/>
              </a:rPr>
              <a:t>473K after cleaning</a:t>
            </a:r>
            <a:endParaRPr lang="en-US" sz="1000" dirty="0"/>
          </a:p>
        </p:txBody>
      </p:sp>
      <p:sp>
        <p:nvSpPr>
          <p:cNvPr id="9" name="Text 7"/>
          <p:cNvSpPr/>
          <p:nvPr/>
        </p:nvSpPr>
        <p:spPr>
          <a:xfrm>
            <a:off x="2578608" y="2697480"/>
            <a:ext cx="274320" cy="365760"/>
          </a:xfrm>
          <a:prstGeom prst="rect">
            <a:avLst/>
          </a:prstGeom>
          <a:noFill/>
          <a:ln/>
        </p:spPr>
        <p:txBody>
          <a:bodyPr wrap="square" lIns="0" tIns="0" rIns="0" bIns="0" rtlCol="0" anchor="ctr"/>
          <a:lstStyle/>
          <a:p>
            <a:pPr marL="0" indent="0" algn="ctr">
              <a:buNone/>
            </a:pPr>
            <a:r>
              <a:rPr lang="en-US" sz="2000" b="1" dirty="0">
                <a:solidFill>
                  <a:srgbClr val="0F4C81"/>
                </a:solidFill>
                <a:latin typeface="Calibri" pitchFamily="34" charset="0"/>
                <a:ea typeface="Calibri" pitchFamily="34" charset="-122"/>
                <a:cs typeface="Calibri" pitchFamily="34" charset="-120"/>
              </a:rPr>
              <a:t>→</a:t>
            </a:r>
            <a:endParaRPr lang="en-US" sz="2000" dirty="0"/>
          </a:p>
        </p:txBody>
      </p:sp>
      <p:sp>
        <p:nvSpPr>
          <p:cNvPr id="10" name="Shape 8"/>
          <p:cNvSpPr/>
          <p:nvPr/>
        </p:nvSpPr>
        <p:spPr>
          <a:xfrm>
            <a:off x="2880360" y="2286000"/>
            <a:ext cx="2011680" cy="1188720"/>
          </a:xfrm>
          <a:prstGeom prst="rect">
            <a:avLst/>
          </a:prstGeom>
          <a:solidFill>
            <a:srgbClr val="F1F5F9"/>
          </a:solidFill>
          <a:ln w="12700">
            <a:solidFill>
              <a:srgbClr val="0F4C81"/>
            </a:solidFill>
            <a:prstDash val="solid"/>
          </a:ln>
        </p:spPr>
        <p:txBody>
          <a:bodyPr/>
          <a:lstStyle/>
          <a:p>
            <a:endParaRPr lang="en-US"/>
          </a:p>
        </p:txBody>
      </p:sp>
      <p:sp>
        <p:nvSpPr>
          <p:cNvPr id="11" name="Text 9"/>
          <p:cNvSpPr/>
          <p:nvPr/>
        </p:nvSpPr>
        <p:spPr>
          <a:xfrm>
            <a:off x="2971800" y="2377440"/>
            <a:ext cx="1828800" cy="228600"/>
          </a:xfrm>
          <a:prstGeom prst="rect">
            <a:avLst/>
          </a:prstGeom>
          <a:noFill/>
          <a:ln/>
        </p:spPr>
        <p:txBody>
          <a:bodyPr wrap="square" lIns="0" tIns="0" rIns="0" bIns="0" rtlCol="0" anchor="ctr"/>
          <a:lstStyle/>
          <a:p>
            <a:pPr marL="0" indent="0">
              <a:buNone/>
            </a:pPr>
            <a:r>
              <a:rPr lang="en-US" sz="900" b="1" kern="0" spc="300" dirty="0">
                <a:solidFill>
                  <a:srgbClr val="0F4C81"/>
                </a:solidFill>
                <a:latin typeface="Calibri" pitchFamily="34" charset="0"/>
                <a:ea typeface="Calibri" pitchFamily="34" charset="-122"/>
                <a:cs typeface="Calibri" pitchFamily="34" charset="-120"/>
              </a:rPr>
              <a:t>EXTRACT</a:t>
            </a:r>
            <a:endParaRPr lang="en-US" sz="900" dirty="0"/>
          </a:p>
        </p:txBody>
      </p:sp>
      <p:sp>
        <p:nvSpPr>
          <p:cNvPr id="12" name="Text 10"/>
          <p:cNvSpPr/>
          <p:nvPr/>
        </p:nvSpPr>
        <p:spPr>
          <a:xfrm>
            <a:off x="2971800" y="2651760"/>
            <a:ext cx="1828800" cy="32004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extract.py</a:t>
            </a:r>
            <a:endParaRPr lang="en-US" sz="1400" dirty="0"/>
          </a:p>
        </p:txBody>
      </p:sp>
      <p:sp>
        <p:nvSpPr>
          <p:cNvPr id="13" name="Text 11"/>
          <p:cNvSpPr/>
          <p:nvPr/>
        </p:nvSpPr>
        <p:spPr>
          <a:xfrm>
            <a:off x="2971800" y="2999232"/>
            <a:ext cx="1828800" cy="45720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pandas DataFrames</a:t>
            </a:r>
            <a:endParaRPr lang="en-US" sz="1000" dirty="0"/>
          </a:p>
          <a:p>
            <a:pPr marL="0" indent="0">
              <a:buNone/>
            </a:pPr>
            <a:r>
              <a:rPr lang="en-US" sz="1000" dirty="0">
                <a:solidFill>
                  <a:srgbClr val="334155"/>
                </a:solidFill>
                <a:latin typeface="Calibri" pitchFamily="34" charset="0"/>
                <a:ea typeface="Calibri" pitchFamily="34" charset="-122"/>
                <a:cs typeface="Calibri" pitchFamily="34" charset="-120"/>
              </a:rPr>
              <a:t>All reference CSVs</a:t>
            </a:r>
            <a:endParaRPr lang="en-US" sz="1000" dirty="0"/>
          </a:p>
        </p:txBody>
      </p:sp>
      <p:sp>
        <p:nvSpPr>
          <p:cNvPr id="14" name="Text 12"/>
          <p:cNvSpPr/>
          <p:nvPr/>
        </p:nvSpPr>
        <p:spPr>
          <a:xfrm>
            <a:off x="4910328" y="2697480"/>
            <a:ext cx="274320" cy="365760"/>
          </a:xfrm>
          <a:prstGeom prst="rect">
            <a:avLst/>
          </a:prstGeom>
          <a:noFill/>
          <a:ln/>
        </p:spPr>
        <p:txBody>
          <a:bodyPr wrap="square" lIns="0" tIns="0" rIns="0" bIns="0" rtlCol="0" anchor="ctr"/>
          <a:lstStyle/>
          <a:p>
            <a:pPr marL="0" indent="0" algn="ctr">
              <a:buNone/>
            </a:pPr>
            <a:r>
              <a:rPr lang="en-US" sz="2000" b="1" dirty="0">
                <a:solidFill>
                  <a:srgbClr val="0F4C81"/>
                </a:solidFill>
                <a:latin typeface="Calibri" pitchFamily="34" charset="0"/>
                <a:ea typeface="Calibri" pitchFamily="34" charset="-122"/>
                <a:cs typeface="Calibri" pitchFamily="34" charset="-120"/>
              </a:rPr>
              <a:t>→</a:t>
            </a:r>
            <a:endParaRPr lang="en-US" sz="2000" dirty="0"/>
          </a:p>
        </p:txBody>
      </p:sp>
      <p:sp>
        <p:nvSpPr>
          <p:cNvPr id="15" name="Shape 13"/>
          <p:cNvSpPr/>
          <p:nvPr/>
        </p:nvSpPr>
        <p:spPr>
          <a:xfrm>
            <a:off x="5212080" y="2286000"/>
            <a:ext cx="2011680" cy="1188720"/>
          </a:xfrm>
          <a:prstGeom prst="rect">
            <a:avLst/>
          </a:prstGeom>
          <a:solidFill>
            <a:srgbClr val="F1F5F9"/>
          </a:solidFill>
          <a:ln w="12700">
            <a:solidFill>
              <a:srgbClr val="0F4C81"/>
            </a:solidFill>
            <a:prstDash val="solid"/>
          </a:ln>
        </p:spPr>
        <p:txBody>
          <a:bodyPr/>
          <a:lstStyle/>
          <a:p>
            <a:endParaRPr lang="en-US"/>
          </a:p>
        </p:txBody>
      </p:sp>
      <p:sp>
        <p:nvSpPr>
          <p:cNvPr id="16" name="Text 14"/>
          <p:cNvSpPr/>
          <p:nvPr/>
        </p:nvSpPr>
        <p:spPr>
          <a:xfrm>
            <a:off x="5303520" y="2377440"/>
            <a:ext cx="1828800" cy="228600"/>
          </a:xfrm>
          <a:prstGeom prst="rect">
            <a:avLst/>
          </a:prstGeom>
          <a:noFill/>
          <a:ln/>
        </p:spPr>
        <p:txBody>
          <a:bodyPr wrap="square" lIns="0" tIns="0" rIns="0" bIns="0" rtlCol="0" anchor="ctr"/>
          <a:lstStyle/>
          <a:p>
            <a:pPr marL="0" indent="0">
              <a:buNone/>
            </a:pPr>
            <a:r>
              <a:rPr lang="en-US" sz="900" b="1" kern="0" spc="300" dirty="0">
                <a:solidFill>
                  <a:srgbClr val="0F4C81"/>
                </a:solidFill>
                <a:latin typeface="Calibri" pitchFamily="34" charset="0"/>
                <a:ea typeface="Calibri" pitchFamily="34" charset="-122"/>
                <a:cs typeface="Calibri" pitchFamily="34" charset="-120"/>
              </a:rPr>
              <a:t>TRANSFORM</a:t>
            </a:r>
            <a:endParaRPr lang="en-US" sz="900" dirty="0"/>
          </a:p>
        </p:txBody>
      </p:sp>
      <p:sp>
        <p:nvSpPr>
          <p:cNvPr id="17" name="Text 15"/>
          <p:cNvSpPr/>
          <p:nvPr/>
        </p:nvSpPr>
        <p:spPr>
          <a:xfrm>
            <a:off x="5303520" y="2651760"/>
            <a:ext cx="1828800" cy="32004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transform.py</a:t>
            </a:r>
            <a:endParaRPr lang="en-US" sz="1400" dirty="0"/>
          </a:p>
        </p:txBody>
      </p:sp>
      <p:sp>
        <p:nvSpPr>
          <p:cNvPr id="18" name="Text 16"/>
          <p:cNvSpPr/>
          <p:nvPr/>
        </p:nvSpPr>
        <p:spPr>
          <a:xfrm>
            <a:off x="5303520" y="2999232"/>
            <a:ext cx="1828800" cy="45720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Clean + derive</a:t>
            </a:r>
            <a:endParaRPr lang="en-US" sz="1000" dirty="0"/>
          </a:p>
          <a:p>
            <a:pPr marL="0" indent="0">
              <a:buNone/>
            </a:pPr>
            <a:r>
              <a:rPr lang="en-US" sz="1000" dirty="0">
                <a:solidFill>
                  <a:srgbClr val="334155"/>
                </a:solidFill>
                <a:latin typeface="Calibri" pitchFamily="34" charset="0"/>
                <a:ea typeface="Calibri" pitchFamily="34" charset="-122"/>
                <a:cs typeface="Calibri" pitchFamily="34" charset="-120"/>
              </a:rPr>
              <a:t>Surrogate keys</a:t>
            </a:r>
            <a:endParaRPr lang="en-US" sz="1000" dirty="0"/>
          </a:p>
          <a:p>
            <a:pPr marL="0" indent="0">
              <a:buNone/>
            </a:pPr>
            <a:r>
              <a:rPr lang="en-US" sz="1000" dirty="0">
                <a:solidFill>
                  <a:srgbClr val="334155"/>
                </a:solidFill>
                <a:latin typeface="Calibri" pitchFamily="34" charset="0"/>
                <a:ea typeface="Calibri" pitchFamily="34" charset="-122"/>
                <a:cs typeface="Calibri" pitchFamily="34" charset="-120"/>
              </a:rPr>
              <a:t>Three output shapes</a:t>
            </a:r>
            <a:endParaRPr lang="en-US" sz="1000" dirty="0"/>
          </a:p>
        </p:txBody>
      </p:sp>
      <p:sp>
        <p:nvSpPr>
          <p:cNvPr id="19" name="Text 17"/>
          <p:cNvSpPr/>
          <p:nvPr/>
        </p:nvSpPr>
        <p:spPr>
          <a:xfrm>
            <a:off x="7562088" y="2697480"/>
            <a:ext cx="274320" cy="365760"/>
          </a:xfrm>
          <a:prstGeom prst="rect">
            <a:avLst/>
          </a:prstGeom>
          <a:noFill/>
          <a:ln/>
        </p:spPr>
        <p:txBody>
          <a:bodyPr wrap="square" lIns="0" tIns="0" rIns="0" bIns="0" rtlCol="0" anchor="ctr"/>
          <a:lstStyle/>
          <a:p>
            <a:pPr marL="0" indent="0" algn="ctr">
              <a:buNone/>
            </a:pPr>
            <a:r>
              <a:rPr lang="en-US" sz="2000" b="1" dirty="0">
                <a:solidFill>
                  <a:srgbClr val="0F4C81"/>
                </a:solidFill>
                <a:latin typeface="Calibri" pitchFamily="34" charset="0"/>
                <a:ea typeface="Calibri" pitchFamily="34" charset="-122"/>
                <a:cs typeface="Calibri" pitchFamily="34" charset="-120"/>
              </a:rPr>
              <a:t>→</a:t>
            </a:r>
            <a:endParaRPr lang="en-US" sz="2000" dirty="0"/>
          </a:p>
        </p:txBody>
      </p:sp>
      <p:sp>
        <p:nvSpPr>
          <p:cNvPr id="20" name="Shape 18"/>
          <p:cNvSpPr/>
          <p:nvPr/>
        </p:nvSpPr>
        <p:spPr>
          <a:xfrm>
            <a:off x="7909560" y="1417320"/>
            <a:ext cx="2103120" cy="1188720"/>
          </a:xfrm>
          <a:prstGeom prst="rect">
            <a:avLst/>
          </a:prstGeom>
          <a:solidFill>
            <a:srgbClr val="FFFFFF"/>
          </a:solidFill>
          <a:ln w="12700">
            <a:solidFill>
              <a:srgbClr val="0F4C81"/>
            </a:solidFill>
            <a:prstDash val="solid"/>
          </a:ln>
        </p:spPr>
        <p:txBody>
          <a:bodyPr/>
          <a:lstStyle/>
          <a:p>
            <a:endParaRPr lang="en-US"/>
          </a:p>
        </p:txBody>
      </p:sp>
      <p:sp>
        <p:nvSpPr>
          <p:cNvPr id="21" name="Text 19"/>
          <p:cNvSpPr/>
          <p:nvPr/>
        </p:nvSpPr>
        <p:spPr>
          <a:xfrm>
            <a:off x="8001000" y="1490472"/>
            <a:ext cx="1920240" cy="228600"/>
          </a:xfrm>
          <a:prstGeom prst="rect">
            <a:avLst/>
          </a:prstGeom>
          <a:noFill/>
          <a:ln/>
        </p:spPr>
        <p:txBody>
          <a:bodyPr wrap="square" lIns="0" tIns="0" rIns="0" bIns="0" rtlCol="0" anchor="ctr"/>
          <a:lstStyle/>
          <a:p>
            <a:pPr marL="0" indent="0">
              <a:buNone/>
            </a:pPr>
            <a:r>
              <a:rPr lang="en-US" sz="900" b="1" kern="0" spc="300" dirty="0">
                <a:solidFill>
                  <a:srgbClr val="0F4C81"/>
                </a:solidFill>
                <a:latin typeface="Calibri" pitchFamily="34" charset="0"/>
                <a:ea typeface="Calibri" pitchFamily="34" charset="-122"/>
                <a:cs typeface="Calibri" pitchFamily="34" charset="-120"/>
              </a:rPr>
              <a:t>LOAD (SQL)</a:t>
            </a:r>
            <a:endParaRPr lang="en-US" sz="900" dirty="0"/>
          </a:p>
        </p:txBody>
      </p:sp>
      <p:sp>
        <p:nvSpPr>
          <p:cNvPr id="22" name="Text 20"/>
          <p:cNvSpPr/>
          <p:nvPr/>
        </p:nvSpPr>
        <p:spPr>
          <a:xfrm>
            <a:off x="8001000" y="1737360"/>
            <a:ext cx="1920240" cy="32004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load_postgres.py</a:t>
            </a:r>
            <a:endParaRPr lang="en-US" sz="1300" dirty="0"/>
          </a:p>
        </p:txBody>
      </p:sp>
      <p:sp>
        <p:nvSpPr>
          <p:cNvPr id="23" name="Text 21"/>
          <p:cNvSpPr/>
          <p:nvPr/>
        </p:nvSpPr>
        <p:spPr>
          <a:xfrm>
            <a:off x="8001000" y="2057400"/>
            <a:ext cx="1920240" cy="50292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COPY protocol</a:t>
            </a:r>
            <a:endParaRPr lang="en-US" sz="1000" dirty="0"/>
          </a:p>
          <a:p>
            <a:pPr marL="0" indent="0">
              <a:buNone/>
            </a:pPr>
            <a:r>
              <a:rPr lang="en-US" sz="1000" dirty="0">
                <a:solidFill>
                  <a:srgbClr val="334155"/>
                </a:solidFill>
                <a:latin typeface="Calibri" pitchFamily="34" charset="0"/>
                <a:ea typeface="Calibri" pitchFamily="34" charset="-122"/>
                <a:cs typeface="Calibri" pitchFamily="34" charset="-120"/>
              </a:rPr>
              <a:t>psycopg2</a:t>
            </a:r>
            <a:endParaRPr lang="en-US" sz="1000" dirty="0"/>
          </a:p>
        </p:txBody>
      </p:sp>
      <p:sp>
        <p:nvSpPr>
          <p:cNvPr id="24" name="Shape 22"/>
          <p:cNvSpPr/>
          <p:nvPr/>
        </p:nvSpPr>
        <p:spPr>
          <a:xfrm>
            <a:off x="7909560" y="2697480"/>
            <a:ext cx="2103120" cy="1188720"/>
          </a:xfrm>
          <a:prstGeom prst="rect">
            <a:avLst/>
          </a:prstGeom>
          <a:solidFill>
            <a:srgbClr val="FFFFFF"/>
          </a:solidFill>
          <a:ln w="12700">
            <a:solidFill>
              <a:srgbClr val="0F4C81"/>
            </a:solidFill>
            <a:prstDash val="solid"/>
          </a:ln>
        </p:spPr>
        <p:txBody>
          <a:bodyPr/>
          <a:lstStyle/>
          <a:p>
            <a:endParaRPr lang="en-US"/>
          </a:p>
        </p:txBody>
      </p:sp>
      <p:sp>
        <p:nvSpPr>
          <p:cNvPr id="25" name="Text 23"/>
          <p:cNvSpPr/>
          <p:nvPr/>
        </p:nvSpPr>
        <p:spPr>
          <a:xfrm>
            <a:off x="8001000" y="2770632"/>
            <a:ext cx="1920240" cy="228600"/>
          </a:xfrm>
          <a:prstGeom prst="rect">
            <a:avLst/>
          </a:prstGeom>
          <a:noFill/>
          <a:ln/>
        </p:spPr>
        <p:txBody>
          <a:bodyPr wrap="square" lIns="0" tIns="0" rIns="0" bIns="0" rtlCol="0" anchor="ctr"/>
          <a:lstStyle/>
          <a:p>
            <a:pPr marL="0" indent="0">
              <a:buNone/>
            </a:pPr>
            <a:r>
              <a:rPr lang="en-US" sz="900" b="1" kern="0" spc="300" dirty="0">
                <a:solidFill>
                  <a:srgbClr val="0F4C81"/>
                </a:solidFill>
                <a:latin typeface="Calibri" pitchFamily="34" charset="0"/>
                <a:ea typeface="Calibri" pitchFamily="34" charset="-122"/>
                <a:cs typeface="Calibri" pitchFamily="34" charset="-120"/>
              </a:rPr>
              <a:t>LOAD (DOC)</a:t>
            </a:r>
            <a:endParaRPr lang="en-US" sz="900" dirty="0"/>
          </a:p>
        </p:txBody>
      </p:sp>
      <p:sp>
        <p:nvSpPr>
          <p:cNvPr id="26" name="Text 24"/>
          <p:cNvSpPr/>
          <p:nvPr/>
        </p:nvSpPr>
        <p:spPr>
          <a:xfrm>
            <a:off x="8001000" y="3017520"/>
            <a:ext cx="1920240" cy="32004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load_mongo.py</a:t>
            </a:r>
            <a:endParaRPr lang="en-US" sz="1300" dirty="0"/>
          </a:p>
        </p:txBody>
      </p:sp>
      <p:sp>
        <p:nvSpPr>
          <p:cNvPr id="27" name="Text 25"/>
          <p:cNvSpPr/>
          <p:nvPr/>
        </p:nvSpPr>
        <p:spPr>
          <a:xfrm>
            <a:off x="8001000" y="3337560"/>
            <a:ext cx="1920240" cy="50292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insert_many</a:t>
            </a:r>
            <a:endParaRPr lang="en-US" sz="1000" dirty="0"/>
          </a:p>
          <a:p>
            <a:pPr marL="0" indent="0">
              <a:buNone/>
            </a:pPr>
            <a:r>
              <a:rPr lang="en-US" sz="1000" dirty="0">
                <a:solidFill>
                  <a:srgbClr val="334155"/>
                </a:solidFill>
                <a:latin typeface="Calibri" pitchFamily="34" charset="0"/>
                <a:ea typeface="Calibri" pitchFamily="34" charset="-122"/>
                <a:cs typeface="Calibri" pitchFamily="34" charset="-120"/>
              </a:rPr>
              <a:t>batch = 10,000</a:t>
            </a:r>
            <a:endParaRPr lang="en-US" sz="1000" dirty="0"/>
          </a:p>
        </p:txBody>
      </p:sp>
      <p:sp>
        <p:nvSpPr>
          <p:cNvPr id="28" name="Shape 26"/>
          <p:cNvSpPr/>
          <p:nvPr/>
        </p:nvSpPr>
        <p:spPr>
          <a:xfrm>
            <a:off x="7909560" y="3977640"/>
            <a:ext cx="2103120" cy="1188720"/>
          </a:xfrm>
          <a:prstGeom prst="rect">
            <a:avLst/>
          </a:prstGeom>
          <a:solidFill>
            <a:srgbClr val="FFFFFF"/>
          </a:solidFill>
          <a:ln w="12700">
            <a:solidFill>
              <a:srgbClr val="0F4C81"/>
            </a:solidFill>
            <a:prstDash val="solid"/>
          </a:ln>
        </p:spPr>
        <p:txBody>
          <a:bodyPr/>
          <a:lstStyle/>
          <a:p>
            <a:endParaRPr lang="en-US"/>
          </a:p>
        </p:txBody>
      </p:sp>
      <p:sp>
        <p:nvSpPr>
          <p:cNvPr id="29" name="Text 27"/>
          <p:cNvSpPr/>
          <p:nvPr/>
        </p:nvSpPr>
        <p:spPr>
          <a:xfrm>
            <a:off x="8001000" y="4050792"/>
            <a:ext cx="1920240" cy="228600"/>
          </a:xfrm>
          <a:prstGeom prst="rect">
            <a:avLst/>
          </a:prstGeom>
          <a:noFill/>
          <a:ln/>
        </p:spPr>
        <p:txBody>
          <a:bodyPr wrap="square" lIns="0" tIns="0" rIns="0" bIns="0" rtlCol="0" anchor="ctr"/>
          <a:lstStyle/>
          <a:p>
            <a:pPr marL="0" indent="0">
              <a:buNone/>
            </a:pPr>
            <a:r>
              <a:rPr lang="en-US" sz="900" b="1" kern="0" spc="300" dirty="0">
                <a:solidFill>
                  <a:srgbClr val="0F4C81"/>
                </a:solidFill>
                <a:latin typeface="Calibri" pitchFamily="34" charset="0"/>
                <a:ea typeface="Calibri" pitchFamily="34" charset="-122"/>
                <a:cs typeface="Calibri" pitchFamily="34" charset="-120"/>
              </a:rPr>
              <a:t>LOAD (GRAPH)</a:t>
            </a:r>
            <a:endParaRPr lang="en-US" sz="900" dirty="0"/>
          </a:p>
        </p:txBody>
      </p:sp>
      <p:sp>
        <p:nvSpPr>
          <p:cNvPr id="30" name="Text 28"/>
          <p:cNvSpPr/>
          <p:nvPr/>
        </p:nvSpPr>
        <p:spPr>
          <a:xfrm>
            <a:off x="8001000" y="4297680"/>
            <a:ext cx="1920240" cy="32004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load_neo4j.py</a:t>
            </a:r>
            <a:endParaRPr lang="en-US" sz="1300" dirty="0"/>
          </a:p>
        </p:txBody>
      </p:sp>
      <p:sp>
        <p:nvSpPr>
          <p:cNvPr id="31" name="Text 29"/>
          <p:cNvSpPr/>
          <p:nvPr/>
        </p:nvSpPr>
        <p:spPr>
          <a:xfrm>
            <a:off x="8001000" y="4617720"/>
            <a:ext cx="1920240" cy="50292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UNWIND batches</a:t>
            </a:r>
            <a:endParaRPr lang="en-US" sz="1000" dirty="0"/>
          </a:p>
          <a:p>
            <a:pPr marL="0" indent="0">
              <a:buNone/>
            </a:pPr>
            <a:r>
              <a:rPr lang="en-US" sz="1000" dirty="0">
                <a:solidFill>
                  <a:srgbClr val="334155"/>
                </a:solidFill>
                <a:latin typeface="Calibri" pitchFamily="34" charset="0"/>
                <a:ea typeface="Calibri" pitchFamily="34" charset="-122"/>
                <a:cs typeface="Calibri" pitchFamily="34" charset="-120"/>
              </a:rPr>
              <a:t>size = 5,000</a:t>
            </a:r>
            <a:endParaRPr lang="en-US" sz="1000" dirty="0"/>
          </a:p>
        </p:txBody>
      </p:sp>
      <p:sp>
        <p:nvSpPr>
          <p:cNvPr id="32" name="Shape 30"/>
          <p:cNvSpPr/>
          <p:nvPr/>
        </p:nvSpPr>
        <p:spPr>
          <a:xfrm>
            <a:off x="548640" y="5532120"/>
            <a:ext cx="11064240" cy="822960"/>
          </a:xfrm>
          <a:prstGeom prst="rect">
            <a:avLst/>
          </a:prstGeom>
          <a:solidFill>
            <a:srgbClr val="F1F5F9"/>
          </a:solidFill>
          <a:ln w="6350">
            <a:solidFill>
              <a:srgbClr val="CBD5E1"/>
            </a:solidFill>
            <a:prstDash val="solid"/>
          </a:ln>
        </p:spPr>
        <p:txBody>
          <a:bodyPr/>
          <a:lstStyle/>
          <a:p>
            <a:endParaRPr lang="en-US"/>
          </a:p>
        </p:txBody>
      </p:sp>
      <p:sp>
        <p:nvSpPr>
          <p:cNvPr id="33" name="Shape 31"/>
          <p:cNvSpPr/>
          <p:nvPr/>
        </p:nvSpPr>
        <p:spPr>
          <a:xfrm>
            <a:off x="548640" y="5532120"/>
            <a:ext cx="73152" cy="822960"/>
          </a:xfrm>
          <a:prstGeom prst="rect">
            <a:avLst/>
          </a:prstGeom>
          <a:solidFill>
            <a:srgbClr val="0F4C81"/>
          </a:solidFill>
          <a:ln w="12700">
            <a:solidFill>
              <a:srgbClr val="333333"/>
            </a:solidFill>
            <a:prstDash val="solid"/>
          </a:ln>
        </p:spPr>
        <p:txBody>
          <a:bodyPr/>
          <a:lstStyle/>
          <a:p>
            <a:endParaRPr lang="en-US"/>
          </a:p>
        </p:txBody>
      </p:sp>
      <p:sp>
        <p:nvSpPr>
          <p:cNvPr id="34" name="Text 32"/>
          <p:cNvSpPr/>
          <p:nvPr/>
        </p:nvSpPr>
        <p:spPr>
          <a:xfrm>
            <a:off x="777240" y="5623560"/>
            <a:ext cx="10698480" cy="685800"/>
          </a:xfrm>
          <a:prstGeom prst="rect">
            <a:avLst/>
          </a:prstGeom>
          <a:noFill/>
          <a:ln/>
        </p:spPr>
        <p:txBody>
          <a:bodyPr wrap="square" lIns="0" tIns="0" rIns="0" bIns="0" rtlCol="0" anchor="ctr"/>
          <a:lstStyle/>
          <a:p>
            <a:pPr marL="0" indent="0">
              <a:buNone/>
            </a:pPr>
            <a:r>
              <a:rPr lang="en-US" sz="1100" b="1" dirty="0">
                <a:solidFill>
                  <a:srgbClr val="0F4C81"/>
                </a:solidFill>
                <a:latin typeface="Calibri" pitchFamily="34" charset="0"/>
                <a:ea typeface="Calibri" pitchFamily="34" charset="-122"/>
                <a:cs typeface="Calibri" pitchFamily="34" charset="-120"/>
              </a:rPr>
              <a:t>Reproducibility switch: </a:t>
            </a:r>
            <a:r>
              <a:rPr lang="en-US" sz="1100" dirty="0">
                <a:solidFill>
                  <a:srgbClr val="334155"/>
                </a:solidFill>
                <a:latin typeface="Calibri" pitchFamily="34" charset="0"/>
                <a:ea typeface="Calibri" pitchFamily="34" charset="-122"/>
                <a:cs typeface="Calibri" pitchFamily="34" charset="-120"/>
              </a:rPr>
              <a:t>a single environment variable, </a:t>
            </a:r>
            <a:r>
              <a:rPr lang="en-US" sz="1100" dirty="0">
                <a:solidFill>
                  <a:srgbClr val="1E293B"/>
                </a:solidFill>
                <a:latin typeface="Consolas" pitchFamily="34" charset="0"/>
                <a:ea typeface="Consolas" pitchFamily="34" charset="-122"/>
                <a:cs typeface="Consolas" pitchFamily="34" charset="-120"/>
              </a:rPr>
              <a:t>TYCHO_DATA_FILE</a:t>
            </a:r>
            <a:r>
              <a:rPr lang="en-US" sz="1100" dirty="0">
                <a:solidFill>
                  <a:srgbClr val="334155"/>
                </a:solidFill>
                <a:latin typeface="Calibri" pitchFamily="34" charset="0"/>
                <a:ea typeface="Calibri" pitchFamily="34" charset="-122"/>
                <a:cs typeface="Calibri" pitchFamily="34" charset="-120"/>
              </a:rPr>
              <a:t>, toggles the pipeline between the real Project Tycho Level 1 file and the synthetic benchmark file with no code changes. The synthetic generator is calibrated on the real data's statistical characteristics (base rates, seasonality, vaccine effects).</a:t>
            </a:r>
            <a:endParaRPr lang="en-US" sz="1100" dirty="0"/>
          </a:p>
        </p:txBody>
      </p:sp>
      <p:sp>
        <p:nvSpPr>
          <p:cNvPr id="35" name="Text 33"/>
          <p:cNvSpPr/>
          <p:nvPr/>
        </p:nvSpPr>
        <p:spPr>
          <a:xfrm>
            <a:off x="548640" y="6446520"/>
            <a:ext cx="73152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Anwar Debes · IKT453 · University of Agder</a:t>
            </a:r>
            <a:endParaRPr lang="en-US" sz="900" dirty="0"/>
          </a:p>
        </p:txBody>
      </p:sp>
      <p:sp>
        <p:nvSpPr>
          <p:cNvPr id="36" name="Text 34"/>
          <p:cNvSpPr/>
          <p:nvPr/>
        </p:nvSpPr>
        <p:spPr>
          <a:xfrm>
            <a:off x="10789920" y="6446520"/>
            <a:ext cx="86868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10 / 20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02920"/>
          </a:xfrm>
          <a:prstGeom prst="rect">
            <a:avLst/>
          </a:prstGeom>
          <a:noFill/>
          <a:ln/>
        </p:spPr>
        <p:txBody>
          <a:bodyPr wrap="square" lIns="0" tIns="0" rIns="0" bIns="0" rtlCol="0" anchor="ctr"/>
          <a:lstStyle/>
          <a:p>
            <a:pPr marL="0" indent="0" algn="l">
              <a:buNone/>
            </a:pPr>
            <a:r>
              <a:rPr lang="en-US" sz="2800" b="1" dirty="0">
                <a:solidFill>
                  <a:srgbClr val="1E293B"/>
                </a:solidFill>
                <a:latin typeface="Cambria" pitchFamily="34" charset="0"/>
                <a:ea typeface="Cambria" pitchFamily="34" charset="-122"/>
                <a:cs typeface="Cambria" pitchFamily="34" charset="-120"/>
              </a:rPr>
              <a:t>Streaming Layer Kafka + ksqlDB</a:t>
            </a:r>
            <a:endParaRPr lang="en-US" sz="2800" dirty="0"/>
          </a:p>
        </p:txBody>
      </p:sp>
      <p:sp>
        <p:nvSpPr>
          <p:cNvPr id="3" name="Text 1"/>
          <p:cNvSpPr/>
          <p:nvPr/>
        </p:nvSpPr>
        <p:spPr>
          <a:xfrm>
            <a:off x="548640" y="841248"/>
            <a:ext cx="11064240" cy="292608"/>
          </a:xfrm>
          <a:prstGeom prst="rect">
            <a:avLst/>
          </a:prstGeom>
          <a:noFill/>
          <a:ln/>
        </p:spPr>
        <p:txBody>
          <a:bodyPr wrap="square" lIns="0" tIns="0" rIns="0" bIns="0" rtlCol="0" anchor="ctr"/>
          <a:lstStyle/>
          <a:p>
            <a:pPr marL="0" indent="0" algn="l">
              <a:buNone/>
            </a:pPr>
            <a:r>
              <a:rPr lang="en-US" sz="1300" i="1" dirty="0">
                <a:solidFill>
                  <a:srgbClr val="64748B"/>
                </a:solidFill>
                <a:latin typeface="Calibri" pitchFamily="34" charset="0"/>
                <a:ea typeface="Calibri" pitchFamily="34" charset="-122"/>
                <a:cs typeface="Calibri" pitchFamily="34" charset="-120"/>
              </a:rPr>
              <a:t>Four-stage continuous pipeline ending at a live dashboard</a:t>
            </a:r>
            <a:endParaRPr lang="en-US" sz="1300" dirty="0"/>
          </a:p>
        </p:txBody>
      </p:sp>
      <p:sp>
        <p:nvSpPr>
          <p:cNvPr id="4" name="Shape 2"/>
          <p:cNvSpPr/>
          <p:nvPr/>
        </p:nvSpPr>
        <p:spPr>
          <a:xfrm>
            <a:off x="548640" y="1207008"/>
            <a:ext cx="11064240" cy="0"/>
          </a:xfrm>
          <a:prstGeom prst="line">
            <a:avLst/>
          </a:prstGeom>
          <a:noFill/>
          <a:ln w="9525">
            <a:solidFill>
              <a:srgbClr val="CBD5E1"/>
            </a:solidFill>
            <a:prstDash val="solid"/>
          </a:ln>
        </p:spPr>
        <p:txBody>
          <a:bodyPr/>
          <a:lstStyle/>
          <a:p>
            <a:endParaRPr lang="en-US"/>
          </a:p>
        </p:txBody>
      </p:sp>
      <p:sp>
        <p:nvSpPr>
          <p:cNvPr id="5" name="Shape 3"/>
          <p:cNvSpPr/>
          <p:nvPr/>
        </p:nvSpPr>
        <p:spPr>
          <a:xfrm>
            <a:off x="548640" y="1737360"/>
            <a:ext cx="2066544" cy="1737360"/>
          </a:xfrm>
          <a:prstGeom prst="rect">
            <a:avLst/>
          </a:prstGeom>
          <a:solidFill>
            <a:srgbClr val="F1F5F9"/>
          </a:solidFill>
          <a:ln w="12700">
            <a:solidFill>
              <a:srgbClr val="0F4C81"/>
            </a:solidFill>
            <a:prstDash val="solid"/>
          </a:ln>
        </p:spPr>
        <p:txBody>
          <a:bodyPr/>
          <a:lstStyle/>
          <a:p>
            <a:endParaRPr lang="en-US"/>
          </a:p>
        </p:txBody>
      </p:sp>
      <p:sp>
        <p:nvSpPr>
          <p:cNvPr id="6" name="Shape 4"/>
          <p:cNvSpPr/>
          <p:nvPr/>
        </p:nvSpPr>
        <p:spPr>
          <a:xfrm>
            <a:off x="548640" y="1737360"/>
            <a:ext cx="2066544" cy="54864"/>
          </a:xfrm>
          <a:prstGeom prst="rect">
            <a:avLst/>
          </a:prstGeom>
          <a:solidFill>
            <a:srgbClr val="0F4C81"/>
          </a:solidFill>
          <a:ln w="12700">
            <a:solidFill>
              <a:srgbClr val="333333"/>
            </a:solidFill>
            <a:prstDash val="solid"/>
          </a:ln>
        </p:spPr>
        <p:txBody>
          <a:bodyPr/>
          <a:lstStyle/>
          <a:p>
            <a:endParaRPr lang="en-US"/>
          </a:p>
        </p:txBody>
      </p:sp>
      <p:sp>
        <p:nvSpPr>
          <p:cNvPr id="7" name="Text 5"/>
          <p:cNvSpPr/>
          <p:nvPr/>
        </p:nvSpPr>
        <p:spPr>
          <a:xfrm>
            <a:off x="640080" y="1920240"/>
            <a:ext cx="1883664" cy="228600"/>
          </a:xfrm>
          <a:prstGeom prst="rect">
            <a:avLst/>
          </a:prstGeom>
          <a:noFill/>
          <a:ln/>
        </p:spPr>
        <p:txBody>
          <a:bodyPr wrap="square" lIns="0" tIns="0" rIns="0" bIns="0" rtlCol="0" anchor="ctr"/>
          <a:lstStyle/>
          <a:p>
            <a:pPr marL="0" indent="0">
              <a:buNone/>
            </a:pPr>
            <a:r>
              <a:rPr lang="en-US" sz="900" b="1" kern="0" spc="200" dirty="0">
                <a:solidFill>
                  <a:srgbClr val="0F4C81"/>
                </a:solidFill>
                <a:latin typeface="Calibri" pitchFamily="34" charset="0"/>
                <a:ea typeface="Calibri" pitchFamily="34" charset="-122"/>
                <a:cs typeface="Calibri" pitchFamily="34" charset="-120"/>
              </a:rPr>
              <a:t>PYTHON</a:t>
            </a:r>
            <a:endParaRPr lang="en-US" sz="900" dirty="0"/>
          </a:p>
        </p:txBody>
      </p:sp>
      <p:sp>
        <p:nvSpPr>
          <p:cNvPr id="8" name="Text 6"/>
          <p:cNvSpPr/>
          <p:nvPr/>
        </p:nvSpPr>
        <p:spPr>
          <a:xfrm>
            <a:off x="640080" y="2194560"/>
            <a:ext cx="1883664" cy="36576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Producer</a:t>
            </a:r>
            <a:endParaRPr lang="en-US" sz="1300" dirty="0"/>
          </a:p>
        </p:txBody>
      </p:sp>
      <p:sp>
        <p:nvSpPr>
          <p:cNvPr id="9" name="Text 7"/>
          <p:cNvSpPr/>
          <p:nvPr/>
        </p:nvSpPr>
        <p:spPr>
          <a:xfrm>
            <a:off x="640080" y="2606040"/>
            <a:ext cx="1883664" cy="82296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Reads CSV,</a:t>
            </a:r>
            <a:endParaRPr lang="en-US" sz="1000" dirty="0"/>
          </a:p>
          <a:p>
            <a:pPr marL="0" indent="0">
              <a:buNone/>
            </a:pPr>
            <a:r>
              <a:rPr lang="en-US" sz="1000" dirty="0">
                <a:solidFill>
                  <a:srgbClr val="334155"/>
                </a:solidFill>
                <a:latin typeface="Calibri" pitchFamily="34" charset="0"/>
                <a:ea typeface="Calibri" pitchFamily="34" charset="-122"/>
                <a:cs typeface="Calibri" pitchFamily="34" charset="-120"/>
              </a:rPr>
              <a:t>publishes JSON</a:t>
            </a:r>
            <a:endParaRPr lang="en-US" sz="1000" dirty="0"/>
          </a:p>
          <a:p>
            <a:pPr marL="0" indent="0">
              <a:buNone/>
            </a:pPr>
            <a:r>
              <a:rPr lang="en-US" sz="1000" dirty="0">
                <a:solidFill>
                  <a:srgbClr val="334155"/>
                </a:solidFill>
                <a:latin typeface="Calibri" pitchFamily="34" charset="0"/>
                <a:ea typeface="Calibri" pitchFamily="34" charset="-122"/>
                <a:cs typeface="Calibri" pitchFamily="34" charset="-120"/>
              </a:rPr>
              <a:t>to raw-disease-events</a:t>
            </a:r>
            <a:endParaRPr lang="en-US" sz="1000" dirty="0"/>
          </a:p>
        </p:txBody>
      </p:sp>
      <p:sp>
        <p:nvSpPr>
          <p:cNvPr id="10" name="Text 8"/>
          <p:cNvSpPr/>
          <p:nvPr/>
        </p:nvSpPr>
        <p:spPr>
          <a:xfrm>
            <a:off x="2569464" y="2423160"/>
            <a:ext cx="274320" cy="365760"/>
          </a:xfrm>
          <a:prstGeom prst="rect">
            <a:avLst/>
          </a:prstGeom>
          <a:noFill/>
          <a:ln/>
        </p:spPr>
        <p:txBody>
          <a:bodyPr wrap="square" lIns="0" tIns="0" rIns="0" bIns="0" rtlCol="0" anchor="ctr"/>
          <a:lstStyle/>
          <a:p>
            <a:pPr marL="0" indent="0" algn="ctr">
              <a:buNone/>
            </a:pPr>
            <a:r>
              <a:rPr lang="en-US" sz="2000" b="1" dirty="0">
                <a:solidFill>
                  <a:srgbClr val="0F4C81"/>
                </a:solidFill>
                <a:latin typeface="Calibri" pitchFamily="34" charset="0"/>
                <a:ea typeface="Calibri" pitchFamily="34" charset="-122"/>
                <a:cs typeface="Calibri" pitchFamily="34" charset="-120"/>
              </a:rPr>
              <a:t>→</a:t>
            </a:r>
            <a:endParaRPr lang="en-US" sz="2000" dirty="0"/>
          </a:p>
        </p:txBody>
      </p:sp>
      <p:sp>
        <p:nvSpPr>
          <p:cNvPr id="11" name="Shape 9"/>
          <p:cNvSpPr/>
          <p:nvPr/>
        </p:nvSpPr>
        <p:spPr>
          <a:xfrm>
            <a:off x="2798064" y="1737360"/>
            <a:ext cx="2066544" cy="1737360"/>
          </a:xfrm>
          <a:prstGeom prst="rect">
            <a:avLst/>
          </a:prstGeom>
          <a:solidFill>
            <a:srgbClr val="F1F5F9"/>
          </a:solidFill>
          <a:ln w="12700">
            <a:solidFill>
              <a:srgbClr val="0F4C81"/>
            </a:solidFill>
            <a:prstDash val="solid"/>
          </a:ln>
        </p:spPr>
        <p:txBody>
          <a:bodyPr/>
          <a:lstStyle/>
          <a:p>
            <a:endParaRPr lang="en-US"/>
          </a:p>
        </p:txBody>
      </p:sp>
      <p:sp>
        <p:nvSpPr>
          <p:cNvPr id="12" name="Shape 10"/>
          <p:cNvSpPr/>
          <p:nvPr/>
        </p:nvSpPr>
        <p:spPr>
          <a:xfrm>
            <a:off x="2798064" y="1737360"/>
            <a:ext cx="2066544" cy="54864"/>
          </a:xfrm>
          <a:prstGeom prst="rect">
            <a:avLst/>
          </a:prstGeom>
          <a:solidFill>
            <a:srgbClr val="0F4C81"/>
          </a:solidFill>
          <a:ln w="12700">
            <a:solidFill>
              <a:srgbClr val="333333"/>
            </a:solidFill>
            <a:prstDash val="solid"/>
          </a:ln>
        </p:spPr>
        <p:txBody>
          <a:bodyPr/>
          <a:lstStyle/>
          <a:p>
            <a:endParaRPr lang="en-US"/>
          </a:p>
        </p:txBody>
      </p:sp>
      <p:sp>
        <p:nvSpPr>
          <p:cNvPr id="13" name="Text 11"/>
          <p:cNvSpPr/>
          <p:nvPr/>
        </p:nvSpPr>
        <p:spPr>
          <a:xfrm>
            <a:off x="2889504" y="1920240"/>
            <a:ext cx="1883664" cy="228600"/>
          </a:xfrm>
          <a:prstGeom prst="rect">
            <a:avLst/>
          </a:prstGeom>
          <a:noFill/>
          <a:ln/>
        </p:spPr>
        <p:txBody>
          <a:bodyPr wrap="square" lIns="0" tIns="0" rIns="0" bIns="0" rtlCol="0" anchor="ctr"/>
          <a:lstStyle/>
          <a:p>
            <a:pPr marL="0" indent="0">
              <a:buNone/>
            </a:pPr>
            <a:r>
              <a:rPr lang="en-US" sz="900" b="1" kern="0" spc="200" dirty="0">
                <a:solidFill>
                  <a:srgbClr val="0F4C81"/>
                </a:solidFill>
                <a:latin typeface="Calibri" pitchFamily="34" charset="0"/>
                <a:ea typeface="Calibri" pitchFamily="34" charset="-122"/>
                <a:cs typeface="Calibri" pitchFamily="34" charset="-120"/>
              </a:rPr>
              <a:t>KSQLDB</a:t>
            </a:r>
            <a:endParaRPr lang="en-US" sz="900" dirty="0"/>
          </a:p>
        </p:txBody>
      </p:sp>
      <p:sp>
        <p:nvSpPr>
          <p:cNvPr id="14" name="Text 12"/>
          <p:cNvSpPr/>
          <p:nvPr/>
        </p:nvSpPr>
        <p:spPr>
          <a:xfrm>
            <a:off x="2889504" y="2194560"/>
            <a:ext cx="1883664" cy="36576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1. Ingest stream</a:t>
            </a:r>
            <a:endParaRPr lang="en-US" sz="1300" dirty="0"/>
          </a:p>
        </p:txBody>
      </p:sp>
      <p:sp>
        <p:nvSpPr>
          <p:cNvPr id="15" name="Text 13"/>
          <p:cNvSpPr/>
          <p:nvPr/>
        </p:nvSpPr>
        <p:spPr>
          <a:xfrm>
            <a:off x="2889504" y="2606040"/>
            <a:ext cx="1883664" cy="82296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disease_events_stream</a:t>
            </a:r>
            <a:endParaRPr lang="en-US" sz="1000" dirty="0"/>
          </a:p>
          <a:p>
            <a:pPr marL="0" indent="0">
              <a:buNone/>
            </a:pPr>
            <a:r>
              <a:rPr lang="en-US" sz="1000" dirty="0">
                <a:solidFill>
                  <a:srgbClr val="334155"/>
                </a:solidFill>
                <a:latin typeface="Calibri" pitchFamily="34" charset="0"/>
                <a:ea typeface="Calibri" pitchFamily="34" charset="-122"/>
                <a:cs typeface="Calibri" pitchFamily="34" charset="-120"/>
              </a:rPr>
              <a:t>(JSON schema)</a:t>
            </a:r>
            <a:endParaRPr lang="en-US" sz="1000" dirty="0"/>
          </a:p>
        </p:txBody>
      </p:sp>
      <p:sp>
        <p:nvSpPr>
          <p:cNvPr id="16" name="Text 14"/>
          <p:cNvSpPr/>
          <p:nvPr/>
        </p:nvSpPr>
        <p:spPr>
          <a:xfrm>
            <a:off x="4818888" y="2423160"/>
            <a:ext cx="274320" cy="365760"/>
          </a:xfrm>
          <a:prstGeom prst="rect">
            <a:avLst/>
          </a:prstGeom>
          <a:noFill/>
          <a:ln/>
        </p:spPr>
        <p:txBody>
          <a:bodyPr wrap="square" lIns="0" tIns="0" rIns="0" bIns="0" rtlCol="0" anchor="ctr"/>
          <a:lstStyle/>
          <a:p>
            <a:pPr marL="0" indent="0" algn="ctr">
              <a:buNone/>
            </a:pPr>
            <a:r>
              <a:rPr lang="en-US" sz="2000" b="1" dirty="0">
                <a:solidFill>
                  <a:srgbClr val="0F4C81"/>
                </a:solidFill>
                <a:latin typeface="Calibri" pitchFamily="34" charset="0"/>
                <a:ea typeface="Calibri" pitchFamily="34" charset="-122"/>
                <a:cs typeface="Calibri" pitchFamily="34" charset="-120"/>
              </a:rPr>
              <a:t>→</a:t>
            </a:r>
            <a:endParaRPr lang="en-US" sz="2000" dirty="0"/>
          </a:p>
        </p:txBody>
      </p:sp>
      <p:sp>
        <p:nvSpPr>
          <p:cNvPr id="17" name="Shape 15"/>
          <p:cNvSpPr/>
          <p:nvPr/>
        </p:nvSpPr>
        <p:spPr>
          <a:xfrm>
            <a:off x="5047488" y="1737360"/>
            <a:ext cx="2066544" cy="1737360"/>
          </a:xfrm>
          <a:prstGeom prst="rect">
            <a:avLst/>
          </a:prstGeom>
          <a:solidFill>
            <a:srgbClr val="F1F5F9"/>
          </a:solidFill>
          <a:ln w="12700">
            <a:solidFill>
              <a:srgbClr val="0F4C81"/>
            </a:solidFill>
            <a:prstDash val="solid"/>
          </a:ln>
        </p:spPr>
        <p:txBody>
          <a:bodyPr/>
          <a:lstStyle/>
          <a:p>
            <a:endParaRPr lang="en-US"/>
          </a:p>
        </p:txBody>
      </p:sp>
      <p:sp>
        <p:nvSpPr>
          <p:cNvPr id="18" name="Shape 16"/>
          <p:cNvSpPr/>
          <p:nvPr/>
        </p:nvSpPr>
        <p:spPr>
          <a:xfrm>
            <a:off x="5047488" y="1737360"/>
            <a:ext cx="2066544" cy="54864"/>
          </a:xfrm>
          <a:prstGeom prst="rect">
            <a:avLst/>
          </a:prstGeom>
          <a:solidFill>
            <a:srgbClr val="0F4C81"/>
          </a:solidFill>
          <a:ln w="12700">
            <a:solidFill>
              <a:srgbClr val="333333"/>
            </a:solidFill>
            <a:prstDash val="solid"/>
          </a:ln>
        </p:spPr>
        <p:txBody>
          <a:bodyPr/>
          <a:lstStyle/>
          <a:p>
            <a:endParaRPr lang="en-US"/>
          </a:p>
        </p:txBody>
      </p:sp>
      <p:sp>
        <p:nvSpPr>
          <p:cNvPr id="19" name="Text 17"/>
          <p:cNvSpPr/>
          <p:nvPr/>
        </p:nvSpPr>
        <p:spPr>
          <a:xfrm>
            <a:off x="5138928" y="1920240"/>
            <a:ext cx="1883664" cy="228600"/>
          </a:xfrm>
          <a:prstGeom prst="rect">
            <a:avLst/>
          </a:prstGeom>
          <a:noFill/>
          <a:ln/>
        </p:spPr>
        <p:txBody>
          <a:bodyPr wrap="square" lIns="0" tIns="0" rIns="0" bIns="0" rtlCol="0" anchor="ctr"/>
          <a:lstStyle/>
          <a:p>
            <a:pPr marL="0" indent="0">
              <a:buNone/>
            </a:pPr>
            <a:r>
              <a:rPr lang="en-US" sz="900" b="1" kern="0" spc="200" dirty="0">
                <a:solidFill>
                  <a:srgbClr val="0F4C81"/>
                </a:solidFill>
                <a:latin typeface="Calibri" pitchFamily="34" charset="0"/>
                <a:ea typeface="Calibri" pitchFamily="34" charset="-122"/>
                <a:cs typeface="Calibri" pitchFamily="34" charset="-120"/>
              </a:rPr>
              <a:t>KSQLDB FILTER</a:t>
            </a:r>
            <a:endParaRPr lang="en-US" sz="900" dirty="0"/>
          </a:p>
        </p:txBody>
      </p:sp>
      <p:sp>
        <p:nvSpPr>
          <p:cNvPr id="20" name="Text 18"/>
          <p:cNvSpPr/>
          <p:nvPr/>
        </p:nvSpPr>
        <p:spPr>
          <a:xfrm>
            <a:off x="5138928" y="2194560"/>
            <a:ext cx="1883664" cy="36576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2. Validate</a:t>
            </a:r>
            <a:endParaRPr lang="en-US" sz="1300" dirty="0"/>
          </a:p>
        </p:txBody>
      </p:sp>
      <p:sp>
        <p:nvSpPr>
          <p:cNvPr id="21" name="Text 19"/>
          <p:cNvSpPr/>
          <p:nvPr/>
        </p:nvSpPr>
        <p:spPr>
          <a:xfrm>
            <a:off x="5138928" y="2606040"/>
            <a:ext cx="1883664" cy="82296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disease NOT NULL</a:t>
            </a:r>
            <a:endParaRPr lang="en-US" sz="1000" dirty="0"/>
          </a:p>
          <a:p>
            <a:pPr marL="0" indent="0">
              <a:buNone/>
            </a:pPr>
            <a:r>
              <a:rPr lang="en-US" sz="1000" dirty="0">
                <a:solidFill>
                  <a:srgbClr val="334155"/>
                </a:solidFill>
                <a:latin typeface="Calibri" pitchFamily="34" charset="0"/>
                <a:ea typeface="Calibri" pitchFamily="34" charset="-122"/>
                <a:cs typeface="Calibri" pitchFamily="34" charset="-120"/>
              </a:rPr>
              <a:t>cases ≥ 0</a:t>
            </a:r>
            <a:endParaRPr lang="en-US" sz="1000" dirty="0"/>
          </a:p>
        </p:txBody>
      </p:sp>
      <p:sp>
        <p:nvSpPr>
          <p:cNvPr id="22" name="Text 20"/>
          <p:cNvSpPr/>
          <p:nvPr/>
        </p:nvSpPr>
        <p:spPr>
          <a:xfrm>
            <a:off x="7068312" y="2423160"/>
            <a:ext cx="274320" cy="365760"/>
          </a:xfrm>
          <a:prstGeom prst="rect">
            <a:avLst/>
          </a:prstGeom>
          <a:noFill/>
          <a:ln/>
        </p:spPr>
        <p:txBody>
          <a:bodyPr wrap="square" lIns="0" tIns="0" rIns="0" bIns="0" rtlCol="0" anchor="ctr"/>
          <a:lstStyle/>
          <a:p>
            <a:pPr marL="0" indent="0" algn="ctr">
              <a:buNone/>
            </a:pPr>
            <a:r>
              <a:rPr lang="en-US" sz="2000" b="1" dirty="0">
                <a:solidFill>
                  <a:srgbClr val="0F4C81"/>
                </a:solidFill>
                <a:latin typeface="Calibri" pitchFamily="34" charset="0"/>
                <a:ea typeface="Calibri" pitchFamily="34" charset="-122"/>
                <a:cs typeface="Calibri" pitchFamily="34" charset="-120"/>
              </a:rPr>
              <a:t>→</a:t>
            </a:r>
            <a:endParaRPr lang="en-US" sz="2000" dirty="0"/>
          </a:p>
        </p:txBody>
      </p:sp>
      <p:sp>
        <p:nvSpPr>
          <p:cNvPr id="23" name="Shape 21"/>
          <p:cNvSpPr/>
          <p:nvPr/>
        </p:nvSpPr>
        <p:spPr>
          <a:xfrm>
            <a:off x="7296912" y="1737360"/>
            <a:ext cx="2066544" cy="1737360"/>
          </a:xfrm>
          <a:prstGeom prst="rect">
            <a:avLst/>
          </a:prstGeom>
          <a:solidFill>
            <a:srgbClr val="F1F5F9"/>
          </a:solidFill>
          <a:ln w="12700">
            <a:solidFill>
              <a:srgbClr val="0F4C81"/>
            </a:solidFill>
            <a:prstDash val="solid"/>
          </a:ln>
        </p:spPr>
        <p:txBody>
          <a:bodyPr/>
          <a:lstStyle/>
          <a:p>
            <a:endParaRPr lang="en-US"/>
          </a:p>
        </p:txBody>
      </p:sp>
      <p:sp>
        <p:nvSpPr>
          <p:cNvPr id="24" name="Shape 22"/>
          <p:cNvSpPr/>
          <p:nvPr/>
        </p:nvSpPr>
        <p:spPr>
          <a:xfrm>
            <a:off x="7296912" y="1737360"/>
            <a:ext cx="2066544" cy="54864"/>
          </a:xfrm>
          <a:prstGeom prst="rect">
            <a:avLst/>
          </a:prstGeom>
          <a:solidFill>
            <a:srgbClr val="0F4C81"/>
          </a:solidFill>
          <a:ln w="12700">
            <a:solidFill>
              <a:srgbClr val="333333"/>
            </a:solidFill>
            <a:prstDash val="solid"/>
          </a:ln>
        </p:spPr>
        <p:txBody>
          <a:bodyPr/>
          <a:lstStyle/>
          <a:p>
            <a:endParaRPr lang="en-US"/>
          </a:p>
        </p:txBody>
      </p:sp>
      <p:sp>
        <p:nvSpPr>
          <p:cNvPr id="25" name="Text 23"/>
          <p:cNvSpPr/>
          <p:nvPr/>
        </p:nvSpPr>
        <p:spPr>
          <a:xfrm>
            <a:off x="7388352" y="1920240"/>
            <a:ext cx="1883664" cy="228600"/>
          </a:xfrm>
          <a:prstGeom prst="rect">
            <a:avLst/>
          </a:prstGeom>
          <a:noFill/>
          <a:ln/>
        </p:spPr>
        <p:txBody>
          <a:bodyPr wrap="square" lIns="0" tIns="0" rIns="0" bIns="0" rtlCol="0" anchor="ctr"/>
          <a:lstStyle/>
          <a:p>
            <a:pPr marL="0" indent="0">
              <a:buNone/>
            </a:pPr>
            <a:r>
              <a:rPr lang="en-US" sz="900" b="1" kern="0" spc="200" dirty="0">
                <a:solidFill>
                  <a:srgbClr val="0F4C81"/>
                </a:solidFill>
                <a:latin typeface="Calibri" pitchFamily="34" charset="0"/>
                <a:ea typeface="Calibri" pitchFamily="34" charset="-122"/>
                <a:cs typeface="Calibri" pitchFamily="34" charset="-120"/>
              </a:rPr>
              <a:t>KSQLDB TABLE</a:t>
            </a:r>
            <a:endParaRPr lang="en-US" sz="900" dirty="0"/>
          </a:p>
        </p:txBody>
      </p:sp>
      <p:sp>
        <p:nvSpPr>
          <p:cNvPr id="26" name="Text 24"/>
          <p:cNvSpPr/>
          <p:nvPr/>
        </p:nvSpPr>
        <p:spPr>
          <a:xfrm>
            <a:off x="7388352" y="2194560"/>
            <a:ext cx="1883664" cy="36576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3. Windowed aggregate</a:t>
            </a:r>
            <a:endParaRPr lang="en-US" sz="1300" dirty="0"/>
          </a:p>
        </p:txBody>
      </p:sp>
      <p:sp>
        <p:nvSpPr>
          <p:cNvPr id="27" name="Text 25"/>
          <p:cNvSpPr/>
          <p:nvPr/>
        </p:nvSpPr>
        <p:spPr>
          <a:xfrm>
            <a:off x="7388352" y="2606040"/>
            <a:ext cx="1883664" cy="82296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weekly_national_summary</a:t>
            </a:r>
            <a:endParaRPr lang="en-US" sz="1000" dirty="0"/>
          </a:p>
          <a:p>
            <a:pPr marL="0" indent="0">
              <a:buNone/>
            </a:pPr>
            <a:r>
              <a:rPr lang="en-US" sz="1000" dirty="0">
                <a:solidFill>
                  <a:srgbClr val="334155"/>
                </a:solidFill>
                <a:latin typeface="Calibri" pitchFamily="34" charset="0"/>
                <a:ea typeface="Calibri" pitchFamily="34" charset="-122"/>
                <a:cs typeface="Calibri" pitchFamily="34" charset="-120"/>
              </a:rPr>
              <a:t>SUM by (disease, epi_week)</a:t>
            </a:r>
            <a:endParaRPr lang="en-US" sz="1000" dirty="0"/>
          </a:p>
        </p:txBody>
      </p:sp>
      <p:sp>
        <p:nvSpPr>
          <p:cNvPr id="28" name="Text 26"/>
          <p:cNvSpPr/>
          <p:nvPr/>
        </p:nvSpPr>
        <p:spPr>
          <a:xfrm>
            <a:off x="9317736" y="2423160"/>
            <a:ext cx="274320" cy="365760"/>
          </a:xfrm>
          <a:prstGeom prst="rect">
            <a:avLst/>
          </a:prstGeom>
          <a:noFill/>
          <a:ln/>
        </p:spPr>
        <p:txBody>
          <a:bodyPr wrap="square" lIns="0" tIns="0" rIns="0" bIns="0" rtlCol="0" anchor="ctr"/>
          <a:lstStyle/>
          <a:p>
            <a:pPr marL="0" indent="0" algn="ctr">
              <a:buNone/>
            </a:pPr>
            <a:r>
              <a:rPr lang="en-US" sz="2000" b="1" dirty="0">
                <a:solidFill>
                  <a:srgbClr val="0F4C81"/>
                </a:solidFill>
                <a:latin typeface="Calibri" pitchFamily="34" charset="0"/>
                <a:ea typeface="Calibri" pitchFamily="34" charset="-122"/>
                <a:cs typeface="Calibri" pitchFamily="34" charset="-120"/>
              </a:rPr>
              <a:t>→</a:t>
            </a:r>
            <a:endParaRPr lang="en-US" sz="2000" dirty="0"/>
          </a:p>
        </p:txBody>
      </p:sp>
      <p:sp>
        <p:nvSpPr>
          <p:cNvPr id="29" name="Shape 27"/>
          <p:cNvSpPr/>
          <p:nvPr/>
        </p:nvSpPr>
        <p:spPr>
          <a:xfrm>
            <a:off x="9546336" y="1737360"/>
            <a:ext cx="2066544" cy="1737360"/>
          </a:xfrm>
          <a:prstGeom prst="rect">
            <a:avLst/>
          </a:prstGeom>
          <a:solidFill>
            <a:srgbClr val="D6E4F0"/>
          </a:solidFill>
          <a:ln w="19050">
            <a:solidFill>
              <a:srgbClr val="0F4C81"/>
            </a:solidFill>
            <a:prstDash val="solid"/>
          </a:ln>
        </p:spPr>
        <p:txBody>
          <a:bodyPr/>
          <a:lstStyle/>
          <a:p>
            <a:endParaRPr lang="en-US"/>
          </a:p>
        </p:txBody>
      </p:sp>
      <p:sp>
        <p:nvSpPr>
          <p:cNvPr id="30" name="Shape 28"/>
          <p:cNvSpPr/>
          <p:nvPr/>
        </p:nvSpPr>
        <p:spPr>
          <a:xfrm>
            <a:off x="9546336" y="1737360"/>
            <a:ext cx="2066544" cy="54864"/>
          </a:xfrm>
          <a:prstGeom prst="rect">
            <a:avLst/>
          </a:prstGeom>
          <a:solidFill>
            <a:srgbClr val="0F4C81"/>
          </a:solidFill>
          <a:ln w="12700">
            <a:solidFill>
              <a:srgbClr val="333333"/>
            </a:solidFill>
            <a:prstDash val="solid"/>
          </a:ln>
        </p:spPr>
        <p:txBody>
          <a:bodyPr/>
          <a:lstStyle/>
          <a:p>
            <a:endParaRPr lang="en-US"/>
          </a:p>
        </p:txBody>
      </p:sp>
      <p:sp>
        <p:nvSpPr>
          <p:cNvPr id="31" name="Text 29"/>
          <p:cNvSpPr/>
          <p:nvPr/>
        </p:nvSpPr>
        <p:spPr>
          <a:xfrm>
            <a:off x="9637776" y="1920240"/>
            <a:ext cx="1883664" cy="228600"/>
          </a:xfrm>
          <a:prstGeom prst="rect">
            <a:avLst/>
          </a:prstGeom>
          <a:noFill/>
          <a:ln/>
        </p:spPr>
        <p:txBody>
          <a:bodyPr wrap="square" lIns="0" tIns="0" rIns="0" bIns="0" rtlCol="0" anchor="ctr"/>
          <a:lstStyle/>
          <a:p>
            <a:pPr marL="0" indent="0">
              <a:buNone/>
            </a:pPr>
            <a:r>
              <a:rPr lang="en-US" sz="900" b="1" kern="0" spc="200" dirty="0">
                <a:solidFill>
                  <a:srgbClr val="0F4C81"/>
                </a:solidFill>
                <a:latin typeface="Calibri" pitchFamily="34" charset="0"/>
                <a:ea typeface="Calibri" pitchFamily="34" charset="-122"/>
                <a:cs typeface="Calibri" pitchFamily="34" charset="-120"/>
              </a:rPr>
              <a:t>KSQLDB FILTER</a:t>
            </a:r>
            <a:endParaRPr lang="en-US" sz="900" dirty="0"/>
          </a:p>
        </p:txBody>
      </p:sp>
      <p:sp>
        <p:nvSpPr>
          <p:cNvPr id="32" name="Text 30"/>
          <p:cNvSpPr/>
          <p:nvPr/>
        </p:nvSpPr>
        <p:spPr>
          <a:xfrm>
            <a:off x="9637776" y="2194560"/>
            <a:ext cx="1883664" cy="36576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4. Anomaly stream</a:t>
            </a:r>
            <a:endParaRPr lang="en-US" sz="1300" dirty="0"/>
          </a:p>
        </p:txBody>
      </p:sp>
      <p:sp>
        <p:nvSpPr>
          <p:cNvPr id="33" name="Text 31"/>
          <p:cNvSpPr/>
          <p:nvPr/>
        </p:nvSpPr>
        <p:spPr>
          <a:xfrm>
            <a:off x="9637776" y="2606040"/>
            <a:ext cx="1883664" cy="82296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incidence_rate &gt; 50</a:t>
            </a:r>
            <a:endParaRPr lang="en-US" sz="1000" dirty="0"/>
          </a:p>
          <a:p>
            <a:pPr marL="0" indent="0">
              <a:buNone/>
            </a:pPr>
            <a:r>
              <a:rPr lang="en-US" sz="1000" dirty="0">
                <a:solidFill>
                  <a:srgbClr val="334155"/>
                </a:solidFill>
                <a:latin typeface="Calibri" pitchFamily="34" charset="0"/>
                <a:ea typeface="Calibri" pitchFamily="34" charset="-122"/>
                <a:cs typeface="Calibri" pitchFamily="34" charset="-120"/>
              </a:rPr>
              <a:t>→ anomaly_alerts</a:t>
            </a:r>
            <a:endParaRPr lang="en-US" sz="1000" dirty="0"/>
          </a:p>
        </p:txBody>
      </p:sp>
      <p:sp>
        <p:nvSpPr>
          <p:cNvPr id="34" name="Shape 32"/>
          <p:cNvSpPr/>
          <p:nvPr/>
        </p:nvSpPr>
        <p:spPr>
          <a:xfrm>
            <a:off x="548640" y="4023360"/>
            <a:ext cx="11064240" cy="1188720"/>
          </a:xfrm>
          <a:prstGeom prst="rect">
            <a:avLst/>
          </a:prstGeom>
          <a:solidFill>
            <a:srgbClr val="F1F5F9"/>
          </a:solidFill>
          <a:ln w="6350">
            <a:solidFill>
              <a:srgbClr val="CBD5E1"/>
            </a:solidFill>
            <a:prstDash val="solid"/>
          </a:ln>
        </p:spPr>
        <p:txBody>
          <a:bodyPr/>
          <a:lstStyle/>
          <a:p>
            <a:endParaRPr lang="en-US"/>
          </a:p>
        </p:txBody>
      </p:sp>
      <p:sp>
        <p:nvSpPr>
          <p:cNvPr id="35" name="Shape 33"/>
          <p:cNvSpPr/>
          <p:nvPr/>
        </p:nvSpPr>
        <p:spPr>
          <a:xfrm>
            <a:off x="548640" y="4023360"/>
            <a:ext cx="73152" cy="1188720"/>
          </a:xfrm>
          <a:prstGeom prst="rect">
            <a:avLst/>
          </a:prstGeom>
          <a:solidFill>
            <a:srgbClr val="0F4C81"/>
          </a:solidFill>
          <a:ln w="12700">
            <a:solidFill>
              <a:srgbClr val="333333"/>
            </a:solidFill>
            <a:prstDash val="solid"/>
          </a:ln>
        </p:spPr>
        <p:txBody>
          <a:bodyPr/>
          <a:lstStyle/>
          <a:p>
            <a:endParaRPr lang="en-US"/>
          </a:p>
        </p:txBody>
      </p:sp>
      <p:sp>
        <p:nvSpPr>
          <p:cNvPr id="36" name="Text 34"/>
          <p:cNvSpPr/>
          <p:nvPr/>
        </p:nvSpPr>
        <p:spPr>
          <a:xfrm>
            <a:off x="731520" y="4114800"/>
            <a:ext cx="10789920" cy="274320"/>
          </a:xfrm>
          <a:prstGeom prst="rect">
            <a:avLst/>
          </a:prstGeom>
          <a:noFill/>
          <a:ln/>
        </p:spPr>
        <p:txBody>
          <a:bodyPr wrap="square" lIns="0" tIns="0" rIns="0" bIns="0" rtlCol="0" anchor="ctr"/>
          <a:lstStyle/>
          <a:p>
            <a:pPr marL="0" indent="0">
              <a:buNone/>
            </a:pPr>
            <a:r>
              <a:rPr lang="en-US" sz="1000" b="1" kern="0" spc="300" dirty="0">
                <a:solidFill>
                  <a:srgbClr val="0F4C81"/>
                </a:solidFill>
                <a:latin typeface="Calibri" pitchFamily="34" charset="0"/>
                <a:ea typeface="Calibri" pitchFamily="34" charset="-122"/>
                <a:cs typeface="Calibri" pitchFamily="34" charset="-120"/>
              </a:rPr>
              <a:t>SERVER-SENT EVENTS (SSE)</a:t>
            </a:r>
            <a:endParaRPr lang="en-US" sz="1000" dirty="0"/>
          </a:p>
        </p:txBody>
      </p:sp>
      <p:sp>
        <p:nvSpPr>
          <p:cNvPr id="37" name="Text 35"/>
          <p:cNvSpPr/>
          <p:nvPr/>
        </p:nvSpPr>
        <p:spPr>
          <a:xfrm>
            <a:off x="731520" y="4434840"/>
            <a:ext cx="10789920" cy="731520"/>
          </a:xfrm>
          <a:prstGeom prst="rect">
            <a:avLst/>
          </a:prstGeom>
          <a:noFill/>
          <a:ln/>
        </p:spPr>
        <p:txBody>
          <a:bodyPr wrap="square" lIns="0" tIns="0" rIns="0" bIns="0" rtlCol="0" anchor="t"/>
          <a:lstStyle/>
          <a:p>
            <a:pPr marL="0" indent="0">
              <a:buNone/>
            </a:pPr>
            <a:r>
              <a:rPr lang="en-US" sz="1200" b="1" dirty="0">
                <a:solidFill>
                  <a:srgbClr val="334155"/>
                </a:solidFill>
                <a:latin typeface="Calibri" pitchFamily="34" charset="0"/>
                <a:ea typeface="Calibri" pitchFamily="34" charset="-122"/>
                <a:cs typeface="Calibri" pitchFamily="34" charset="-120"/>
              </a:rPr>
              <a:t>FastAPI </a:t>
            </a:r>
            <a:r>
              <a:rPr lang="en-US" sz="1200" dirty="0">
                <a:solidFill>
                  <a:srgbClr val="334155"/>
                </a:solidFill>
                <a:latin typeface="Calibri" pitchFamily="34" charset="0"/>
                <a:ea typeface="Calibri" pitchFamily="34" charset="-122"/>
                <a:cs typeface="Calibri" pitchFamily="34" charset="-120"/>
              </a:rPr>
              <a:t>consumes anomaly_alerts and weekly_national_summary → streams live events to the </a:t>
            </a:r>
            <a:r>
              <a:rPr lang="en-US" sz="1200" b="1" dirty="0">
                <a:solidFill>
                  <a:srgbClr val="334155"/>
                </a:solidFill>
                <a:latin typeface="Calibri" pitchFamily="34" charset="0"/>
                <a:ea typeface="Calibri" pitchFamily="34" charset="-122"/>
                <a:cs typeface="Calibri" pitchFamily="34" charset="-120"/>
              </a:rPr>
              <a:t>React dashboard </a:t>
            </a:r>
            <a:r>
              <a:rPr lang="en-US" sz="1200" dirty="0">
                <a:solidFill>
                  <a:srgbClr val="334155"/>
                </a:solidFill>
                <a:latin typeface="Calibri" pitchFamily="34" charset="0"/>
                <a:ea typeface="Calibri" pitchFamily="34" charset="-122"/>
                <a:cs typeface="Calibri" pitchFamily="34" charset="-120"/>
              </a:rPr>
              <a:t>via the </a:t>
            </a:r>
            <a:r>
              <a:rPr lang="en-US" sz="1200" dirty="0">
                <a:solidFill>
                  <a:srgbClr val="1E293B"/>
                </a:solidFill>
                <a:latin typeface="Consolas" pitchFamily="34" charset="0"/>
                <a:ea typeface="Consolas" pitchFamily="34" charset="-122"/>
                <a:cs typeface="Consolas" pitchFamily="34" charset="-120"/>
              </a:rPr>
              <a:t>/api/v1/stream/events</a:t>
            </a:r>
            <a:r>
              <a:rPr lang="en-US" sz="1200" dirty="0">
                <a:solidFill>
                  <a:srgbClr val="334155"/>
                </a:solidFill>
                <a:latin typeface="Calibri" pitchFamily="34" charset="0"/>
                <a:ea typeface="Calibri" pitchFamily="34" charset="-122"/>
                <a:cs typeface="Calibri" pitchFamily="34" charset="-120"/>
              </a:rPr>
              <a:t> SSE endpoint. Events appear in the UI with no polling.</a:t>
            </a:r>
            <a:endParaRPr lang="en-US" sz="1200" dirty="0"/>
          </a:p>
        </p:txBody>
      </p:sp>
      <p:sp>
        <p:nvSpPr>
          <p:cNvPr id="38" name="Shape 36"/>
          <p:cNvSpPr/>
          <p:nvPr/>
        </p:nvSpPr>
        <p:spPr>
          <a:xfrm>
            <a:off x="548640" y="5440680"/>
            <a:ext cx="11064240" cy="777240"/>
          </a:xfrm>
          <a:prstGeom prst="rect">
            <a:avLst/>
          </a:prstGeom>
          <a:solidFill>
            <a:srgbClr val="D6E4F0"/>
          </a:solidFill>
          <a:ln w="12700">
            <a:solidFill>
              <a:srgbClr val="333333"/>
            </a:solidFill>
            <a:prstDash val="solid"/>
          </a:ln>
        </p:spPr>
        <p:txBody>
          <a:bodyPr/>
          <a:lstStyle/>
          <a:p>
            <a:endParaRPr lang="en-US"/>
          </a:p>
        </p:txBody>
      </p:sp>
      <p:sp>
        <p:nvSpPr>
          <p:cNvPr id="39" name="Text 37"/>
          <p:cNvSpPr/>
          <p:nvPr/>
        </p:nvSpPr>
        <p:spPr>
          <a:xfrm>
            <a:off x="731520" y="5532120"/>
            <a:ext cx="10789920" cy="640080"/>
          </a:xfrm>
          <a:prstGeom prst="rect">
            <a:avLst/>
          </a:prstGeom>
          <a:noFill/>
          <a:ln/>
        </p:spPr>
        <p:txBody>
          <a:bodyPr wrap="square" lIns="0" tIns="0" rIns="0" bIns="0" rtlCol="0" anchor="ctr"/>
          <a:lstStyle/>
          <a:p>
            <a:pPr marL="0" indent="0">
              <a:buNone/>
            </a:pPr>
            <a:r>
              <a:rPr lang="en-US" sz="1200" b="1" dirty="0">
                <a:solidFill>
                  <a:srgbClr val="0F4C81"/>
                </a:solidFill>
                <a:latin typeface="Calibri" pitchFamily="34" charset="0"/>
                <a:ea typeface="Calibri" pitchFamily="34" charset="-122"/>
                <a:cs typeface="Calibri" pitchFamily="34" charset="-120"/>
              </a:rPr>
              <a:t>Persistent queries, not polling. </a:t>
            </a:r>
            <a:r>
              <a:rPr lang="en-US" sz="1200" dirty="0">
                <a:solidFill>
                  <a:srgbClr val="334155"/>
                </a:solidFill>
                <a:latin typeface="Calibri" pitchFamily="34" charset="0"/>
                <a:ea typeface="Calibri" pitchFamily="34" charset="-122"/>
                <a:cs typeface="Calibri" pitchFamily="34" charset="-120"/>
              </a:rPr>
              <a:t>Each stage is a ksqlDB </a:t>
            </a:r>
            <a:r>
              <a:rPr lang="en-US" sz="1200" dirty="0">
                <a:solidFill>
                  <a:srgbClr val="1E293B"/>
                </a:solidFill>
                <a:latin typeface="Consolas" pitchFamily="34" charset="0"/>
                <a:ea typeface="Consolas" pitchFamily="34" charset="-122"/>
                <a:cs typeface="Consolas" pitchFamily="34" charset="-120"/>
              </a:rPr>
              <a:t>CREATE STREAM / CREATE TABLE</a:t>
            </a:r>
            <a:r>
              <a:rPr lang="en-US" sz="1200" dirty="0">
                <a:solidFill>
                  <a:srgbClr val="334155"/>
                </a:solidFill>
                <a:latin typeface="Calibri" pitchFamily="34" charset="0"/>
                <a:ea typeface="Calibri" pitchFamily="34" charset="-122"/>
                <a:cs typeface="Calibri" pitchFamily="34" charset="-120"/>
              </a:rPr>
              <a:t> statement that runs continuously. Incoming events cascade through the pipeline in real time.</a:t>
            </a:r>
            <a:endParaRPr lang="en-US" sz="1200" dirty="0"/>
          </a:p>
        </p:txBody>
      </p:sp>
      <p:sp>
        <p:nvSpPr>
          <p:cNvPr id="40" name="Text 38"/>
          <p:cNvSpPr/>
          <p:nvPr/>
        </p:nvSpPr>
        <p:spPr>
          <a:xfrm>
            <a:off x="548640" y="6446520"/>
            <a:ext cx="73152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Anwar Debes · IKT453 · University of Agder</a:t>
            </a:r>
            <a:endParaRPr lang="en-US" sz="900" dirty="0"/>
          </a:p>
        </p:txBody>
      </p:sp>
      <p:sp>
        <p:nvSpPr>
          <p:cNvPr id="41" name="Text 39"/>
          <p:cNvSpPr/>
          <p:nvPr/>
        </p:nvSpPr>
        <p:spPr>
          <a:xfrm>
            <a:off x="10789920" y="6446520"/>
            <a:ext cx="86868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11 / 20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02920"/>
          </a:xfrm>
          <a:prstGeom prst="rect">
            <a:avLst/>
          </a:prstGeom>
          <a:noFill/>
          <a:ln/>
        </p:spPr>
        <p:txBody>
          <a:bodyPr wrap="square" lIns="0" tIns="0" rIns="0" bIns="0" rtlCol="0" anchor="ctr"/>
          <a:lstStyle/>
          <a:p>
            <a:pPr marL="0" indent="0" algn="l">
              <a:buNone/>
            </a:pPr>
            <a:r>
              <a:rPr lang="en-US" sz="2800" b="1" dirty="0">
                <a:solidFill>
                  <a:srgbClr val="1E293B"/>
                </a:solidFill>
                <a:latin typeface="Cambria" pitchFamily="34" charset="0"/>
                <a:ea typeface="Cambria" pitchFamily="34" charset="-122"/>
                <a:cs typeface="Cambria" pitchFamily="34" charset="-120"/>
              </a:rPr>
              <a:t>Unified REST API</a:t>
            </a:r>
            <a:endParaRPr lang="en-US" sz="2800" dirty="0"/>
          </a:p>
        </p:txBody>
      </p:sp>
      <p:sp>
        <p:nvSpPr>
          <p:cNvPr id="3" name="Text 1"/>
          <p:cNvSpPr/>
          <p:nvPr/>
        </p:nvSpPr>
        <p:spPr>
          <a:xfrm>
            <a:off x="548640" y="841248"/>
            <a:ext cx="11064240" cy="292608"/>
          </a:xfrm>
          <a:prstGeom prst="rect">
            <a:avLst/>
          </a:prstGeom>
          <a:noFill/>
          <a:ln/>
        </p:spPr>
        <p:txBody>
          <a:bodyPr wrap="square" lIns="0" tIns="0" rIns="0" bIns="0" rtlCol="0" anchor="ctr"/>
          <a:lstStyle/>
          <a:p>
            <a:pPr marL="0" indent="0" algn="l">
              <a:buNone/>
            </a:pPr>
            <a:r>
              <a:rPr lang="en-US" sz="1300" i="1" dirty="0">
                <a:solidFill>
                  <a:srgbClr val="64748B"/>
                </a:solidFill>
                <a:latin typeface="Calibri" pitchFamily="34" charset="0"/>
                <a:ea typeface="Calibri" pitchFamily="34" charset="-122"/>
                <a:cs typeface="Calibri" pitchFamily="34" charset="-120"/>
              </a:rPr>
              <a:t>One façade over three backends and the comparison engine</a:t>
            </a:r>
            <a:endParaRPr lang="en-US" sz="1300" dirty="0"/>
          </a:p>
        </p:txBody>
      </p:sp>
      <p:sp>
        <p:nvSpPr>
          <p:cNvPr id="4" name="Shape 2"/>
          <p:cNvSpPr/>
          <p:nvPr/>
        </p:nvSpPr>
        <p:spPr>
          <a:xfrm>
            <a:off x="548640" y="1207008"/>
            <a:ext cx="11064240" cy="0"/>
          </a:xfrm>
          <a:prstGeom prst="line">
            <a:avLst/>
          </a:prstGeom>
          <a:noFill/>
          <a:ln w="9525">
            <a:solidFill>
              <a:srgbClr val="CBD5E1"/>
            </a:solidFill>
            <a:prstDash val="solid"/>
          </a:ln>
        </p:spPr>
        <p:txBody>
          <a:bodyPr/>
          <a:lstStyle/>
          <a:p>
            <a:endParaRPr lang="en-US"/>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6217920" cy="2987040"/>
        </p:xfrm>
        <a:graphic>
          <a:graphicData uri="http://schemas.openxmlformats.org/drawingml/2006/table">
            <a:tbl>
              <a:tblPr/>
              <a:tblGrid>
                <a:gridCol w="82296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tblGrid>
              <a:tr h="32004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Method</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4C81"/>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Endpoint</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4C81"/>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Purpose</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4C81"/>
                    </a:solidFill>
                  </a:tcPr>
                </a:tc>
                <a:extLst>
                  <a:ext uri="{0D108BD9-81ED-4DB2-BD59-A6C34878D82A}">
                    <a16:rowId xmlns:a16="http://schemas.microsoft.com/office/drawing/2014/main" val="10000"/>
                  </a:ext>
                </a:extLst>
              </a:tr>
              <a:tr h="320040">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GET</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00" dirty="0">
                          <a:solidFill>
                            <a:srgbClr val="1E293B"/>
                          </a:solidFill>
                          <a:latin typeface="Consolas" pitchFamily="34" charset="0"/>
                          <a:ea typeface="Consolas" pitchFamily="34" charset="-122"/>
                          <a:cs typeface="Consolas" pitchFamily="34" charset="-120"/>
                        </a:rPr>
                        <a:t>/api/v1/health</a:t>
                      </a:r>
                      <a:endParaRPr lang="en-US" sz="1000" dirty="0">
                        <a:latin typeface="Consolas" charset="0"/>
                        <a:ea typeface="Consolas" charset="0"/>
                        <a:cs typeface="Consolas"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Backend connectivity status</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0040">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GET</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1000" dirty="0">
                          <a:solidFill>
                            <a:srgbClr val="1E293B"/>
                          </a:solidFill>
                          <a:latin typeface="Consolas" pitchFamily="34" charset="0"/>
                          <a:ea typeface="Consolas" pitchFamily="34" charset="-122"/>
                          <a:cs typeface="Consolas" pitchFamily="34" charset="-120"/>
                        </a:rPr>
                        <a:t>/api/v1/queries</a:t>
                      </a:r>
                      <a:endParaRPr lang="en-US" sz="1000" dirty="0">
                        <a:latin typeface="Consolas" charset="0"/>
                        <a:ea typeface="Consolas" charset="0"/>
                        <a:cs typeface="Consolas"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List all 13 queries with metadata</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320040">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POST</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00" dirty="0">
                          <a:solidFill>
                            <a:srgbClr val="1E293B"/>
                          </a:solidFill>
                          <a:latin typeface="Consolas" pitchFamily="34" charset="0"/>
                          <a:ea typeface="Consolas" pitchFamily="34" charset="-122"/>
                          <a:cs typeface="Consolas" pitchFamily="34" charset="-120"/>
                        </a:rPr>
                        <a:t>/api/v1/query</a:t>
                      </a:r>
                      <a:endParaRPr lang="en-US" sz="1000" dirty="0">
                        <a:latin typeface="Consolas" charset="0"/>
                        <a:ea typeface="Consolas" charset="0"/>
                        <a:cs typeface="Consolas"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Execute query on one backend</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0040">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POST</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1000" dirty="0">
                          <a:solidFill>
                            <a:srgbClr val="1E293B"/>
                          </a:solidFill>
                          <a:latin typeface="Consolas" pitchFamily="34" charset="0"/>
                          <a:ea typeface="Consolas" pitchFamily="34" charset="-122"/>
                          <a:cs typeface="Consolas" pitchFamily="34" charset="-120"/>
                        </a:rPr>
                        <a:t>/api/v1/compare</a:t>
                      </a:r>
                      <a:endParaRPr lang="en-US" sz="1000" dirty="0">
                        <a:latin typeface="Consolas" charset="0"/>
                        <a:ea typeface="Consolas" charset="0"/>
                        <a:cs typeface="Consolas"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Run on all three backends concurrently</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extLst>
                  <a:ext uri="{0D108BD9-81ED-4DB2-BD59-A6C34878D82A}">
                    <a16:rowId xmlns:a16="http://schemas.microsoft.com/office/drawing/2014/main" val="10004"/>
                  </a:ext>
                </a:extLst>
              </a:tr>
              <a:tr h="320040">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POST</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00" dirty="0">
                          <a:solidFill>
                            <a:srgbClr val="1E293B"/>
                          </a:solidFill>
                          <a:latin typeface="Consolas" pitchFamily="34" charset="0"/>
                          <a:ea typeface="Consolas" pitchFamily="34" charset="-122"/>
                          <a:cs typeface="Consolas" pitchFamily="34" charset="-120"/>
                        </a:rPr>
                        <a:t>/api/v1/olap/{op}</a:t>
                      </a:r>
                      <a:endParaRPr lang="en-US" sz="1000" dirty="0">
                        <a:latin typeface="Consolas" charset="0"/>
                        <a:ea typeface="Consolas" charset="0"/>
                        <a:cs typeface="Consolas"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OLAP operations (slice, dice, …)</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0040">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GET</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1000" dirty="0">
                          <a:solidFill>
                            <a:srgbClr val="1E293B"/>
                          </a:solidFill>
                          <a:latin typeface="Consolas" pitchFamily="34" charset="0"/>
                          <a:ea typeface="Consolas" pitchFamily="34" charset="-122"/>
                          <a:cs typeface="Consolas" pitchFamily="34" charset="-120"/>
                        </a:rPr>
                        <a:t>/api/v1/metadata/{backend}</a:t>
                      </a:r>
                      <a:endParaRPr lang="en-US" sz="1000" dirty="0">
                        <a:latin typeface="Consolas" charset="0"/>
                        <a:ea typeface="Consolas" charset="0"/>
                        <a:cs typeface="Consolas"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Schema introspection</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extLst>
                  <a:ext uri="{0D108BD9-81ED-4DB2-BD59-A6C34878D82A}">
                    <a16:rowId xmlns:a16="http://schemas.microsoft.com/office/drawing/2014/main" val="10006"/>
                  </a:ext>
                </a:extLst>
              </a:tr>
              <a:tr h="320040">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POST</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00" dirty="0">
                          <a:solidFill>
                            <a:srgbClr val="1E293B"/>
                          </a:solidFill>
                          <a:latin typeface="Consolas" pitchFamily="34" charset="0"/>
                          <a:ea typeface="Consolas" pitchFamily="34" charset="-122"/>
                          <a:cs typeface="Consolas" pitchFamily="34" charset="-120"/>
                        </a:rPr>
                        <a:t>/api/v1/batch/refresh-summaries</a:t>
                      </a:r>
                      <a:endParaRPr lang="en-US" sz="1000" dirty="0">
                        <a:latin typeface="Consolas" charset="0"/>
                        <a:ea typeface="Consolas" charset="0"/>
                        <a:cs typeface="Consolas"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Refresh materialized views</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20040">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GET</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1000" dirty="0">
                          <a:solidFill>
                            <a:srgbClr val="1E293B"/>
                          </a:solidFill>
                          <a:latin typeface="Consolas" pitchFamily="34" charset="0"/>
                          <a:ea typeface="Consolas" pitchFamily="34" charset="-122"/>
                          <a:cs typeface="Consolas" pitchFamily="34" charset="-120"/>
                        </a:rPr>
                        <a:t>/api/v1/stream/events</a:t>
                      </a:r>
                      <a:endParaRPr lang="en-US" sz="1000" dirty="0">
                        <a:latin typeface="Consolas" charset="0"/>
                        <a:ea typeface="Consolas" charset="0"/>
                        <a:cs typeface="Consolas"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SSE real-time Kafka feed</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extLst>
                  <a:ext uri="{0D108BD9-81ED-4DB2-BD59-A6C34878D82A}">
                    <a16:rowId xmlns:a16="http://schemas.microsoft.com/office/drawing/2014/main" val="10008"/>
                  </a:ext>
                </a:extLst>
              </a:tr>
            </a:tbl>
          </a:graphicData>
        </a:graphic>
      </p:graphicFrame>
      <p:sp>
        <p:nvSpPr>
          <p:cNvPr id="6" name="Shape 3"/>
          <p:cNvSpPr/>
          <p:nvPr/>
        </p:nvSpPr>
        <p:spPr>
          <a:xfrm>
            <a:off x="7040880" y="1508760"/>
            <a:ext cx="4572000" cy="4617720"/>
          </a:xfrm>
          <a:prstGeom prst="rect">
            <a:avLst/>
          </a:prstGeom>
          <a:solidFill>
            <a:srgbClr val="F1F5F9"/>
          </a:solidFill>
          <a:ln w="6350">
            <a:solidFill>
              <a:srgbClr val="CBD5E1"/>
            </a:solidFill>
            <a:prstDash val="solid"/>
          </a:ln>
        </p:spPr>
        <p:txBody>
          <a:bodyPr/>
          <a:lstStyle/>
          <a:p>
            <a:endParaRPr lang="en-US"/>
          </a:p>
        </p:txBody>
      </p:sp>
      <p:sp>
        <p:nvSpPr>
          <p:cNvPr id="7" name="Shape 4"/>
          <p:cNvSpPr/>
          <p:nvPr/>
        </p:nvSpPr>
        <p:spPr>
          <a:xfrm>
            <a:off x="7040880" y="1508760"/>
            <a:ext cx="73152" cy="4617720"/>
          </a:xfrm>
          <a:prstGeom prst="rect">
            <a:avLst/>
          </a:prstGeom>
          <a:solidFill>
            <a:srgbClr val="0F4C81"/>
          </a:solidFill>
          <a:ln w="12700">
            <a:solidFill>
              <a:srgbClr val="333333"/>
            </a:solidFill>
            <a:prstDash val="solid"/>
          </a:ln>
        </p:spPr>
        <p:txBody>
          <a:bodyPr/>
          <a:lstStyle/>
          <a:p>
            <a:endParaRPr lang="en-US"/>
          </a:p>
        </p:txBody>
      </p:sp>
      <p:sp>
        <p:nvSpPr>
          <p:cNvPr id="8" name="Text 5"/>
          <p:cNvSpPr/>
          <p:nvPr/>
        </p:nvSpPr>
        <p:spPr>
          <a:xfrm>
            <a:off x="7269480" y="1645920"/>
            <a:ext cx="4297680" cy="274320"/>
          </a:xfrm>
          <a:prstGeom prst="rect">
            <a:avLst/>
          </a:prstGeom>
          <a:noFill/>
          <a:ln/>
        </p:spPr>
        <p:txBody>
          <a:bodyPr wrap="square" lIns="0" tIns="0" rIns="0" bIns="0" rtlCol="0" anchor="ctr"/>
          <a:lstStyle/>
          <a:p>
            <a:pPr marL="0" indent="0">
              <a:buNone/>
            </a:pPr>
            <a:r>
              <a:rPr lang="en-US" sz="1000" b="1" kern="0" spc="300" dirty="0">
                <a:solidFill>
                  <a:srgbClr val="0F4C81"/>
                </a:solidFill>
                <a:latin typeface="Calibri" pitchFamily="34" charset="0"/>
                <a:ea typeface="Calibri" pitchFamily="34" charset="-122"/>
                <a:cs typeface="Calibri" pitchFamily="34" charset="-120"/>
              </a:rPr>
              <a:t>THE COMPARISON ENGINE</a:t>
            </a:r>
            <a:endParaRPr lang="en-US" sz="1000" dirty="0"/>
          </a:p>
        </p:txBody>
      </p:sp>
      <p:sp>
        <p:nvSpPr>
          <p:cNvPr id="9" name="Text 6"/>
          <p:cNvSpPr/>
          <p:nvPr/>
        </p:nvSpPr>
        <p:spPr>
          <a:xfrm>
            <a:off x="7269480" y="1920240"/>
            <a:ext cx="4297680" cy="365760"/>
          </a:xfrm>
          <a:prstGeom prst="rect">
            <a:avLst/>
          </a:prstGeom>
          <a:noFill/>
          <a:ln/>
        </p:spPr>
        <p:txBody>
          <a:bodyPr wrap="square" lIns="0" tIns="0" rIns="0" bIns="0" rtlCol="0" anchor="ctr"/>
          <a:lstStyle/>
          <a:p>
            <a:pPr marL="0" indent="0">
              <a:buNone/>
            </a:pPr>
            <a:r>
              <a:rPr lang="en-US" sz="1600" b="1" dirty="0">
                <a:solidFill>
                  <a:srgbClr val="1E293B"/>
                </a:solidFill>
                <a:latin typeface="Consolas" pitchFamily="34" charset="0"/>
                <a:ea typeface="Consolas" pitchFamily="34" charset="-122"/>
                <a:cs typeface="Consolas" pitchFamily="34" charset="-120"/>
              </a:rPr>
              <a:t>/api/v1/compare</a:t>
            </a:r>
            <a:endParaRPr lang="en-US" sz="1600" dirty="0"/>
          </a:p>
        </p:txBody>
      </p:sp>
      <p:sp>
        <p:nvSpPr>
          <p:cNvPr id="10" name="Text 7"/>
          <p:cNvSpPr/>
          <p:nvPr/>
        </p:nvSpPr>
        <p:spPr>
          <a:xfrm>
            <a:off x="7269480" y="2377440"/>
            <a:ext cx="4297680" cy="73152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One logical query ID → dispatched to all three backends in parallel using a ThreadPoolExecutor (3 workers).</a:t>
            </a:r>
            <a:endParaRPr lang="en-US" sz="1200" dirty="0"/>
          </a:p>
        </p:txBody>
      </p:sp>
      <p:sp>
        <p:nvSpPr>
          <p:cNvPr id="11" name="Text 8"/>
          <p:cNvSpPr/>
          <p:nvPr/>
        </p:nvSpPr>
        <p:spPr>
          <a:xfrm>
            <a:off x="7269480" y="3246120"/>
            <a:ext cx="4297680" cy="274320"/>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Each worker returns:</a:t>
            </a:r>
            <a:endParaRPr lang="en-US" sz="1100" dirty="0"/>
          </a:p>
        </p:txBody>
      </p:sp>
      <p:sp>
        <p:nvSpPr>
          <p:cNvPr id="12" name="Text 9"/>
          <p:cNvSpPr/>
          <p:nvPr/>
        </p:nvSpPr>
        <p:spPr>
          <a:xfrm>
            <a:off x="7269480" y="3566160"/>
            <a:ext cx="4297680" cy="1554480"/>
          </a:xfrm>
          <a:prstGeom prst="rect">
            <a:avLst/>
          </a:prstGeom>
          <a:noFill/>
          <a:ln/>
        </p:spPr>
        <p:txBody>
          <a:bodyPr wrap="square" lIns="0" tIns="0" rIns="0" bIns="0" rtlCol="0" anchor="ctr"/>
          <a:lstStyle/>
          <a:p>
            <a:pPr marL="342900" indent="-342900">
              <a:spcAft>
                <a:spcPts val="500"/>
              </a:spcAft>
              <a:buSzPct val="100000"/>
              <a:buChar char="■"/>
            </a:pPr>
            <a:r>
              <a:rPr lang="en-US" sz="1100" dirty="0">
                <a:solidFill>
                  <a:srgbClr val="1E293B"/>
                </a:solidFill>
                <a:latin typeface="Consolas" pitchFamily="34" charset="0"/>
                <a:ea typeface="Consolas" pitchFamily="34" charset="-122"/>
                <a:cs typeface="Consolas" pitchFamily="34" charset="-120"/>
              </a:rPr>
              <a:t>results </a:t>
            </a:r>
            <a:r>
              <a:rPr lang="en-US" sz="1100" dirty="0">
                <a:solidFill>
                  <a:srgbClr val="334155"/>
                </a:solidFill>
                <a:latin typeface="Calibri" pitchFamily="34" charset="0"/>
                <a:ea typeface="Calibri" pitchFamily="34" charset="-122"/>
                <a:cs typeface="Calibri" pitchFamily="34" charset="-120"/>
              </a:rPr>
              <a:t> normalized row set</a:t>
            </a:r>
            <a:endParaRPr lang="en-US" sz="1100" dirty="0"/>
          </a:p>
          <a:p>
            <a:pPr marL="0" indent="0">
              <a:spcAft>
                <a:spcPts val="500"/>
              </a:spcAft>
              <a:buNone/>
            </a:pPr>
            <a:r>
              <a:rPr lang="en-US" sz="1100" dirty="0">
                <a:solidFill>
                  <a:srgbClr val="1E293B"/>
                </a:solidFill>
                <a:latin typeface="Consolas" pitchFamily="34" charset="0"/>
                <a:ea typeface="Consolas" pitchFamily="34" charset="-122"/>
                <a:cs typeface="Consolas" pitchFamily="34" charset="-120"/>
              </a:rPr>
              <a:t>execution_time_ms </a:t>
            </a:r>
            <a:r>
              <a:rPr lang="en-US" sz="1100" dirty="0">
                <a:solidFill>
                  <a:srgbClr val="334155"/>
                </a:solidFill>
                <a:latin typeface="Calibri" pitchFamily="34" charset="0"/>
                <a:ea typeface="Calibri" pitchFamily="34" charset="-122"/>
                <a:cs typeface="Calibri" pitchFamily="34" charset="-120"/>
              </a:rPr>
              <a:t> measured locally</a:t>
            </a:r>
            <a:endParaRPr lang="en-US" sz="1100" dirty="0"/>
          </a:p>
          <a:p>
            <a:pPr marL="0" indent="0">
              <a:spcAft>
                <a:spcPts val="500"/>
              </a:spcAft>
              <a:buNone/>
            </a:pPr>
            <a:r>
              <a:rPr lang="en-US" sz="1100" dirty="0">
                <a:solidFill>
                  <a:srgbClr val="1E293B"/>
                </a:solidFill>
                <a:latin typeface="Consolas" pitchFamily="34" charset="0"/>
                <a:ea typeface="Consolas" pitchFamily="34" charset="-122"/>
                <a:cs typeface="Consolas" pitchFamily="34" charset="-120"/>
              </a:rPr>
              <a:t>query_text </a:t>
            </a:r>
            <a:r>
              <a:rPr lang="en-US" sz="1100" dirty="0">
                <a:solidFill>
                  <a:srgbClr val="334155"/>
                </a:solidFill>
                <a:latin typeface="Calibri" pitchFamily="34" charset="0"/>
                <a:ea typeface="Calibri" pitchFamily="34" charset="-122"/>
                <a:cs typeface="Calibri" pitchFamily="34" charset="-120"/>
              </a:rPr>
              <a:t> the native SQL / pipeline / Cypher</a:t>
            </a:r>
            <a:endParaRPr lang="en-US" sz="1100" dirty="0"/>
          </a:p>
        </p:txBody>
      </p:sp>
      <p:sp>
        <p:nvSpPr>
          <p:cNvPr id="5" name="Text 10"/>
          <p:cNvSpPr/>
          <p:nvPr/>
        </p:nvSpPr>
        <p:spPr>
          <a:xfrm>
            <a:off x="7269480" y="5257800"/>
            <a:ext cx="4297680" cy="77724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This is why the project can claim an empirical comparison rather than a theoretical one the dashboard lets you run the same question against the three paradigms side by side and see the execution time and the native query text.</a:t>
            </a:r>
            <a:endParaRPr lang="en-US" sz="1100" dirty="0"/>
          </a:p>
        </p:txBody>
      </p:sp>
      <p:sp>
        <p:nvSpPr>
          <p:cNvPr id="14" name="Text 11"/>
          <p:cNvSpPr/>
          <p:nvPr/>
        </p:nvSpPr>
        <p:spPr>
          <a:xfrm>
            <a:off x="548640" y="6446520"/>
            <a:ext cx="73152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Anwar Debes · IKT453 · University of Agder</a:t>
            </a:r>
            <a:endParaRPr lang="en-US" sz="900" dirty="0"/>
          </a:p>
        </p:txBody>
      </p:sp>
      <p:sp>
        <p:nvSpPr>
          <p:cNvPr id="15" name="Text 12"/>
          <p:cNvSpPr/>
          <p:nvPr/>
        </p:nvSpPr>
        <p:spPr>
          <a:xfrm>
            <a:off x="10789920" y="6446520"/>
            <a:ext cx="86868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12 / 20</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02920"/>
          </a:xfrm>
          <a:prstGeom prst="rect">
            <a:avLst/>
          </a:prstGeom>
          <a:noFill/>
          <a:ln/>
        </p:spPr>
        <p:txBody>
          <a:bodyPr wrap="square" lIns="0" tIns="0" rIns="0" bIns="0" rtlCol="0" anchor="ctr"/>
          <a:lstStyle/>
          <a:p>
            <a:pPr marL="0" indent="0" algn="l">
              <a:buNone/>
            </a:pPr>
            <a:r>
              <a:rPr lang="en-US" sz="2800" b="1" dirty="0">
                <a:solidFill>
                  <a:srgbClr val="1E293B"/>
                </a:solidFill>
                <a:latin typeface="Cambria" pitchFamily="34" charset="0"/>
                <a:ea typeface="Cambria" pitchFamily="34" charset="-122"/>
                <a:cs typeface="Cambria" pitchFamily="34" charset="-120"/>
              </a:rPr>
              <a:t>Decision Support Queries</a:t>
            </a:r>
            <a:endParaRPr lang="en-US" sz="2800" dirty="0"/>
          </a:p>
        </p:txBody>
      </p:sp>
      <p:sp>
        <p:nvSpPr>
          <p:cNvPr id="3" name="Text 1"/>
          <p:cNvSpPr/>
          <p:nvPr/>
        </p:nvSpPr>
        <p:spPr>
          <a:xfrm>
            <a:off x="548640" y="841248"/>
            <a:ext cx="11064240" cy="292608"/>
          </a:xfrm>
          <a:prstGeom prst="rect">
            <a:avLst/>
          </a:prstGeom>
          <a:noFill/>
          <a:ln/>
        </p:spPr>
        <p:txBody>
          <a:bodyPr wrap="square" lIns="0" tIns="0" rIns="0" bIns="0" rtlCol="0" anchor="ctr"/>
          <a:lstStyle/>
          <a:p>
            <a:pPr marL="0" indent="0" algn="l">
              <a:buNone/>
            </a:pPr>
            <a:r>
              <a:rPr lang="en-US" sz="1300" i="1" dirty="0">
                <a:solidFill>
                  <a:srgbClr val="64748B"/>
                </a:solidFill>
                <a:latin typeface="Calibri" pitchFamily="34" charset="0"/>
                <a:ea typeface="Calibri" pitchFamily="34" charset="-122"/>
                <a:cs typeface="Calibri" pitchFamily="34" charset="-120"/>
              </a:rPr>
              <a:t>Ten cross-backend, three graph-only 13 in total</a:t>
            </a:r>
            <a:endParaRPr lang="en-US" sz="1300" dirty="0"/>
          </a:p>
        </p:txBody>
      </p:sp>
      <p:sp>
        <p:nvSpPr>
          <p:cNvPr id="4" name="Shape 2"/>
          <p:cNvSpPr/>
          <p:nvPr/>
        </p:nvSpPr>
        <p:spPr>
          <a:xfrm>
            <a:off x="548640" y="1207008"/>
            <a:ext cx="11064240" cy="0"/>
          </a:xfrm>
          <a:prstGeom prst="line">
            <a:avLst/>
          </a:prstGeom>
          <a:noFill/>
          <a:ln w="9525">
            <a:solidFill>
              <a:srgbClr val="CBD5E1"/>
            </a:solidFill>
            <a:prstDash val="solid"/>
          </a:ln>
        </p:spPr>
        <p:txBody>
          <a:bodyPr/>
          <a:lstStyle/>
          <a:p>
            <a:endParaRPr lang="en-US"/>
          </a:p>
        </p:txBody>
      </p:sp>
      <p:sp>
        <p:nvSpPr>
          <p:cNvPr id="5" name="Text 3"/>
          <p:cNvSpPr/>
          <p:nvPr/>
        </p:nvSpPr>
        <p:spPr>
          <a:xfrm>
            <a:off x="548640" y="1371600"/>
            <a:ext cx="5943600" cy="274320"/>
          </a:xfrm>
          <a:prstGeom prst="rect">
            <a:avLst/>
          </a:prstGeom>
          <a:noFill/>
          <a:ln/>
        </p:spPr>
        <p:txBody>
          <a:bodyPr wrap="square" lIns="0" tIns="0" rIns="0" bIns="0" rtlCol="0" anchor="ctr"/>
          <a:lstStyle/>
          <a:p>
            <a:pPr marL="0" indent="0">
              <a:buNone/>
            </a:pPr>
            <a:r>
              <a:rPr lang="en-US" sz="1100" b="1" kern="0" spc="200" dirty="0">
                <a:solidFill>
                  <a:srgbClr val="0F4C81"/>
                </a:solidFill>
                <a:latin typeface="Calibri" pitchFamily="34" charset="0"/>
                <a:ea typeface="Calibri" pitchFamily="34" charset="-122"/>
                <a:cs typeface="Calibri" pitchFamily="34" charset="-120"/>
              </a:rPr>
              <a:t>Cross-backend (PG / Mongo / Neo4j)</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5760720" cy="3419856"/>
        </p:xfrm>
        <a:graphic>
          <a:graphicData uri="http://schemas.openxmlformats.org/drawingml/2006/table">
            <a:tbl>
              <a:tblPr/>
              <a:tblGrid>
                <a:gridCol w="54864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tblGrid>
              <a:tr h="310896">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ID</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4C81"/>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Analytical purpose</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4C81"/>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Technique</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4C81"/>
                    </a:solidFill>
                  </a:tcPr>
                </a:tc>
                <a:extLst>
                  <a:ext uri="{0D108BD9-81ED-4DB2-BD59-A6C34878D82A}">
                    <a16:rowId xmlns:a16="http://schemas.microsoft.com/office/drawing/2014/main" val="10000"/>
                  </a:ext>
                </a:extLst>
              </a:tr>
              <a:tr h="310896">
                <a:tc>
                  <a:txBody>
                    <a:bodyPr/>
                    <a:lstStyle/>
                    <a:p>
                      <a:pPr marL="0" indent="0" algn="ctr">
                        <a:buNone/>
                      </a:pPr>
                      <a:r>
                        <a:rPr lang="en-US" sz="1100" b="1" dirty="0">
                          <a:solidFill>
                            <a:srgbClr val="0F4C81"/>
                          </a:solidFill>
                          <a:latin typeface="Calibri" pitchFamily="34" charset="0"/>
                          <a:ea typeface="Calibri" pitchFamily="34" charset="-122"/>
                          <a:cs typeface="Calibri" pitchFamily="34" charset="-120"/>
                        </a:rPr>
                        <a:t>Q1</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Cases by disease and decade</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1000" i="1" dirty="0">
                          <a:solidFill>
                            <a:srgbClr val="64748B"/>
                          </a:solidFill>
                          <a:latin typeface="Calibri" pitchFamily="34" charset="0"/>
                          <a:ea typeface="Calibri" pitchFamily="34" charset="-122"/>
                          <a:cs typeface="Calibri" pitchFamily="34" charset="-120"/>
                        </a:rPr>
                        <a:t>roll-up</a:t>
                      </a:r>
                      <a:endParaRPr lang="en-US" sz="10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extLst>
                  <a:ext uri="{0D108BD9-81ED-4DB2-BD59-A6C34878D82A}">
                    <a16:rowId xmlns:a16="http://schemas.microsoft.com/office/drawing/2014/main" val="10001"/>
                  </a:ext>
                </a:extLst>
              </a:tr>
              <a:tr h="310896">
                <a:tc>
                  <a:txBody>
                    <a:bodyPr/>
                    <a:lstStyle/>
                    <a:p>
                      <a:pPr marL="0" indent="0" algn="ctr">
                        <a:buNone/>
                      </a:pPr>
                      <a:r>
                        <a:rPr lang="en-US" sz="1100" b="1" dirty="0">
                          <a:solidFill>
                            <a:srgbClr val="0F4C81"/>
                          </a:solidFill>
                          <a:latin typeface="Calibri" pitchFamily="34" charset="0"/>
                          <a:ea typeface="Calibri" pitchFamily="34" charset="-122"/>
                          <a:cs typeface="Calibri" pitchFamily="34" charset="-120"/>
                        </a:rPr>
                        <a:t>Q2</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Per-state cases for one disease in a year</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00" i="1" dirty="0">
                          <a:solidFill>
                            <a:srgbClr val="64748B"/>
                          </a:solidFill>
                          <a:latin typeface="Calibri" pitchFamily="34" charset="0"/>
                          <a:ea typeface="Calibri" pitchFamily="34" charset="-122"/>
                          <a:cs typeface="Calibri" pitchFamily="34" charset="-120"/>
                        </a:rPr>
                        <a:t>slice</a:t>
                      </a:r>
                      <a:endParaRPr lang="en-US" sz="10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lgn="ctr">
                        <a:buNone/>
                      </a:pPr>
                      <a:r>
                        <a:rPr lang="en-US" sz="1100" b="1" dirty="0">
                          <a:solidFill>
                            <a:srgbClr val="0F4C81"/>
                          </a:solidFill>
                          <a:latin typeface="Calibri" pitchFamily="34" charset="0"/>
                          <a:ea typeface="Calibri" pitchFamily="34" charset="-122"/>
                          <a:cs typeface="Calibri" pitchFamily="34" charset="-120"/>
                        </a:rPr>
                        <a:t>Q3</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Top-10 states by disease over a year range</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1000" i="1" dirty="0">
                          <a:solidFill>
                            <a:srgbClr val="64748B"/>
                          </a:solidFill>
                          <a:latin typeface="Calibri" pitchFamily="34" charset="0"/>
                          <a:ea typeface="Calibri" pitchFamily="34" charset="-122"/>
                          <a:cs typeface="Calibri" pitchFamily="34" charset="-120"/>
                        </a:rPr>
                        <a:t>ranked dice</a:t>
                      </a:r>
                      <a:endParaRPr lang="en-US" sz="10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extLst>
                  <a:ext uri="{0D108BD9-81ED-4DB2-BD59-A6C34878D82A}">
                    <a16:rowId xmlns:a16="http://schemas.microsoft.com/office/drawing/2014/main" val="10003"/>
                  </a:ext>
                </a:extLst>
              </a:tr>
              <a:tr h="310896">
                <a:tc>
                  <a:txBody>
                    <a:bodyPr/>
                    <a:lstStyle/>
                    <a:p>
                      <a:pPr marL="0" indent="0" algn="ctr">
                        <a:buNone/>
                      </a:pPr>
                      <a:r>
                        <a:rPr lang="en-US" sz="1100" b="1" dirty="0">
                          <a:solidFill>
                            <a:srgbClr val="0F4C81"/>
                          </a:solidFill>
                          <a:latin typeface="Calibri" pitchFamily="34" charset="0"/>
                          <a:ea typeface="Calibri" pitchFamily="34" charset="-122"/>
                          <a:cs typeface="Calibri" pitchFamily="34" charset="-120"/>
                        </a:rPr>
                        <a:t>Q4</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Seasonal pattern by calendar month</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00" i="1" dirty="0">
                          <a:solidFill>
                            <a:srgbClr val="64748B"/>
                          </a:solidFill>
                          <a:latin typeface="Calibri" pitchFamily="34" charset="0"/>
                          <a:ea typeface="Calibri" pitchFamily="34" charset="-122"/>
                          <a:cs typeface="Calibri" pitchFamily="34" charset="-120"/>
                        </a:rPr>
                        <a:t>roll-up</a:t>
                      </a:r>
                      <a:endParaRPr lang="en-US" sz="10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lgn="ctr">
                        <a:buNone/>
                      </a:pPr>
                      <a:r>
                        <a:rPr lang="en-US" sz="1100" b="1" dirty="0">
                          <a:solidFill>
                            <a:srgbClr val="0F4C81"/>
                          </a:solidFill>
                          <a:latin typeface="Calibri" pitchFamily="34" charset="0"/>
                          <a:ea typeface="Calibri" pitchFamily="34" charset="-122"/>
                          <a:cs typeface="Calibri" pitchFamily="34" charset="-120"/>
                        </a:rPr>
                        <a:t>Q5</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Year-over-year change in cases per state</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1000" i="1" dirty="0">
                          <a:solidFill>
                            <a:srgbClr val="64748B"/>
                          </a:solidFill>
                          <a:latin typeface="Calibri" pitchFamily="34" charset="0"/>
                          <a:ea typeface="Calibri" pitchFamily="34" charset="-122"/>
                          <a:cs typeface="Calibri" pitchFamily="34" charset="-120"/>
                        </a:rPr>
                        <a:t>window</a:t>
                      </a:r>
                      <a:endParaRPr lang="en-US" sz="10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extLst>
                  <a:ext uri="{0D108BD9-81ED-4DB2-BD59-A6C34878D82A}">
                    <a16:rowId xmlns:a16="http://schemas.microsoft.com/office/drawing/2014/main" val="10005"/>
                  </a:ext>
                </a:extLst>
              </a:tr>
              <a:tr h="310896">
                <a:tc>
                  <a:txBody>
                    <a:bodyPr/>
                    <a:lstStyle/>
                    <a:p>
                      <a:pPr marL="0" indent="0" algn="ctr">
                        <a:buNone/>
                      </a:pPr>
                      <a:r>
                        <a:rPr lang="en-US" sz="1100" b="1" dirty="0">
                          <a:solidFill>
                            <a:srgbClr val="0F4C81"/>
                          </a:solidFill>
                          <a:latin typeface="Calibri" pitchFamily="34" charset="0"/>
                          <a:ea typeface="Calibri" pitchFamily="34" charset="-122"/>
                          <a:cs typeface="Calibri" pitchFamily="34" charset="-120"/>
                        </a:rPr>
                        <a:t>Q6</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Disease co-occurrence across states</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00" i="1" dirty="0">
                          <a:solidFill>
                            <a:srgbClr val="64748B"/>
                          </a:solidFill>
                          <a:latin typeface="Calibri" pitchFamily="34" charset="0"/>
                          <a:ea typeface="Calibri" pitchFamily="34" charset="-122"/>
                          <a:cs typeface="Calibri" pitchFamily="34" charset="-120"/>
                        </a:rPr>
                        <a:t>correlation</a:t>
                      </a:r>
                      <a:endParaRPr lang="en-US" sz="10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lgn="ctr">
                        <a:buNone/>
                      </a:pPr>
                      <a:r>
                        <a:rPr lang="en-US" sz="1100" b="1" dirty="0">
                          <a:solidFill>
                            <a:srgbClr val="0F4C81"/>
                          </a:solidFill>
                          <a:latin typeface="Calibri" pitchFamily="34" charset="0"/>
                          <a:ea typeface="Calibri" pitchFamily="34" charset="-122"/>
                          <a:cs typeface="Calibri" pitchFamily="34" charset="-120"/>
                        </a:rPr>
                        <a:t>Q7</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Geographic spread ranking</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1000" i="1" dirty="0">
                          <a:solidFill>
                            <a:srgbClr val="64748B"/>
                          </a:solidFill>
                          <a:latin typeface="Calibri" pitchFamily="34" charset="0"/>
                          <a:ea typeface="Calibri" pitchFamily="34" charset="-122"/>
                          <a:cs typeface="Calibri" pitchFamily="34" charset="-120"/>
                        </a:rPr>
                        <a:t>aggregation</a:t>
                      </a:r>
                      <a:endParaRPr lang="en-US" sz="10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extLst>
                  <a:ext uri="{0D108BD9-81ED-4DB2-BD59-A6C34878D82A}">
                    <a16:rowId xmlns:a16="http://schemas.microsoft.com/office/drawing/2014/main" val="10007"/>
                  </a:ext>
                </a:extLst>
              </a:tr>
              <a:tr h="310896">
                <a:tc>
                  <a:txBody>
                    <a:bodyPr/>
                    <a:lstStyle/>
                    <a:p>
                      <a:pPr marL="0" indent="0" algn="ctr">
                        <a:buNone/>
                      </a:pPr>
                      <a:r>
                        <a:rPr lang="en-US" sz="1100" b="1" dirty="0">
                          <a:solidFill>
                            <a:srgbClr val="0F4C81"/>
                          </a:solidFill>
                          <a:latin typeface="Calibri" pitchFamily="34" charset="0"/>
                          <a:ea typeface="Calibri" pitchFamily="34" charset="-122"/>
                          <a:cs typeface="Calibri" pitchFamily="34" charset="-120"/>
                        </a:rPr>
                        <a:t>Q8</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Vaccination impact pre vs. post</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00" i="1" dirty="0">
                          <a:solidFill>
                            <a:srgbClr val="64748B"/>
                          </a:solidFill>
                          <a:latin typeface="Calibri" pitchFamily="34" charset="0"/>
                          <a:ea typeface="Calibri" pitchFamily="34" charset="-122"/>
                          <a:cs typeface="Calibri" pitchFamily="34" charset="-120"/>
                        </a:rPr>
                        <a:t>LATERAL / CALL</a:t>
                      </a:r>
                      <a:endParaRPr lang="en-US" sz="10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10896">
                <a:tc>
                  <a:txBody>
                    <a:bodyPr/>
                    <a:lstStyle/>
                    <a:p>
                      <a:pPr marL="0" indent="0" algn="ctr">
                        <a:buNone/>
                      </a:pPr>
                      <a:r>
                        <a:rPr lang="en-US" sz="1100" b="1" dirty="0">
                          <a:solidFill>
                            <a:srgbClr val="0F4C81"/>
                          </a:solidFill>
                          <a:latin typeface="Calibri" pitchFamily="34" charset="0"/>
                          <a:ea typeface="Calibri" pitchFamily="34" charset="-122"/>
                          <a:cs typeface="Calibri" pitchFamily="34" charset="-120"/>
                        </a:rPr>
                        <a:t>Q9</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Anomaly detection by z-score</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1000" i="1" dirty="0">
                          <a:solidFill>
                            <a:srgbClr val="64748B"/>
                          </a:solidFill>
                          <a:latin typeface="Calibri" pitchFamily="34" charset="0"/>
                          <a:ea typeface="Calibri" pitchFamily="34" charset="-122"/>
                          <a:cs typeface="Calibri" pitchFamily="34" charset="-120"/>
                        </a:rPr>
                        <a:t>stats</a:t>
                      </a:r>
                      <a:endParaRPr lang="en-US" sz="10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extLst>
                  <a:ext uri="{0D108BD9-81ED-4DB2-BD59-A6C34878D82A}">
                    <a16:rowId xmlns:a16="http://schemas.microsoft.com/office/drawing/2014/main" val="10009"/>
                  </a:ext>
                </a:extLst>
              </a:tr>
              <a:tr h="310896">
                <a:tc>
                  <a:txBody>
                    <a:bodyPr/>
                    <a:lstStyle/>
                    <a:p>
                      <a:pPr marL="0" indent="0" algn="ctr">
                        <a:buNone/>
                      </a:pPr>
                      <a:r>
                        <a:rPr lang="en-US" sz="1100" b="1" dirty="0">
                          <a:solidFill>
                            <a:srgbClr val="0F4C81"/>
                          </a:solidFill>
                          <a:latin typeface="Calibri" pitchFamily="34" charset="0"/>
                          <a:ea typeface="Calibri" pitchFamily="34" charset="-122"/>
                          <a:cs typeface="Calibri" pitchFamily="34" charset="-120"/>
                        </a:rPr>
                        <a:t>Q10</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Normalized cross-disease trend</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00" i="1" dirty="0">
                          <a:solidFill>
                            <a:srgbClr val="64748B"/>
                          </a:solidFill>
                          <a:latin typeface="Calibri" pitchFamily="34" charset="0"/>
                          <a:ea typeface="Calibri" pitchFamily="34" charset="-122"/>
                          <a:cs typeface="Calibri" pitchFamily="34" charset="-120"/>
                        </a:rPr>
                        <a:t>normalization</a:t>
                      </a:r>
                      <a:endParaRPr lang="en-US" sz="10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
        <p:nvSpPr>
          <p:cNvPr id="7" name="Text 4"/>
          <p:cNvSpPr/>
          <p:nvPr/>
        </p:nvSpPr>
        <p:spPr>
          <a:xfrm>
            <a:off x="6492240" y="1371600"/>
            <a:ext cx="5120640" cy="274320"/>
          </a:xfrm>
          <a:prstGeom prst="rect">
            <a:avLst/>
          </a:prstGeom>
          <a:noFill/>
          <a:ln/>
        </p:spPr>
        <p:txBody>
          <a:bodyPr wrap="square" lIns="0" tIns="0" rIns="0" bIns="0" rtlCol="0" anchor="ctr"/>
          <a:lstStyle/>
          <a:p>
            <a:pPr marL="0" indent="0">
              <a:buNone/>
            </a:pPr>
            <a:r>
              <a:rPr lang="en-US" sz="1100" b="1" kern="0" spc="200" dirty="0">
                <a:solidFill>
                  <a:srgbClr val="0F4C81"/>
                </a:solidFill>
                <a:latin typeface="Calibri" pitchFamily="34" charset="0"/>
                <a:ea typeface="Calibri" pitchFamily="34" charset="-122"/>
                <a:cs typeface="Calibri" pitchFamily="34" charset="-120"/>
              </a:rPr>
              <a:t>Graph-only (Neo4j BORDERS adjacency)</a:t>
            </a:r>
            <a:endParaRPr lang="en-US" sz="1100" dirty="0"/>
          </a:p>
        </p:txBody>
      </p:sp>
      <p:graphicFrame>
        <p:nvGraphicFramePr>
          <p:cNvPr id="27" name="Table 1"/>
          <p:cNvGraphicFramePr>
            <a:graphicFrameLocks noGrp="1"/>
          </p:cNvGraphicFramePr>
          <p:nvPr>
            <p:extLst>
              <p:ext uri="{D42A27DB-BD31-4B8C-83A1-F6EECF244321}">
                <p14:modId xmlns:p14="http://schemas.microsoft.com/office/powerpoint/2010/main" val="1579011935"/>
              </p:ext>
            </p:extLst>
          </p:nvPr>
        </p:nvGraphicFramePr>
        <p:xfrm>
          <a:off x="6492240" y="1691640"/>
          <a:ext cx="5120640" cy="1243584"/>
        </p:xfrm>
        <a:graphic>
          <a:graphicData uri="http://schemas.openxmlformats.org/drawingml/2006/table">
            <a:tbl>
              <a:tblPr/>
              <a:tblGrid>
                <a:gridCol w="54864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310896">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ID</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4C81"/>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Analytical purpose</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4C81"/>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Technique</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4C81"/>
                    </a:solidFill>
                  </a:tcPr>
                </a:tc>
                <a:extLst>
                  <a:ext uri="{0D108BD9-81ED-4DB2-BD59-A6C34878D82A}">
                    <a16:rowId xmlns:a16="http://schemas.microsoft.com/office/drawing/2014/main" val="10000"/>
                  </a:ext>
                </a:extLst>
              </a:tr>
              <a:tr h="310896">
                <a:tc>
                  <a:txBody>
                    <a:bodyPr/>
                    <a:lstStyle/>
                    <a:p>
                      <a:pPr marL="0" indent="0" algn="ctr">
                        <a:buNone/>
                      </a:pPr>
                      <a:r>
                        <a:rPr lang="en-US" sz="1100" b="1" dirty="0">
                          <a:solidFill>
                            <a:srgbClr val="0F4C81"/>
                          </a:solidFill>
                          <a:latin typeface="Calibri" pitchFamily="34" charset="0"/>
                          <a:ea typeface="Calibri" pitchFamily="34" charset="-122"/>
                          <a:cs typeface="Calibri" pitchFamily="34" charset="-120"/>
                        </a:rPr>
                        <a:t>Q11</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Cross-border disease spread lag</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1000" i="1" dirty="0">
                          <a:solidFill>
                            <a:srgbClr val="64748B"/>
                          </a:solidFill>
                          <a:latin typeface="Calibri" pitchFamily="34" charset="0"/>
                          <a:ea typeface="Calibri" pitchFamily="34" charset="-122"/>
                          <a:cs typeface="Calibri" pitchFamily="34" charset="-120"/>
                        </a:rPr>
                        <a:t>graph traversal</a:t>
                      </a:r>
                      <a:endParaRPr lang="en-US" sz="10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extLst>
                  <a:ext uri="{0D108BD9-81ED-4DB2-BD59-A6C34878D82A}">
                    <a16:rowId xmlns:a16="http://schemas.microsoft.com/office/drawing/2014/main" val="10001"/>
                  </a:ext>
                </a:extLst>
              </a:tr>
              <a:tr h="310896">
                <a:tc>
                  <a:txBody>
                    <a:bodyPr/>
                    <a:lstStyle/>
                    <a:p>
                      <a:pPr marL="0" indent="0" algn="ctr">
                        <a:buNone/>
                      </a:pPr>
                      <a:r>
                        <a:rPr lang="en-US" sz="1100" b="1" dirty="0">
                          <a:solidFill>
                            <a:srgbClr val="0F4C81"/>
                          </a:solidFill>
                          <a:latin typeface="Calibri" pitchFamily="34" charset="0"/>
                          <a:ea typeface="Calibri" pitchFamily="34" charset="-122"/>
                          <a:cs typeface="Calibri" pitchFamily="34" charset="-120"/>
                        </a:rPr>
                        <a:t>Q12</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Per-state disease composition profile</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00" i="1" dirty="0">
                          <a:solidFill>
                            <a:srgbClr val="64748B"/>
                          </a:solidFill>
                          <a:latin typeface="Calibri" pitchFamily="34" charset="0"/>
                          <a:ea typeface="Calibri" pitchFamily="34" charset="-122"/>
                          <a:cs typeface="Calibri" pitchFamily="34" charset="-120"/>
                        </a:rPr>
                        <a:t>graph aggregate</a:t>
                      </a:r>
                      <a:endParaRPr lang="en-US" sz="10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lgn="ctr">
                        <a:buNone/>
                      </a:pPr>
                      <a:r>
                        <a:rPr lang="en-US" sz="1100" b="1" dirty="0">
                          <a:solidFill>
                            <a:srgbClr val="0F4C81"/>
                          </a:solidFill>
                          <a:latin typeface="Calibri" pitchFamily="34" charset="0"/>
                          <a:ea typeface="Calibri" pitchFamily="34" charset="-122"/>
                          <a:cs typeface="Calibri" pitchFamily="34" charset="-120"/>
                        </a:rPr>
                        <a:t>Q13</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Disease centrality / coverage fraction</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1000" i="1" dirty="0">
                          <a:solidFill>
                            <a:srgbClr val="64748B"/>
                          </a:solidFill>
                          <a:latin typeface="Calibri" pitchFamily="34" charset="0"/>
                          <a:ea typeface="Calibri" pitchFamily="34" charset="-122"/>
                          <a:cs typeface="Calibri" pitchFamily="34" charset="-120"/>
                        </a:rPr>
                        <a:t>graph stats</a:t>
                      </a:r>
                      <a:endParaRPr lang="en-US" sz="10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extLst>
                  <a:ext uri="{0D108BD9-81ED-4DB2-BD59-A6C34878D82A}">
                    <a16:rowId xmlns:a16="http://schemas.microsoft.com/office/drawing/2014/main" val="10003"/>
                  </a:ext>
                </a:extLst>
              </a:tr>
            </a:tbl>
          </a:graphicData>
        </a:graphic>
      </p:graphicFrame>
      <p:sp>
        <p:nvSpPr>
          <p:cNvPr id="9" name="Shape 5"/>
          <p:cNvSpPr/>
          <p:nvPr/>
        </p:nvSpPr>
        <p:spPr>
          <a:xfrm>
            <a:off x="6492240" y="3017520"/>
            <a:ext cx="5120640" cy="2834640"/>
          </a:xfrm>
          <a:prstGeom prst="rect">
            <a:avLst/>
          </a:prstGeom>
          <a:solidFill>
            <a:srgbClr val="D6E4F0"/>
          </a:solidFill>
          <a:ln w="12700">
            <a:solidFill>
              <a:srgbClr val="333333"/>
            </a:solidFill>
            <a:prstDash val="solid"/>
          </a:ln>
        </p:spPr>
        <p:txBody>
          <a:bodyPr/>
          <a:lstStyle/>
          <a:p>
            <a:endParaRPr lang="en-US"/>
          </a:p>
        </p:txBody>
      </p:sp>
      <p:sp>
        <p:nvSpPr>
          <p:cNvPr id="10" name="Text 6"/>
          <p:cNvSpPr/>
          <p:nvPr/>
        </p:nvSpPr>
        <p:spPr>
          <a:xfrm>
            <a:off x="6675120" y="3154680"/>
            <a:ext cx="4846320" cy="320040"/>
          </a:xfrm>
          <a:prstGeom prst="rect">
            <a:avLst/>
          </a:prstGeom>
          <a:noFill/>
          <a:ln/>
        </p:spPr>
        <p:txBody>
          <a:bodyPr wrap="square" lIns="0" tIns="0" rIns="0" bIns="0" rtlCol="0" anchor="ctr"/>
          <a:lstStyle/>
          <a:p>
            <a:pPr marL="0" indent="0">
              <a:buNone/>
            </a:pPr>
            <a:r>
              <a:rPr lang="en-US" sz="1200" b="1" kern="0" spc="200" dirty="0">
                <a:solidFill>
                  <a:srgbClr val="0F4C81"/>
                </a:solidFill>
                <a:latin typeface="Calibri" pitchFamily="34" charset="0"/>
                <a:ea typeface="Calibri" pitchFamily="34" charset="-122"/>
                <a:cs typeface="Calibri" pitchFamily="34" charset="-120"/>
              </a:rPr>
              <a:t>Why three graph-only queries?</a:t>
            </a:r>
            <a:endParaRPr lang="en-US" sz="1200" dirty="0"/>
          </a:p>
        </p:txBody>
      </p:sp>
      <p:sp>
        <p:nvSpPr>
          <p:cNvPr id="11" name="Text 7"/>
          <p:cNvSpPr/>
          <p:nvPr/>
        </p:nvSpPr>
        <p:spPr>
          <a:xfrm>
            <a:off x="6675120" y="3520440"/>
            <a:ext cx="4846320" cy="2286000"/>
          </a:xfrm>
          <a:prstGeom prst="rect">
            <a:avLst/>
          </a:prstGeom>
          <a:noFill/>
          <a:ln/>
        </p:spPr>
        <p:txBody>
          <a:bodyPr wrap="square" lIns="0" tIns="0" rIns="0" bIns="0" rtlCol="0" anchor="ctr"/>
          <a:lstStyle/>
          <a:p>
            <a:pPr marL="0" indent="0">
              <a:spcAft>
                <a:spcPts val="400"/>
              </a:spcAft>
              <a:buNone/>
            </a:pPr>
            <a:r>
              <a:rPr lang="en-US" sz="1200" dirty="0">
                <a:solidFill>
                  <a:srgbClr val="334155"/>
                </a:solidFill>
                <a:latin typeface="Calibri" pitchFamily="34" charset="0"/>
                <a:ea typeface="Calibri" pitchFamily="34" charset="-122"/>
                <a:cs typeface="Calibri" pitchFamily="34" charset="-120"/>
              </a:rPr>
              <a:t>These queries rely on the </a:t>
            </a:r>
            <a:r>
              <a:rPr lang="en-US" sz="1200" dirty="0">
                <a:solidFill>
                  <a:srgbClr val="334155"/>
                </a:solidFill>
                <a:latin typeface="Consolas" pitchFamily="34" charset="0"/>
                <a:ea typeface="Consolas" pitchFamily="34" charset="-122"/>
                <a:cs typeface="Consolas" pitchFamily="34" charset="-120"/>
              </a:rPr>
              <a:t>BORDERS</a:t>
            </a:r>
            <a:r>
              <a:rPr lang="en-US" sz="1200" dirty="0">
                <a:solidFill>
                  <a:srgbClr val="334155"/>
                </a:solidFill>
                <a:latin typeface="Calibri" pitchFamily="34" charset="0"/>
                <a:ea typeface="Calibri" pitchFamily="34" charset="-122"/>
                <a:cs typeface="Calibri" pitchFamily="34" charset="-120"/>
              </a:rPr>
              <a:t> relationship between states a first-class edge in the graph model with no natural equivalent in SQL joins or MongoDB lookups.</a:t>
            </a:r>
            <a:endParaRPr lang="en-US" sz="1200" dirty="0"/>
          </a:p>
          <a:p>
            <a:pPr marL="0" indent="0">
              <a:spcAft>
                <a:spcPts val="400"/>
              </a:spcAft>
              <a:buNone/>
            </a:pPr>
            <a:endParaRPr lang="en-US" sz="1200" dirty="0"/>
          </a:p>
          <a:p>
            <a:pPr marL="0" indent="0">
              <a:spcAft>
                <a:spcPts val="400"/>
              </a:spcAft>
              <a:buNone/>
            </a:pPr>
            <a:r>
              <a:rPr lang="en-US" sz="1200" dirty="0">
                <a:solidFill>
                  <a:srgbClr val="334155"/>
                </a:solidFill>
                <a:latin typeface="Calibri" pitchFamily="34" charset="0"/>
                <a:ea typeface="Calibri" pitchFamily="34" charset="-122"/>
                <a:cs typeface="Calibri" pitchFamily="34" charset="-120"/>
              </a:rPr>
              <a:t>Emulating them in SQL would require recursive CTEs and self-joins, which are syntactically awkward and computationally expensive for multi-hop traversals.</a:t>
            </a:r>
            <a:endParaRPr lang="en-US" sz="1200" dirty="0"/>
          </a:p>
        </p:txBody>
      </p:sp>
      <p:sp>
        <p:nvSpPr>
          <p:cNvPr id="12" name="Text 8"/>
          <p:cNvSpPr/>
          <p:nvPr/>
        </p:nvSpPr>
        <p:spPr>
          <a:xfrm>
            <a:off x="548640" y="5897880"/>
            <a:ext cx="5760720" cy="411480"/>
          </a:xfrm>
          <a:prstGeom prst="rect">
            <a:avLst/>
          </a:prstGeom>
          <a:noFill/>
          <a:ln/>
        </p:spPr>
        <p:txBody>
          <a:bodyPr wrap="square" lIns="0" tIns="0" rIns="0" bIns="0" rtlCol="0" anchor="ctr"/>
          <a:lstStyle/>
          <a:p>
            <a:pPr marL="0" indent="0">
              <a:buNone/>
            </a:pPr>
            <a:r>
              <a:rPr lang="en-US" sz="1100" b="1" i="1" dirty="0">
                <a:solidFill>
                  <a:srgbClr val="0F4C81"/>
                </a:solidFill>
                <a:latin typeface="Calibri" pitchFamily="34" charset="0"/>
                <a:ea typeface="Calibri" pitchFamily="34" charset="-122"/>
                <a:cs typeface="Calibri" pitchFamily="34" charset="-120"/>
              </a:rPr>
              <a:t>Key design principle: </a:t>
            </a:r>
            <a:r>
              <a:rPr lang="en-US" sz="1100" i="1" dirty="0">
                <a:solidFill>
                  <a:srgbClr val="334155"/>
                </a:solidFill>
                <a:latin typeface="Calibri" pitchFamily="34" charset="0"/>
                <a:ea typeface="Calibri" pitchFamily="34" charset="-122"/>
                <a:cs typeface="Calibri" pitchFamily="34" charset="-120"/>
              </a:rPr>
              <a:t>each implementation exploits its backend's strengths rather than transliterating. PostgreSQL uses </a:t>
            </a:r>
            <a:r>
              <a:rPr lang="en-US" sz="1100" i="1" dirty="0">
                <a:solidFill>
                  <a:srgbClr val="334155"/>
                </a:solidFill>
                <a:latin typeface="Consolas" pitchFamily="34" charset="0"/>
                <a:ea typeface="Consolas" pitchFamily="34" charset="-122"/>
                <a:cs typeface="Consolas" pitchFamily="34" charset="-120"/>
              </a:rPr>
              <a:t>LATERAL</a:t>
            </a:r>
            <a:r>
              <a:rPr lang="en-US" sz="1100" i="1" dirty="0">
                <a:solidFill>
                  <a:srgbClr val="334155"/>
                </a:solidFill>
                <a:latin typeface="Calibri" pitchFamily="34" charset="0"/>
                <a:ea typeface="Calibri" pitchFamily="34" charset="-122"/>
                <a:cs typeface="Calibri" pitchFamily="34" charset="-120"/>
              </a:rPr>
              <a:t> joins, MongoDB uses </a:t>
            </a:r>
            <a:r>
              <a:rPr lang="en-US" sz="1100" i="1" dirty="0">
                <a:solidFill>
                  <a:srgbClr val="334155"/>
                </a:solidFill>
                <a:latin typeface="Consolas" pitchFamily="34" charset="0"/>
                <a:ea typeface="Consolas" pitchFamily="34" charset="-122"/>
                <a:cs typeface="Consolas" pitchFamily="34" charset="-120"/>
              </a:rPr>
              <a:t>$setWindowFields</a:t>
            </a:r>
            <a:r>
              <a:rPr lang="en-US" sz="1100" i="1" dirty="0">
                <a:solidFill>
                  <a:srgbClr val="334155"/>
                </a:solidFill>
                <a:latin typeface="Calibri" pitchFamily="34" charset="0"/>
                <a:ea typeface="Calibri" pitchFamily="34" charset="-122"/>
                <a:cs typeface="Calibri" pitchFamily="34" charset="-120"/>
              </a:rPr>
              <a:t>, Neo4j uses </a:t>
            </a:r>
            <a:r>
              <a:rPr lang="en-US" sz="1100" i="1" dirty="0">
                <a:solidFill>
                  <a:srgbClr val="334155"/>
                </a:solidFill>
                <a:latin typeface="Consolas" pitchFamily="34" charset="0"/>
                <a:ea typeface="Consolas" pitchFamily="34" charset="-122"/>
                <a:cs typeface="Consolas" pitchFamily="34" charset="-120"/>
              </a:rPr>
              <a:t>CALL</a:t>
            </a:r>
            <a:r>
              <a:rPr lang="en-US" sz="1100" i="1" dirty="0">
                <a:solidFill>
                  <a:srgbClr val="334155"/>
                </a:solidFill>
                <a:latin typeface="Calibri" pitchFamily="34" charset="0"/>
                <a:ea typeface="Calibri" pitchFamily="34" charset="-122"/>
                <a:cs typeface="Calibri" pitchFamily="34" charset="-120"/>
              </a:rPr>
              <a:t> subqueries.</a:t>
            </a:r>
            <a:endParaRPr lang="en-US" sz="1100" dirty="0"/>
          </a:p>
        </p:txBody>
      </p:sp>
      <p:sp>
        <p:nvSpPr>
          <p:cNvPr id="13" name="Text 9"/>
          <p:cNvSpPr/>
          <p:nvPr/>
        </p:nvSpPr>
        <p:spPr>
          <a:xfrm>
            <a:off x="548640" y="6446520"/>
            <a:ext cx="73152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Anwar Debes · IKT453 · University of Agder</a:t>
            </a:r>
            <a:endParaRPr lang="en-US" sz="900" dirty="0"/>
          </a:p>
        </p:txBody>
      </p:sp>
      <p:sp>
        <p:nvSpPr>
          <p:cNvPr id="6" name="Text 10"/>
          <p:cNvSpPr/>
          <p:nvPr/>
        </p:nvSpPr>
        <p:spPr>
          <a:xfrm>
            <a:off x="10789920" y="6446520"/>
            <a:ext cx="86868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13 / 20</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02920"/>
          </a:xfrm>
          <a:prstGeom prst="rect">
            <a:avLst/>
          </a:prstGeom>
          <a:noFill/>
          <a:ln/>
        </p:spPr>
        <p:txBody>
          <a:bodyPr wrap="square" lIns="0" tIns="0" rIns="0" bIns="0" rtlCol="0" anchor="ctr"/>
          <a:lstStyle/>
          <a:p>
            <a:pPr marL="0" indent="0" algn="l">
              <a:buNone/>
            </a:pPr>
            <a:r>
              <a:rPr lang="en-US" sz="2800" b="1" dirty="0">
                <a:solidFill>
                  <a:srgbClr val="1E293B"/>
                </a:solidFill>
                <a:latin typeface="Cambria" pitchFamily="34" charset="0"/>
                <a:ea typeface="Cambria" pitchFamily="34" charset="-122"/>
                <a:cs typeface="Cambria" pitchFamily="34" charset="-120"/>
              </a:rPr>
              <a:t>Query Performance Comparison</a:t>
            </a:r>
            <a:endParaRPr lang="en-US" sz="2800" dirty="0"/>
          </a:p>
        </p:txBody>
      </p:sp>
      <p:sp>
        <p:nvSpPr>
          <p:cNvPr id="3" name="Text 1"/>
          <p:cNvSpPr/>
          <p:nvPr/>
        </p:nvSpPr>
        <p:spPr>
          <a:xfrm>
            <a:off x="548640" y="841248"/>
            <a:ext cx="11064240" cy="292608"/>
          </a:xfrm>
          <a:prstGeom prst="rect">
            <a:avLst/>
          </a:prstGeom>
          <a:noFill/>
          <a:ln/>
        </p:spPr>
        <p:txBody>
          <a:bodyPr wrap="square" lIns="0" tIns="0" rIns="0" bIns="0" rtlCol="0" anchor="ctr"/>
          <a:lstStyle/>
          <a:p>
            <a:pPr marL="0" indent="0" algn="l">
              <a:buNone/>
            </a:pPr>
            <a:r>
              <a:rPr lang="en-US" sz="1300" i="1" dirty="0">
                <a:solidFill>
                  <a:srgbClr val="64748B"/>
                </a:solidFill>
                <a:latin typeface="Calibri" pitchFamily="34" charset="0"/>
                <a:ea typeface="Calibri" pitchFamily="34" charset="-122"/>
                <a:cs typeface="Calibri" pitchFamily="34" charset="-120"/>
              </a:rPr>
              <a:t>Median of 5 timed runs each backend in its native language</a:t>
            </a:r>
            <a:endParaRPr lang="en-US" sz="1300" dirty="0"/>
          </a:p>
        </p:txBody>
      </p:sp>
      <p:sp>
        <p:nvSpPr>
          <p:cNvPr id="4" name="Shape 2"/>
          <p:cNvSpPr/>
          <p:nvPr/>
        </p:nvSpPr>
        <p:spPr>
          <a:xfrm>
            <a:off x="548640" y="1207008"/>
            <a:ext cx="11064240" cy="0"/>
          </a:xfrm>
          <a:prstGeom prst="line">
            <a:avLst/>
          </a:prstGeom>
          <a:noFill/>
          <a:ln w="9525">
            <a:solidFill>
              <a:srgbClr val="CBD5E1"/>
            </a:solidFill>
            <a:prstDash val="solid"/>
          </a:ln>
        </p:spPr>
        <p:txBody>
          <a:bodyPr/>
          <a:lstStyle/>
          <a:p>
            <a:endParaRPr lang="en-US"/>
          </a:p>
        </p:txBody>
      </p:sp>
      <p:graphicFrame>
        <p:nvGraphicFramePr>
          <p:cNvPr id="5" name="Chart 0"/>
          <p:cNvGraphicFramePr/>
          <p:nvPr/>
        </p:nvGraphicFramePr>
        <p:xfrm>
          <a:off x="548640" y="1417320"/>
          <a:ext cx="7589520" cy="466344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8366760" y="1417320"/>
            <a:ext cx="3246120" cy="320040"/>
          </a:xfrm>
          <a:prstGeom prst="rect">
            <a:avLst/>
          </a:prstGeom>
          <a:noFill/>
          <a:ln/>
        </p:spPr>
        <p:txBody>
          <a:bodyPr wrap="square" lIns="0" tIns="0" rIns="0" bIns="0" rtlCol="0" anchor="ctr"/>
          <a:lstStyle/>
          <a:p>
            <a:pPr marL="0" indent="0">
              <a:buNone/>
            </a:pPr>
            <a:r>
              <a:rPr lang="en-US" sz="1200" b="1" kern="0" spc="200" dirty="0">
                <a:solidFill>
                  <a:srgbClr val="0F4C81"/>
                </a:solidFill>
                <a:latin typeface="Calibri" pitchFamily="34" charset="0"/>
                <a:ea typeface="Calibri" pitchFamily="34" charset="-122"/>
                <a:cs typeface="Calibri" pitchFamily="34" charset="-120"/>
              </a:rPr>
              <a:t>Reading the results</a:t>
            </a:r>
            <a:endParaRPr lang="en-US" sz="1200" dirty="0"/>
          </a:p>
        </p:txBody>
      </p:sp>
      <p:sp>
        <p:nvSpPr>
          <p:cNvPr id="7" name="Text 4"/>
          <p:cNvSpPr/>
          <p:nvPr/>
        </p:nvSpPr>
        <p:spPr>
          <a:xfrm>
            <a:off x="8366760" y="1783080"/>
            <a:ext cx="3246120" cy="4389120"/>
          </a:xfrm>
          <a:prstGeom prst="rect">
            <a:avLst/>
          </a:prstGeom>
          <a:noFill/>
          <a:ln/>
        </p:spPr>
        <p:txBody>
          <a:bodyPr wrap="square" lIns="0" tIns="0" rIns="0" bIns="0" rtlCol="0" anchor="ctr"/>
          <a:lstStyle/>
          <a:p>
            <a:pPr marL="0" indent="0">
              <a:spcAft>
                <a:spcPts val="400"/>
              </a:spcAft>
              <a:buNone/>
            </a:pPr>
            <a:r>
              <a:rPr lang="en-US" sz="1100" b="1" dirty="0">
                <a:solidFill>
                  <a:srgbClr val="1E293B"/>
                </a:solidFill>
                <a:latin typeface="Calibri" pitchFamily="34" charset="0"/>
                <a:ea typeface="Calibri" pitchFamily="34" charset="-122"/>
                <a:cs typeface="Calibri" pitchFamily="34" charset="-120"/>
              </a:rPr>
              <a:t>MongoDB wins 8 of 10 </a:t>
            </a:r>
            <a:r>
              <a:rPr lang="en-US" sz="1100" dirty="0">
                <a:solidFill>
                  <a:srgbClr val="334155"/>
                </a:solidFill>
                <a:latin typeface="Calibri" pitchFamily="34" charset="0"/>
                <a:ea typeface="Calibri" pitchFamily="34" charset="-122"/>
                <a:cs typeface="Calibri" pitchFamily="34" charset="-120"/>
              </a:rPr>
              <a:t>(Q1, Q2, Q3, Q5, Q6, Q7, Q9, Q10) selective queries benefit from join-free bucket documents.</a:t>
            </a:r>
            <a:endParaRPr lang="en-US" sz="1100" dirty="0"/>
          </a:p>
          <a:p>
            <a:pPr marL="0" indent="0">
              <a:spcAft>
                <a:spcPts val="400"/>
              </a:spcAft>
              <a:buNone/>
            </a:pPr>
            <a:endParaRPr lang="en-US" sz="1100" dirty="0"/>
          </a:p>
          <a:p>
            <a:pPr marL="0" indent="0">
              <a:spcAft>
                <a:spcPts val="400"/>
              </a:spcAft>
              <a:buNone/>
            </a:pPr>
            <a:r>
              <a:rPr lang="en-US" sz="1100" b="1" dirty="0">
                <a:solidFill>
                  <a:srgbClr val="1E293B"/>
                </a:solidFill>
                <a:latin typeface="Calibri" pitchFamily="34" charset="0"/>
                <a:ea typeface="Calibri" pitchFamily="34" charset="-122"/>
                <a:cs typeface="Calibri" pitchFamily="34" charset="-120"/>
              </a:rPr>
              <a:t>PostgreSQL wins Q4, Q8.</a:t>
            </a:r>
            <a:endParaRPr lang="en-US" sz="1100" dirty="0"/>
          </a:p>
          <a:p>
            <a:pPr marL="0" indent="0">
              <a:spcAft>
                <a:spcPts val="400"/>
              </a:spcAft>
              <a:buNone/>
            </a:pPr>
            <a:r>
              <a:rPr lang="en-US" sz="1100" dirty="0">
                <a:solidFill>
                  <a:srgbClr val="334155"/>
                </a:solidFill>
                <a:latin typeface="Calibri" pitchFamily="34" charset="0"/>
                <a:ea typeface="Calibri" pitchFamily="34" charset="-122"/>
                <a:cs typeface="Calibri" pitchFamily="34" charset="-120"/>
              </a:rPr>
              <a:t>Q4 roll-up needs fine-grain week data (MongoDB must $unwind). Q8's LATERAL join runs pre/post averages in a single scan.</a:t>
            </a:r>
            <a:endParaRPr lang="en-US" sz="1100" dirty="0"/>
          </a:p>
          <a:p>
            <a:pPr marL="0" indent="0">
              <a:spcAft>
                <a:spcPts val="400"/>
              </a:spcAft>
              <a:buNone/>
            </a:pPr>
            <a:endParaRPr lang="en-US" sz="1100" dirty="0"/>
          </a:p>
          <a:p>
            <a:pPr marL="0" indent="0">
              <a:spcAft>
                <a:spcPts val="400"/>
              </a:spcAft>
              <a:buNone/>
            </a:pPr>
            <a:r>
              <a:rPr lang="en-US" sz="1100" b="1" dirty="0">
                <a:solidFill>
                  <a:srgbClr val="1E293B"/>
                </a:solidFill>
                <a:latin typeface="Calibri" pitchFamily="34" charset="0"/>
                <a:ea typeface="Calibri" pitchFamily="34" charset="-122"/>
                <a:cs typeface="Calibri" pitchFamily="34" charset="-120"/>
              </a:rPr>
              <a:t>Neo4j slowest on all 10.</a:t>
            </a:r>
            <a:endParaRPr lang="en-US" sz="1100" dirty="0"/>
          </a:p>
          <a:p>
            <a:pPr marL="0" indent="0">
              <a:spcAft>
                <a:spcPts val="400"/>
              </a:spcAft>
              <a:buNone/>
            </a:pPr>
            <a:r>
              <a:rPr lang="en-US" sz="1100" dirty="0">
                <a:solidFill>
                  <a:srgbClr val="334155"/>
                </a:solidFill>
                <a:latin typeface="Calibri" pitchFamily="34" charset="0"/>
                <a:ea typeface="Calibri" pitchFamily="34" charset="-122"/>
                <a:cs typeface="Calibri" pitchFamily="34" charset="-120"/>
              </a:rPr>
              <a:t>Expected Neo4j's value is in traversal patterns, not pure OLAP aggregates. Its real contribution is Q11–Q13 (next slide).</a:t>
            </a:r>
            <a:endParaRPr lang="en-US" sz="1100" dirty="0"/>
          </a:p>
        </p:txBody>
      </p:sp>
      <p:sp>
        <p:nvSpPr>
          <p:cNvPr id="8" name="Text 5"/>
          <p:cNvSpPr/>
          <p:nvPr/>
        </p:nvSpPr>
        <p:spPr>
          <a:xfrm>
            <a:off x="548640" y="6446520"/>
            <a:ext cx="73152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Anwar Debes · IKT453 · University of Agder</a:t>
            </a:r>
            <a:endParaRPr lang="en-US" sz="900" dirty="0"/>
          </a:p>
        </p:txBody>
      </p:sp>
      <p:sp>
        <p:nvSpPr>
          <p:cNvPr id="9" name="Text 6"/>
          <p:cNvSpPr/>
          <p:nvPr/>
        </p:nvSpPr>
        <p:spPr>
          <a:xfrm>
            <a:off x="10789920" y="6446520"/>
            <a:ext cx="86868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14 / 20</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02920"/>
          </a:xfrm>
          <a:prstGeom prst="rect">
            <a:avLst/>
          </a:prstGeom>
          <a:noFill/>
          <a:ln/>
        </p:spPr>
        <p:txBody>
          <a:bodyPr wrap="square" lIns="0" tIns="0" rIns="0" bIns="0" rtlCol="0" anchor="ctr"/>
          <a:lstStyle/>
          <a:p>
            <a:pPr marL="0" indent="0" algn="l">
              <a:buNone/>
            </a:pPr>
            <a:r>
              <a:rPr lang="en-US" sz="2800" b="1" dirty="0">
                <a:solidFill>
                  <a:srgbClr val="1E293B"/>
                </a:solidFill>
                <a:latin typeface="Cambria" pitchFamily="34" charset="0"/>
                <a:ea typeface="Cambria" pitchFamily="34" charset="-122"/>
                <a:cs typeface="Cambria" pitchFamily="34" charset="-120"/>
              </a:rPr>
              <a:t>Graph-Exclusive Analysis (Q11 – Q13)</a:t>
            </a:r>
            <a:endParaRPr lang="en-US" sz="2800" dirty="0"/>
          </a:p>
        </p:txBody>
      </p:sp>
      <p:sp>
        <p:nvSpPr>
          <p:cNvPr id="3" name="Text 1"/>
          <p:cNvSpPr/>
          <p:nvPr/>
        </p:nvSpPr>
        <p:spPr>
          <a:xfrm>
            <a:off x="548640" y="841248"/>
            <a:ext cx="11064240" cy="292608"/>
          </a:xfrm>
          <a:prstGeom prst="rect">
            <a:avLst/>
          </a:prstGeom>
          <a:noFill/>
          <a:ln/>
        </p:spPr>
        <p:txBody>
          <a:bodyPr wrap="square" lIns="0" tIns="0" rIns="0" bIns="0" rtlCol="0" anchor="ctr"/>
          <a:lstStyle/>
          <a:p>
            <a:pPr marL="0" indent="0" algn="l">
              <a:buNone/>
            </a:pPr>
            <a:r>
              <a:rPr lang="en-US" sz="1300" i="1" dirty="0">
                <a:solidFill>
                  <a:srgbClr val="64748B"/>
                </a:solidFill>
                <a:latin typeface="Calibri" pitchFamily="34" charset="0"/>
                <a:ea typeface="Calibri" pitchFamily="34" charset="-122"/>
                <a:cs typeface="Calibri" pitchFamily="34" charset="-120"/>
              </a:rPr>
              <a:t>Queries that cannot be expressed naturally in SQL or Mongo</a:t>
            </a:r>
            <a:endParaRPr lang="en-US" sz="1300" dirty="0"/>
          </a:p>
        </p:txBody>
      </p:sp>
      <p:sp>
        <p:nvSpPr>
          <p:cNvPr id="4" name="Shape 2"/>
          <p:cNvSpPr/>
          <p:nvPr/>
        </p:nvSpPr>
        <p:spPr>
          <a:xfrm>
            <a:off x="548640" y="1207008"/>
            <a:ext cx="11064240" cy="0"/>
          </a:xfrm>
          <a:prstGeom prst="line">
            <a:avLst/>
          </a:prstGeom>
          <a:noFill/>
          <a:ln w="9525">
            <a:solidFill>
              <a:srgbClr val="CBD5E1"/>
            </a:solidFill>
            <a:prstDash val="solid"/>
          </a:ln>
        </p:spPr>
        <p:txBody>
          <a:bodyPr/>
          <a:lstStyle/>
          <a:p>
            <a:endParaRPr lang="en-US"/>
          </a:p>
        </p:txBody>
      </p:sp>
      <p:sp>
        <p:nvSpPr>
          <p:cNvPr id="5" name="Shape 3"/>
          <p:cNvSpPr/>
          <p:nvPr/>
        </p:nvSpPr>
        <p:spPr>
          <a:xfrm>
            <a:off x="548640" y="1554480"/>
            <a:ext cx="11064240" cy="1508760"/>
          </a:xfrm>
          <a:prstGeom prst="rect">
            <a:avLst/>
          </a:prstGeom>
          <a:solidFill>
            <a:srgbClr val="F1F5F9"/>
          </a:solidFill>
          <a:ln w="6350">
            <a:solidFill>
              <a:srgbClr val="CBD5E1"/>
            </a:solidFill>
            <a:prstDash val="solid"/>
          </a:ln>
        </p:spPr>
        <p:txBody>
          <a:bodyPr/>
          <a:lstStyle/>
          <a:p>
            <a:endParaRPr lang="en-US"/>
          </a:p>
        </p:txBody>
      </p:sp>
      <p:sp>
        <p:nvSpPr>
          <p:cNvPr id="6" name="Shape 4"/>
          <p:cNvSpPr/>
          <p:nvPr/>
        </p:nvSpPr>
        <p:spPr>
          <a:xfrm>
            <a:off x="548640" y="1554480"/>
            <a:ext cx="73152" cy="1508760"/>
          </a:xfrm>
          <a:prstGeom prst="rect">
            <a:avLst/>
          </a:prstGeom>
          <a:solidFill>
            <a:srgbClr val="0F4C81"/>
          </a:solidFill>
          <a:ln w="12700">
            <a:solidFill>
              <a:srgbClr val="333333"/>
            </a:solidFill>
            <a:prstDash val="solid"/>
          </a:ln>
        </p:spPr>
        <p:txBody>
          <a:bodyPr/>
          <a:lstStyle/>
          <a:p>
            <a:endParaRPr lang="en-US"/>
          </a:p>
        </p:txBody>
      </p:sp>
      <p:sp>
        <p:nvSpPr>
          <p:cNvPr id="7" name="Text 5"/>
          <p:cNvSpPr/>
          <p:nvPr/>
        </p:nvSpPr>
        <p:spPr>
          <a:xfrm>
            <a:off x="731520" y="1691640"/>
            <a:ext cx="822960" cy="457200"/>
          </a:xfrm>
          <a:prstGeom prst="rect">
            <a:avLst/>
          </a:prstGeom>
          <a:noFill/>
          <a:ln/>
        </p:spPr>
        <p:txBody>
          <a:bodyPr wrap="square" lIns="0" tIns="0" rIns="0" bIns="0" rtlCol="0" anchor="ctr"/>
          <a:lstStyle/>
          <a:p>
            <a:pPr marL="0" indent="0">
              <a:buNone/>
            </a:pPr>
            <a:r>
              <a:rPr lang="en-US" sz="2400" b="1" dirty="0">
                <a:solidFill>
                  <a:srgbClr val="0F4C81"/>
                </a:solidFill>
                <a:latin typeface="Cambria" pitchFamily="34" charset="0"/>
                <a:ea typeface="Cambria" pitchFamily="34" charset="-122"/>
                <a:cs typeface="Cambria" pitchFamily="34" charset="-120"/>
              </a:rPr>
              <a:t>Q11</a:t>
            </a:r>
            <a:endParaRPr lang="en-US" sz="2400" dirty="0"/>
          </a:p>
        </p:txBody>
      </p:sp>
      <p:sp>
        <p:nvSpPr>
          <p:cNvPr id="8" name="Text 6"/>
          <p:cNvSpPr/>
          <p:nvPr/>
        </p:nvSpPr>
        <p:spPr>
          <a:xfrm>
            <a:off x="1600200" y="1691640"/>
            <a:ext cx="7315200" cy="365760"/>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Cross-border disease spread lag</a:t>
            </a:r>
            <a:endParaRPr lang="en-US" sz="1500" dirty="0"/>
          </a:p>
        </p:txBody>
      </p:sp>
      <p:sp>
        <p:nvSpPr>
          <p:cNvPr id="9" name="Text 7"/>
          <p:cNvSpPr/>
          <p:nvPr/>
        </p:nvSpPr>
        <p:spPr>
          <a:xfrm>
            <a:off x="1600200" y="2057400"/>
            <a:ext cx="7315200" cy="960120"/>
          </a:xfrm>
          <a:prstGeom prst="rect">
            <a:avLst/>
          </a:prstGeom>
          <a:noFill/>
          <a:ln/>
        </p:spPr>
        <p:txBody>
          <a:bodyPr wrap="square" lIns="0" tIns="0" rIns="0" bIns="0" rtlCol="0" anchor="t"/>
          <a:lstStyle/>
          <a:p>
            <a:pPr marL="0" indent="0">
              <a:buNone/>
            </a:pPr>
            <a:r>
              <a:rPr lang="en-US" sz="1100" dirty="0">
                <a:solidFill>
                  <a:srgbClr val="334155"/>
                </a:solidFill>
                <a:latin typeface="Calibri" pitchFamily="34" charset="0"/>
                <a:ea typeface="Calibri" pitchFamily="34" charset="-122"/>
                <a:cs typeface="Calibri" pitchFamily="34" charset="-120"/>
              </a:rPr>
              <a:t>For every disease and every ordered pair of neighbouring states that both reported the disease, find the earliest month the disease appeared in each and compute the lag. Traverses BORDERS edges and crosses hundreds of millions of candidate observation pairs.</a:t>
            </a:r>
            <a:endParaRPr lang="en-US" sz="1100" dirty="0"/>
          </a:p>
        </p:txBody>
      </p:sp>
      <p:sp>
        <p:nvSpPr>
          <p:cNvPr id="10" name="Shape 8"/>
          <p:cNvSpPr/>
          <p:nvPr/>
        </p:nvSpPr>
        <p:spPr>
          <a:xfrm>
            <a:off x="9052560" y="1737360"/>
            <a:ext cx="2423160" cy="1143000"/>
          </a:xfrm>
          <a:prstGeom prst="rect">
            <a:avLst/>
          </a:prstGeom>
          <a:solidFill>
            <a:srgbClr val="FFFFFF"/>
          </a:solidFill>
          <a:ln w="12700">
            <a:solidFill>
              <a:srgbClr val="0F4C81"/>
            </a:solidFill>
            <a:prstDash val="solid"/>
          </a:ln>
        </p:spPr>
        <p:txBody>
          <a:bodyPr/>
          <a:lstStyle/>
          <a:p>
            <a:endParaRPr lang="en-US"/>
          </a:p>
        </p:txBody>
      </p:sp>
      <p:sp>
        <p:nvSpPr>
          <p:cNvPr id="11" name="Text 9"/>
          <p:cNvSpPr/>
          <p:nvPr/>
        </p:nvSpPr>
        <p:spPr>
          <a:xfrm>
            <a:off x="9052560" y="1828800"/>
            <a:ext cx="2423160" cy="228600"/>
          </a:xfrm>
          <a:prstGeom prst="rect">
            <a:avLst/>
          </a:prstGeom>
          <a:noFill/>
          <a:ln/>
        </p:spPr>
        <p:txBody>
          <a:bodyPr wrap="square" lIns="0" tIns="0" rIns="0" bIns="0" rtlCol="0" anchor="ctr"/>
          <a:lstStyle/>
          <a:p>
            <a:pPr marL="0" indent="0" algn="ctr">
              <a:buNone/>
            </a:pPr>
            <a:r>
              <a:rPr lang="en-US" sz="800" b="1" kern="0" spc="200" dirty="0">
                <a:solidFill>
                  <a:srgbClr val="0F4C81"/>
                </a:solidFill>
                <a:latin typeface="Calibri" pitchFamily="34" charset="0"/>
                <a:ea typeface="Calibri" pitchFamily="34" charset="-122"/>
                <a:cs typeface="Calibri" pitchFamily="34" charset="-120"/>
              </a:rPr>
              <a:t>MEDIAN EXECUTION</a:t>
            </a:r>
            <a:endParaRPr lang="en-US" sz="800" dirty="0"/>
          </a:p>
        </p:txBody>
      </p:sp>
      <p:sp>
        <p:nvSpPr>
          <p:cNvPr id="12" name="Text 10"/>
          <p:cNvSpPr/>
          <p:nvPr/>
        </p:nvSpPr>
        <p:spPr>
          <a:xfrm>
            <a:off x="9052560" y="2057400"/>
            <a:ext cx="2423160" cy="457200"/>
          </a:xfrm>
          <a:prstGeom prst="rect">
            <a:avLst/>
          </a:prstGeom>
          <a:noFill/>
          <a:ln/>
        </p:spPr>
        <p:txBody>
          <a:bodyPr wrap="square" lIns="0" tIns="0" rIns="0" bIns="0" rtlCol="0" anchor="ctr"/>
          <a:lstStyle/>
          <a:p>
            <a:pPr marL="0" indent="0" algn="ctr">
              <a:buNone/>
            </a:pPr>
            <a:r>
              <a:rPr lang="en-US" sz="2000" b="1" dirty="0">
                <a:solidFill>
                  <a:srgbClr val="1E293B"/>
                </a:solidFill>
                <a:latin typeface="Cambria" pitchFamily="34" charset="0"/>
                <a:ea typeface="Cambria" pitchFamily="34" charset="-122"/>
                <a:cs typeface="Cambria" pitchFamily="34" charset="-120"/>
              </a:rPr>
              <a:t>19,811 ms</a:t>
            </a:r>
            <a:endParaRPr lang="en-US" sz="2000" dirty="0"/>
          </a:p>
        </p:txBody>
      </p:sp>
      <p:sp>
        <p:nvSpPr>
          <p:cNvPr id="13" name="Text 11"/>
          <p:cNvSpPr/>
          <p:nvPr/>
        </p:nvSpPr>
        <p:spPr>
          <a:xfrm>
            <a:off x="9052560" y="2514600"/>
            <a:ext cx="2423160" cy="274320"/>
          </a:xfrm>
          <a:prstGeom prst="rect">
            <a:avLst/>
          </a:prstGeom>
          <a:noFill/>
          <a:ln/>
        </p:spPr>
        <p:txBody>
          <a:bodyPr wrap="square" lIns="0" tIns="0" rIns="0" bIns="0"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Highest cost</a:t>
            </a:r>
            <a:endParaRPr lang="en-US" sz="1000" dirty="0"/>
          </a:p>
        </p:txBody>
      </p:sp>
      <p:sp>
        <p:nvSpPr>
          <p:cNvPr id="14" name="Shape 12"/>
          <p:cNvSpPr/>
          <p:nvPr/>
        </p:nvSpPr>
        <p:spPr>
          <a:xfrm>
            <a:off x="548640" y="3172968"/>
            <a:ext cx="11064240" cy="1508760"/>
          </a:xfrm>
          <a:prstGeom prst="rect">
            <a:avLst/>
          </a:prstGeom>
          <a:solidFill>
            <a:srgbClr val="F1F5F9"/>
          </a:solidFill>
          <a:ln w="6350">
            <a:solidFill>
              <a:srgbClr val="CBD5E1"/>
            </a:solidFill>
            <a:prstDash val="solid"/>
          </a:ln>
        </p:spPr>
        <p:txBody>
          <a:bodyPr/>
          <a:lstStyle/>
          <a:p>
            <a:endParaRPr lang="en-US"/>
          </a:p>
        </p:txBody>
      </p:sp>
      <p:sp>
        <p:nvSpPr>
          <p:cNvPr id="15" name="Shape 13"/>
          <p:cNvSpPr/>
          <p:nvPr/>
        </p:nvSpPr>
        <p:spPr>
          <a:xfrm>
            <a:off x="548640" y="3172968"/>
            <a:ext cx="73152" cy="1508760"/>
          </a:xfrm>
          <a:prstGeom prst="rect">
            <a:avLst/>
          </a:prstGeom>
          <a:solidFill>
            <a:srgbClr val="0F4C81"/>
          </a:solidFill>
          <a:ln w="12700">
            <a:solidFill>
              <a:srgbClr val="333333"/>
            </a:solidFill>
            <a:prstDash val="solid"/>
          </a:ln>
        </p:spPr>
        <p:txBody>
          <a:bodyPr/>
          <a:lstStyle/>
          <a:p>
            <a:endParaRPr lang="en-US"/>
          </a:p>
        </p:txBody>
      </p:sp>
      <p:sp>
        <p:nvSpPr>
          <p:cNvPr id="16" name="Text 14"/>
          <p:cNvSpPr/>
          <p:nvPr/>
        </p:nvSpPr>
        <p:spPr>
          <a:xfrm>
            <a:off x="731520" y="3310128"/>
            <a:ext cx="822960" cy="457200"/>
          </a:xfrm>
          <a:prstGeom prst="rect">
            <a:avLst/>
          </a:prstGeom>
          <a:noFill/>
          <a:ln/>
        </p:spPr>
        <p:txBody>
          <a:bodyPr wrap="square" lIns="0" tIns="0" rIns="0" bIns="0" rtlCol="0" anchor="ctr"/>
          <a:lstStyle/>
          <a:p>
            <a:pPr marL="0" indent="0">
              <a:buNone/>
            </a:pPr>
            <a:r>
              <a:rPr lang="en-US" sz="2400" b="1" dirty="0">
                <a:solidFill>
                  <a:srgbClr val="0F4C81"/>
                </a:solidFill>
                <a:latin typeface="Cambria" pitchFamily="34" charset="0"/>
                <a:ea typeface="Cambria" pitchFamily="34" charset="-122"/>
                <a:cs typeface="Cambria" pitchFamily="34" charset="-120"/>
              </a:rPr>
              <a:t>Q12</a:t>
            </a:r>
            <a:endParaRPr lang="en-US" sz="2400" dirty="0"/>
          </a:p>
        </p:txBody>
      </p:sp>
      <p:sp>
        <p:nvSpPr>
          <p:cNvPr id="17" name="Text 15"/>
          <p:cNvSpPr/>
          <p:nvPr/>
        </p:nvSpPr>
        <p:spPr>
          <a:xfrm>
            <a:off x="1600200" y="3310128"/>
            <a:ext cx="7315200" cy="365760"/>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Per-state disease composition profile</a:t>
            </a:r>
            <a:endParaRPr lang="en-US" sz="1500" dirty="0"/>
          </a:p>
        </p:txBody>
      </p:sp>
      <p:sp>
        <p:nvSpPr>
          <p:cNvPr id="18" name="Text 16"/>
          <p:cNvSpPr/>
          <p:nvPr/>
        </p:nvSpPr>
        <p:spPr>
          <a:xfrm>
            <a:off x="1600200" y="3675888"/>
            <a:ext cx="7315200" cy="960120"/>
          </a:xfrm>
          <a:prstGeom prst="rect">
            <a:avLst/>
          </a:prstGeom>
          <a:noFill/>
          <a:ln/>
        </p:spPr>
        <p:txBody>
          <a:bodyPr wrap="square" lIns="0" tIns="0" rIns="0" bIns="0" rtlCol="0" anchor="t"/>
          <a:lstStyle/>
          <a:p>
            <a:pPr marL="0" indent="0">
              <a:buNone/>
            </a:pPr>
            <a:r>
              <a:rPr lang="en-US" sz="1100" dirty="0">
                <a:solidFill>
                  <a:srgbClr val="334155"/>
                </a:solidFill>
                <a:latin typeface="Calibri" pitchFamily="34" charset="0"/>
                <a:ea typeface="Calibri" pitchFamily="34" charset="-122"/>
                <a:cs typeface="Calibri" pitchFamily="34" charset="-120"/>
              </a:rPr>
              <a:t>For each state, compute the percentage breakdown of reported cases across the 8 diseases. Produces a profile vector per state that could drive similarity or clustering analyses.</a:t>
            </a:r>
            <a:endParaRPr lang="en-US" sz="1100" dirty="0"/>
          </a:p>
        </p:txBody>
      </p:sp>
      <p:sp>
        <p:nvSpPr>
          <p:cNvPr id="19" name="Shape 17"/>
          <p:cNvSpPr/>
          <p:nvPr/>
        </p:nvSpPr>
        <p:spPr>
          <a:xfrm>
            <a:off x="9052560" y="3355848"/>
            <a:ext cx="2423160" cy="1143000"/>
          </a:xfrm>
          <a:prstGeom prst="rect">
            <a:avLst/>
          </a:prstGeom>
          <a:solidFill>
            <a:srgbClr val="FFFFFF"/>
          </a:solidFill>
          <a:ln w="12700">
            <a:solidFill>
              <a:srgbClr val="0F4C81"/>
            </a:solidFill>
            <a:prstDash val="solid"/>
          </a:ln>
        </p:spPr>
        <p:txBody>
          <a:bodyPr/>
          <a:lstStyle/>
          <a:p>
            <a:endParaRPr lang="en-US"/>
          </a:p>
        </p:txBody>
      </p:sp>
      <p:sp>
        <p:nvSpPr>
          <p:cNvPr id="20" name="Text 18"/>
          <p:cNvSpPr/>
          <p:nvPr/>
        </p:nvSpPr>
        <p:spPr>
          <a:xfrm>
            <a:off x="9052560" y="3447288"/>
            <a:ext cx="2423160" cy="228600"/>
          </a:xfrm>
          <a:prstGeom prst="rect">
            <a:avLst/>
          </a:prstGeom>
          <a:noFill/>
          <a:ln/>
        </p:spPr>
        <p:txBody>
          <a:bodyPr wrap="square" lIns="0" tIns="0" rIns="0" bIns="0" rtlCol="0" anchor="ctr"/>
          <a:lstStyle/>
          <a:p>
            <a:pPr marL="0" indent="0" algn="ctr">
              <a:buNone/>
            </a:pPr>
            <a:r>
              <a:rPr lang="en-US" sz="800" b="1" kern="0" spc="200" dirty="0">
                <a:solidFill>
                  <a:srgbClr val="0F4C81"/>
                </a:solidFill>
                <a:latin typeface="Calibri" pitchFamily="34" charset="0"/>
                <a:ea typeface="Calibri" pitchFamily="34" charset="-122"/>
                <a:cs typeface="Calibri" pitchFamily="34" charset="-120"/>
              </a:rPr>
              <a:t>MEDIAN EXECUTION</a:t>
            </a:r>
            <a:endParaRPr lang="en-US" sz="800" dirty="0"/>
          </a:p>
        </p:txBody>
      </p:sp>
      <p:sp>
        <p:nvSpPr>
          <p:cNvPr id="21" name="Text 19"/>
          <p:cNvSpPr/>
          <p:nvPr/>
        </p:nvSpPr>
        <p:spPr>
          <a:xfrm>
            <a:off x="9052560" y="3675888"/>
            <a:ext cx="2423160" cy="457200"/>
          </a:xfrm>
          <a:prstGeom prst="rect">
            <a:avLst/>
          </a:prstGeom>
          <a:noFill/>
          <a:ln/>
        </p:spPr>
        <p:txBody>
          <a:bodyPr wrap="square" lIns="0" tIns="0" rIns="0" bIns="0" rtlCol="0" anchor="ctr"/>
          <a:lstStyle/>
          <a:p>
            <a:pPr marL="0" indent="0" algn="ctr">
              <a:buNone/>
            </a:pPr>
            <a:r>
              <a:rPr lang="en-US" sz="2000" b="1" dirty="0">
                <a:solidFill>
                  <a:srgbClr val="1E293B"/>
                </a:solidFill>
                <a:latin typeface="Cambria" pitchFamily="34" charset="0"/>
                <a:ea typeface="Cambria" pitchFamily="34" charset="-122"/>
                <a:cs typeface="Cambria" pitchFamily="34" charset="-120"/>
              </a:rPr>
              <a:t>252 ms</a:t>
            </a:r>
            <a:endParaRPr lang="en-US" sz="2000" dirty="0"/>
          </a:p>
        </p:txBody>
      </p:sp>
      <p:sp>
        <p:nvSpPr>
          <p:cNvPr id="22" name="Text 20"/>
          <p:cNvSpPr/>
          <p:nvPr/>
        </p:nvSpPr>
        <p:spPr>
          <a:xfrm>
            <a:off x="9052560" y="4133088"/>
            <a:ext cx="2423160" cy="274320"/>
          </a:xfrm>
          <a:prstGeom prst="rect">
            <a:avLst/>
          </a:prstGeom>
          <a:noFill/>
          <a:ln/>
        </p:spPr>
        <p:txBody>
          <a:bodyPr wrap="square" lIns="0" tIns="0" rIns="0" bIns="0"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Low cost</a:t>
            </a:r>
            <a:endParaRPr lang="en-US" sz="1000" dirty="0"/>
          </a:p>
        </p:txBody>
      </p:sp>
      <p:sp>
        <p:nvSpPr>
          <p:cNvPr id="23" name="Shape 21"/>
          <p:cNvSpPr/>
          <p:nvPr/>
        </p:nvSpPr>
        <p:spPr>
          <a:xfrm>
            <a:off x="548640" y="4791456"/>
            <a:ext cx="11064240" cy="1508760"/>
          </a:xfrm>
          <a:prstGeom prst="rect">
            <a:avLst/>
          </a:prstGeom>
          <a:solidFill>
            <a:srgbClr val="F1F5F9"/>
          </a:solidFill>
          <a:ln w="6350">
            <a:solidFill>
              <a:srgbClr val="CBD5E1"/>
            </a:solidFill>
            <a:prstDash val="solid"/>
          </a:ln>
        </p:spPr>
        <p:txBody>
          <a:bodyPr/>
          <a:lstStyle/>
          <a:p>
            <a:endParaRPr lang="en-US"/>
          </a:p>
        </p:txBody>
      </p:sp>
      <p:sp>
        <p:nvSpPr>
          <p:cNvPr id="24" name="Shape 22"/>
          <p:cNvSpPr/>
          <p:nvPr/>
        </p:nvSpPr>
        <p:spPr>
          <a:xfrm>
            <a:off x="548640" y="4791456"/>
            <a:ext cx="73152" cy="1508760"/>
          </a:xfrm>
          <a:prstGeom prst="rect">
            <a:avLst/>
          </a:prstGeom>
          <a:solidFill>
            <a:srgbClr val="0F4C81"/>
          </a:solidFill>
          <a:ln w="12700">
            <a:solidFill>
              <a:srgbClr val="333333"/>
            </a:solidFill>
            <a:prstDash val="solid"/>
          </a:ln>
        </p:spPr>
        <p:txBody>
          <a:bodyPr/>
          <a:lstStyle/>
          <a:p>
            <a:endParaRPr lang="en-US"/>
          </a:p>
        </p:txBody>
      </p:sp>
      <p:sp>
        <p:nvSpPr>
          <p:cNvPr id="25" name="Text 23"/>
          <p:cNvSpPr/>
          <p:nvPr/>
        </p:nvSpPr>
        <p:spPr>
          <a:xfrm>
            <a:off x="731520" y="4928616"/>
            <a:ext cx="822960" cy="457200"/>
          </a:xfrm>
          <a:prstGeom prst="rect">
            <a:avLst/>
          </a:prstGeom>
          <a:noFill/>
          <a:ln/>
        </p:spPr>
        <p:txBody>
          <a:bodyPr wrap="square" lIns="0" tIns="0" rIns="0" bIns="0" rtlCol="0" anchor="ctr"/>
          <a:lstStyle/>
          <a:p>
            <a:pPr marL="0" indent="0">
              <a:buNone/>
            </a:pPr>
            <a:r>
              <a:rPr lang="en-US" sz="2400" b="1" dirty="0">
                <a:solidFill>
                  <a:srgbClr val="0F4C81"/>
                </a:solidFill>
                <a:latin typeface="Cambria" pitchFamily="34" charset="0"/>
                <a:ea typeface="Cambria" pitchFamily="34" charset="-122"/>
                <a:cs typeface="Cambria" pitchFamily="34" charset="-120"/>
              </a:rPr>
              <a:t>Q13</a:t>
            </a:r>
            <a:endParaRPr lang="en-US" sz="2400" dirty="0"/>
          </a:p>
        </p:txBody>
      </p:sp>
      <p:sp>
        <p:nvSpPr>
          <p:cNvPr id="26" name="Text 24"/>
          <p:cNvSpPr/>
          <p:nvPr/>
        </p:nvSpPr>
        <p:spPr>
          <a:xfrm>
            <a:off x="1600200" y="4928616"/>
            <a:ext cx="7315200" cy="365760"/>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Disease centrality / geographic coverage</a:t>
            </a:r>
            <a:endParaRPr lang="en-US" sz="1500" dirty="0"/>
          </a:p>
        </p:txBody>
      </p:sp>
      <p:sp>
        <p:nvSpPr>
          <p:cNvPr id="27" name="Text 25"/>
          <p:cNvSpPr/>
          <p:nvPr/>
        </p:nvSpPr>
        <p:spPr>
          <a:xfrm>
            <a:off x="1600200" y="5294376"/>
            <a:ext cx="7315200" cy="960120"/>
          </a:xfrm>
          <a:prstGeom prst="rect">
            <a:avLst/>
          </a:prstGeom>
          <a:noFill/>
          <a:ln/>
        </p:spPr>
        <p:txBody>
          <a:bodyPr wrap="square" lIns="0" tIns="0" rIns="0" bIns="0" rtlCol="0" anchor="t"/>
          <a:lstStyle/>
          <a:p>
            <a:pPr marL="0" indent="0">
              <a:buNone/>
            </a:pPr>
            <a:r>
              <a:rPr lang="en-US" sz="1100" dirty="0">
                <a:solidFill>
                  <a:srgbClr val="334155"/>
                </a:solidFill>
                <a:latin typeface="Calibri" pitchFamily="34" charset="0"/>
                <a:ea typeface="Calibri" pitchFamily="34" charset="-122"/>
                <a:cs typeface="Calibri" pitchFamily="34" charset="-120"/>
              </a:rPr>
              <a:t>For each disease, count the distinct (state, year) combinations with significant case counts, normalised against the full 51 × 96 = 4,896 space. A coverage fraction across the corpus.</a:t>
            </a:r>
            <a:endParaRPr lang="en-US" sz="1100" dirty="0"/>
          </a:p>
        </p:txBody>
      </p:sp>
      <p:sp>
        <p:nvSpPr>
          <p:cNvPr id="28" name="Shape 26"/>
          <p:cNvSpPr/>
          <p:nvPr/>
        </p:nvSpPr>
        <p:spPr>
          <a:xfrm>
            <a:off x="9052560" y="4974336"/>
            <a:ext cx="2423160" cy="1143000"/>
          </a:xfrm>
          <a:prstGeom prst="rect">
            <a:avLst/>
          </a:prstGeom>
          <a:solidFill>
            <a:srgbClr val="FFFFFF"/>
          </a:solidFill>
          <a:ln w="12700">
            <a:solidFill>
              <a:srgbClr val="0F4C81"/>
            </a:solidFill>
            <a:prstDash val="solid"/>
          </a:ln>
        </p:spPr>
        <p:txBody>
          <a:bodyPr/>
          <a:lstStyle/>
          <a:p>
            <a:endParaRPr lang="en-US"/>
          </a:p>
        </p:txBody>
      </p:sp>
      <p:sp>
        <p:nvSpPr>
          <p:cNvPr id="29" name="Text 27"/>
          <p:cNvSpPr/>
          <p:nvPr/>
        </p:nvSpPr>
        <p:spPr>
          <a:xfrm>
            <a:off x="9052560" y="5065776"/>
            <a:ext cx="2423160" cy="228600"/>
          </a:xfrm>
          <a:prstGeom prst="rect">
            <a:avLst/>
          </a:prstGeom>
          <a:noFill/>
          <a:ln/>
        </p:spPr>
        <p:txBody>
          <a:bodyPr wrap="square" lIns="0" tIns="0" rIns="0" bIns="0" rtlCol="0" anchor="ctr"/>
          <a:lstStyle/>
          <a:p>
            <a:pPr marL="0" indent="0" algn="ctr">
              <a:buNone/>
            </a:pPr>
            <a:r>
              <a:rPr lang="en-US" sz="800" b="1" kern="0" spc="200" dirty="0">
                <a:solidFill>
                  <a:srgbClr val="0F4C81"/>
                </a:solidFill>
                <a:latin typeface="Calibri" pitchFamily="34" charset="0"/>
                <a:ea typeface="Calibri" pitchFamily="34" charset="-122"/>
                <a:cs typeface="Calibri" pitchFamily="34" charset="-120"/>
              </a:rPr>
              <a:t>MEDIAN EXECUTION</a:t>
            </a:r>
            <a:endParaRPr lang="en-US" sz="800" dirty="0"/>
          </a:p>
        </p:txBody>
      </p:sp>
      <p:sp>
        <p:nvSpPr>
          <p:cNvPr id="30" name="Text 28"/>
          <p:cNvSpPr/>
          <p:nvPr/>
        </p:nvSpPr>
        <p:spPr>
          <a:xfrm>
            <a:off x="9052560" y="5294376"/>
            <a:ext cx="2423160" cy="457200"/>
          </a:xfrm>
          <a:prstGeom prst="rect">
            <a:avLst/>
          </a:prstGeom>
          <a:noFill/>
          <a:ln/>
        </p:spPr>
        <p:txBody>
          <a:bodyPr wrap="square" lIns="0" tIns="0" rIns="0" bIns="0" rtlCol="0" anchor="ctr"/>
          <a:lstStyle/>
          <a:p>
            <a:pPr marL="0" indent="0" algn="ctr">
              <a:buNone/>
            </a:pPr>
            <a:r>
              <a:rPr lang="en-US" sz="2000" b="1" dirty="0">
                <a:solidFill>
                  <a:srgbClr val="1E293B"/>
                </a:solidFill>
                <a:latin typeface="Cambria" pitchFamily="34" charset="0"/>
                <a:ea typeface="Cambria" pitchFamily="34" charset="-122"/>
                <a:cs typeface="Cambria" pitchFamily="34" charset="-120"/>
              </a:rPr>
              <a:t>165 ms</a:t>
            </a:r>
            <a:endParaRPr lang="en-US" sz="2000" dirty="0"/>
          </a:p>
        </p:txBody>
      </p:sp>
      <p:sp>
        <p:nvSpPr>
          <p:cNvPr id="31" name="Text 29"/>
          <p:cNvSpPr/>
          <p:nvPr/>
        </p:nvSpPr>
        <p:spPr>
          <a:xfrm>
            <a:off x="9052560" y="5751576"/>
            <a:ext cx="2423160" cy="274320"/>
          </a:xfrm>
          <a:prstGeom prst="rect">
            <a:avLst/>
          </a:prstGeom>
          <a:noFill/>
          <a:ln/>
        </p:spPr>
        <p:txBody>
          <a:bodyPr wrap="square" lIns="0" tIns="0" rIns="0" bIns="0"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Low cost</a:t>
            </a:r>
            <a:endParaRPr lang="en-US" sz="1000" dirty="0"/>
          </a:p>
        </p:txBody>
      </p:sp>
      <p:sp>
        <p:nvSpPr>
          <p:cNvPr id="32" name="Text 30"/>
          <p:cNvSpPr/>
          <p:nvPr/>
        </p:nvSpPr>
        <p:spPr>
          <a:xfrm>
            <a:off x="731519" y="5863472"/>
            <a:ext cx="7648909" cy="436744"/>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Q11's 19.8 s median reflects the shape of the computation (a near-Cartesian product of observation pairs across bordering states), not the engine. This is the expected cost profile for a non-trivial graph-pattern query and precisely why it cannot be answered efficiently in SQL or MongoDB.</a:t>
            </a:r>
            <a:endParaRPr lang="en-US" sz="1000" dirty="0"/>
          </a:p>
        </p:txBody>
      </p:sp>
      <p:sp>
        <p:nvSpPr>
          <p:cNvPr id="33" name="Text 31"/>
          <p:cNvSpPr/>
          <p:nvPr/>
        </p:nvSpPr>
        <p:spPr>
          <a:xfrm>
            <a:off x="548640" y="6446520"/>
            <a:ext cx="73152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Anwar Debes · IKT453 · University of Agder</a:t>
            </a:r>
            <a:endParaRPr lang="en-US" sz="900" dirty="0"/>
          </a:p>
        </p:txBody>
      </p:sp>
      <p:sp>
        <p:nvSpPr>
          <p:cNvPr id="34" name="Text 32"/>
          <p:cNvSpPr/>
          <p:nvPr/>
        </p:nvSpPr>
        <p:spPr>
          <a:xfrm>
            <a:off x="10789920" y="6446520"/>
            <a:ext cx="86868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15 / 20</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02920"/>
          </a:xfrm>
          <a:prstGeom prst="rect">
            <a:avLst/>
          </a:prstGeom>
          <a:noFill/>
          <a:ln/>
        </p:spPr>
        <p:txBody>
          <a:bodyPr wrap="square" lIns="0" tIns="0" rIns="0" bIns="0" rtlCol="0" anchor="ctr"/>
          <a:lstStyle/>
          <a:p>
            <a:pPr marL="0" indent="0" algn="l">
              <a:buNone/>
            </a:pPr>
            <a:r>
              <a:rPr lang="en-US" sz="2800" b="1" dirty="0">
                <a:solidFill>
                  <a:srgbClr val="1E293B"/>
                </a:solidFill>
                <a:latin typeface="Cambria" pitchFamily="34" charset="0"/>
                <a:ea typeface="Cambria" pitchFamily="34" charset="-122"/>
                <a:cs typeface="Cambria" pitchFamily="34" charset="-120"/>
              </a:rPr>
              <a:t>Analytical Insight Vaccination Impact (Q8)</a:t>
            </a:r>
            <a:endParaRPr lang="en-US" sz="2800" dirty="0"/>
          </a:p>
        </p:txBody>
      </p:sp>
      <p:sp>
        <p:nvSpPr>
          <p:cNvPr id="3" name="Text 1"/>
          <p:cNvSpPr/>
          <p:nvPr/>
        </p:nvSpPr>
        <p:spPr>
          <a:xfrm>
            <a:off x="548640" y="841248"/>
            <a:ext cx="11064240" cy="292608"/>
          </a:xfrm>
          <a:prstGeom prst="rect">
            <a:avLst/>
          </a:prstGeom>
          <a:noFill/>
          <a:ln/>
        </p:spPr>
        <p:txBody>
          <a:bodyPr wrap="square" lIns="0" tIns="0" rIns="0" bIns="0" rtlCol="0" anchor="ctr"/>
          <a:lstStyle/>
          <a:p>
            <a:pPr marL="0" indent="0" algn="l">
              <a:buNone/>
            </a:pPr>
            <a:r>
              <a:rPr lang="en-US" sz="1300" i="1" dirty="0">
                <a:solidFill>
                  <a:srgbClr val="64748B"/>
                </a:solidFill>
                <a:latin typeface="Calibri" pitchFamily="34" charset="0"/>
                <a:ea typeface="Calibri" pitchFamily="34" charset="-122"/>
                <a:cs typeface="Calibri" pitchFamily="34" charset="-120"/>
              </a:rPr>
              <a:t>Average annual cases: decade before vs. decade after vaccine introduction</a:t>
            </a:r>
            <a:endParaRPr lang="en-US" sz="1300" dirty="0"/>
          </a:p>
        </p:txBody>
      </p:sp>
      <p:sp>
        <p:nvSpPr>
          <p:cNvPr id="4" name="Shape 2"/>
          <p:cNvSpPr/>
          <p:nvPr/>
        </p:nvSpPr>
        <p:spPr>
          <a:xfrm>
            <a:off x="548640" y="1207008"/>
            <a:ext cx="11064240" cy="0"/>
          </a:xfrm>
          <a:prstGeom prst="line">
            <a:avLst/>
          </a:prstGeom>
          <a:noFill/>
          <a:ln w="9525">
            <a:solidFill>
              <a:srgbClr val="CBD5E1"/>
            </a:solidFill>
            <a:prstDash val="solid"/>
          </a:ln>
        </p:spPr>
        <p:txBody>
          <a:bodyPr/>
          <a:lstStyle/>
          <a:p>
            <a:endParaRPr lang="en-US"/>
          </a:p>
        </p:txBody>
      </p:sp>
      <p:graphicFrame>
        <p:nvGraphicFramePr>
          <p:cNvPr id="5" name="Chart 0"/>
          <p:cNvGraphicFramePr/>
          <p:nvPr/>
        </p:nvGraphicFramePr>
        <p:xfrm>
          <a:off x="548640" y="1371600"/>
          <a:ext cx="7589520" cy="475488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8366760" y="1371600"/>
            <a:ext cx="3246120" cy="320040"/>
          </a:xfrm>
          <a:prstGeom prst="rect">
            <a:avLst/>
          </a:prstGeom>
          <a:noFill/>
          <a:ln/>
        </p:spPr>
        <p:txBody>
          <a:bodyPr wrap="square" lIns="0" tIns="0" rIns="0" bIns="0" rtlCol="0" anchor="ctr"/>
          <a:lstStyle/>
          <a:p>
            <a:pPr marL="0" indent="0">
              <a:buNone/>
            </a:pPr>
            <a:r>
              <a:rPr lang="en-US" sz="1200" b="1" kern="0" spc="200" dirty="0">
                <a:solidFill>
                  <a:srgbClr val="0F4C81"/>
                </a:solidFill>
                <a:latin typeface="Calibri" pitchFamily="34" charset="0"/>
                <a:ea typeface="Calibri" pitchFamily="34" charset="-122"/>
                <a:cs typeface="Calibri" pitchFamily="34" charset="-120"/>
              </a:rPr>
              <a:t>Reduction after vaccine</a:t>
            </a:r>
            <a:endParaRPr lang="en-US" sz="1200" dirty="0"/>
          </a:p>
        </p:txBody>
      </p:sp>
      <p:sp>
        <p:nvSpPr>
          <p:cNvPr id="7" name="Shape 4"/>
          <p:cNvSpPr/>
          <p:nvPr/>
        </p:nvSpPr>
        <p:spPr>
          <a:xfrm>
            <a:off x="8366760" y="1783080"/>
            <a:ext cx="3246120" cy="438912"/>
          </a:xfrm>
          <a:prstGeom prst="rect">
            <a:avLst/>
          </a:prstGeom>
          <a:solidFill>
            <a:srgbClr val="F1F5F9"/>
          </a:solidFill>
          <a:ln w="3810">
            <a:solidFill>
              <a:srgbClr val="CBD5E1"/>
            </a:solidFill>
            <a:prstDash val="solid"/>
          </a:ln>
        </p:spPr>
        <p:txBody>
          <a:bodyPr/>
          <a:lstStyle/>
          <a:p>
            <a:endParaRPr lang="en-US"/>
          </a:p>
        </p:txBody>
      </p:sp>
      <p:sp>
        <p:nvSpPr>
          <p:cNvPr id="8" name="Text 5"/>
          <p:cNvSpPr/>
          <p:nvPr/>
        </p:nvSpPr>
        <p:spPr>
          <a:xfrm>
            <a:off x="8503920" y="1783080"/>
            <a:ext cx="1828800" cy="438912"/>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Polio</a:t>
            </a:r>
            <a:endParaRPr lang="en-US" sz="1200" dirty="0"/>
          </a:p>
        </p:txBody>
      </p:sp>
      <p:sp>
        <p:nvSpPr>
          <p:cNvPr id="9" name="Text 6"/>
          <p:cNvSpPr/>
          <p:nvPr/>
        </p:nvSpPr>
        <p:spPr>
          <a:xfrm>
            <a:off x="10104120" y="1783080"/>
            <a:ext cx="1417320" cy="438912"/>
          </a:xfrm>
          <a:prstGeom prst="rect">
            <a:avLst/>
          </a:prstGeom>
          <a:noFill/>
          <a:ln/>
        </p:spPr>
        <p:txBody>
          <a:bodyPr wrap="square" lIns="0" tIns="0" rIns="0" bIns="0" rtlCol="0" anchor="ctr"/>
          <a:lstStyle/>
          <a:p>
            <a:pPr marL="0" indent="0" algn="r">
              <a:buNone/>
            </a:pPr>
            <a:r>
              <a:rPr lang="en-US" sz="1400" b="1" dirty="0">
                <a:solidFill>
                  <a:srgbClr val="15803D"/>
                </a:solidFill>
                <a:latin typeface="Calibri" pitchFamily="34" charset="0"/>
                <a:ea typeface="Calibri" pitchFamily="34" charset="-122"/>
                <a:cs typeface="Calibri" pitchFamily="34" charset="-120"/>
              </a:rPr>
              <a:t>−86.83%</a:t>
            </a:r>
            <a:endParaRPr lang="en-US" sz="1400" dirty="0"/>
          </a:p>
        </p:txBody>
      </p:sp>
      <p:sp>
        <p:nvSpPr>
          <p:cNvPr id="10" name="Shape 7"/>
          <p:cNvSpPr/>
          <p:nvPr/>
        </p:nvSpPr>
        <p:spPr>
          <a:xfrm>
            <a:off x="8366760" y="2295144"/>
            <a:ext cx="3246120" cy="438912"/>
          </a:xfrm>
          <a:prstGeom prst="rect">
            <a:avLst/>
          </a:prstGeom>
          <a:solidFill>
            <a:srgbClr val="FFFFFF"/>
          </a:solidFill>
          <a:ln w="3810">
            <a:solidFill>
              <a:srgbClr val="CBD5E1"/>
            </a:solidFill>
            <a:prstDash val="solid"/>
          </a:ln>
        </p:spPr>
        <p:txBody>
          <a:bodyPr/>
          <a:lstStyle/>
          <a:p>
            <a:endParaRPr lang="en-US"/>
          </a:p>
        </p:txBody>
      </p:sp>
      <p:sp>
        <p:nvSpPr>
          <p:cNvPr id="11" name="Text 8"/>
          <p:cNvSpPr/>
          <p:nvPr/>
        </p:nvSpPr>
        <p:spPr>
          <a:xfrm>
            <a:off x="8503920" y="2295144"/>
            <a:ext cx="1828800" cy="438912"/>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Measles</a:t>
            </a:r>
            <a:endParaRPr lang="en-US" sz="1200" dirty="0"/>
          </a:p>
        </p:txBody>
      </p:sp>
      <p:sp>
        <p:nvSpPr>
          <p:cNvPr id="12" name="Text 9"/>
          <p:cNvSpPr/>
          <p:nvPr/>
        </p:nvSpPr>
        <p:spPr>
          <a:xfrm>
            <a:off x="10104120" y="2295144"/>
            <a:ext cx="1417320" cy="438912"/>
          </a:xfrm>
          <a:prstGeom prst="rect">
            <a:avLst/>
          </a:prstGeom>
          <a:noFill/>
          <a:ln/>
        </p:spPr>
        <p:txBody>
          <a:bodyPr wrap="square" lIns="0" tIns="0" rIns="0" bIns="0" rtlCol="0" anchor="ctr"/>
          <a:lstStyle/>
          <a:p>
            <a:pPr marL="0" indent="0" algn="r">
              <a:buNone/>
            </a:pPr>
            <a:r>
              <a:rPr lang="en-US" sz="1400" b="1" dirty="0">
                <a:solidFill>
                  <a:srgbClr val="15803D"/>
                </a:solidFill>
                <a:latin typeface="Calibri" pitchFamily="34" charset="0"/>
                <a:ea typeface="Calibri" pitchFamily="34" charset="-122"/>
                <a:cs typeface="Calibri" pitchFamily="34" charset="-120"/>
              </a:rPr>
              <a:t>−77.02%</a:t>
            </a:r>
            <a:endParaRPr lang="en-US" sz="1400" dirty="0"/>
          </a:p>
        </p:txBody>
      </p:sp>
      <p:sp>
        <p:nvSpPr>
          <p:cNvPr id="13" name="Shape 10"/>
          <p:cNvSpPr/>
          <p:nvPr/>
        </p:nvSpPr>
        <p:spPr>
          <a:xfrm>
            <a:off x="8366760" y="2807208"/>
            <a:ext cx="3246120" cy="438912"/>
          </a:xfrm>
          <a:prstGeom prst="rect">
            <a:avLst/>
          </a:prstGeom>
          <a:solidFill>
            <a:srgbClr val="F1F5F9"/>
          </a:solidFill>
          <a:ln w="3810">
            <a:solidFill>
              <a:srgbClr val="CBD5E1"/>
            </a:solidFill>
            <a:prstDash val="solid"/>
          </a:ln>
        </p:spPr>
        <p:txBody>
          <a:bodyPr/>
          <a:lstStyle/>
          <a:p>
            <a:endParaRPr lang="en-US"/>
          </a:p>
        </p:txBody>
      </p:sp>
      <p:sp>
        <p:nvSpPr>
          <p:cNvPr id="14" name="Text 11"/>
          <p:cNvSpPr/>
          <p:nvPr/>
        </p:nvSpPr>
        <p:spPr>
          <a:xfrm>
            <a:off x="8503920" y="2807208"/>
            <a:ext cx="1828800" cy="438912"/>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Pertussis</a:t>
            </a:r>
            <a:endParaRPr lang="en-US" sz="1200" dirty="0"/>
          </a:p>
        </p:txBody>
      </p:sp>
      <p:sp>
        <p:nvSpPr>
          <p:cNvPr id="15" name="Text 12"/>
          <p:cNvSpPr/>
          <p:nvPr/>
        </p:nvSpPr>
        <p:spPr>
          <a:xfrm>
            <a:off x="10104120" y="2807208"/>
            <a:ext cx="1417320" cy="438912"/>
          </a:xfrm>
          <a:prstGeom prst="rect">
            <a:avLst/>
          </a:prstGeom>
          <a:noFill/>
          <a:ln/>
        </p:spPr>
        <p:txBody>
          <a:bodyPr wrap="square" lIns="0" tIns="0" rIns="0" bIns="0" rtlCol="0" anchor="ctr"/>
          <a:lstStyle/>
          <a:p>
            <a:pPr marL="0" indent="0" algn="r">
              <a:buNone/>
            </a:pPr>
            <a:r>
              <a:rPr lang="en-US" sz="1400" b="1" dirty="0">
                <a:solidFill>
                  <a:srgbClr val="15803D"/>
                </a:solidFill>
                <a:latin typeface="Calibri" pitchFamily="34" charset="0"/>
                <a:ea typeface="Calibri" pitchFamily="34" charset="-122"/>
                <a:cs typeface="Calibri" pitchFamily="34" charset="-120"/>
              </a:rPr>
              <a:t>−58.97%</a:t>
            </a:r>
            <a:endParaRPr lang="en-US" sz="1400" dirty="0"/>
          </a:p>
        </p:txBody>
      </p:sp>
      <p:sp>
        <p:nvSpPr>
          <p:cNvPr id="16" name="Shape 13"/>
          <p:cNvSpPr/>
          <p:nvPr/>
        </p:nvSpPr>
        <p:spPr>
          <a:xfrm>
            <a:off x="8366760" y="3319272"/>
            <a:ext cx="3246120" cy="438912"/>
          </a:xfrm>
          <a:prstGeom prst="rect">
            <a:avLst/>
          </a:prstGeom>
          <a:solidFill>
            <a:srgbClr val="FFFFFF"/>
          </a:solidFill>
          <a:ln w="3810">
            <a:solidFill>
              <a:srgbClr val="CBD5E1"/>
            </a:solidFill>
            <a:prstDash val="solid"/>
          </a:ln>
        </p:spPr>
        <p:txBody>
          <a:bodyPr/>
          <a:lstStyle/>
          <a:p>
            <a:endParaRPr lang="en-US"/>
          </a:p>
        </p:txBody>
      </p:sp>
      <p:sp>
        <p:nvSpPr>
          <p:cNvPr id="17" name="Text 14"/>
          <p:cNvSpPr/>
          <p:nvPr/>
        </p:nvSpPr>
        <p:spPr>
          <a:xfrm>
            <a:off x="8503920" y="3319272"/>
            <a:ext cx="1828800" cy="438912"/>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Rubella</a:t>
            </a:r>
            <a:endParaRPr lang="en-US" sz="1200" dirty="0"/>
          </a:p>
        </p:txBody>
      </p:sp>
      <p:sp>
        <p:nvSpPr>
          <p:cNvPr id="18" name="Text 15"/>
          <p:cNvSpPr/>
          <p:nvPr/>
        </p:nvSpPr>
        <p:spPr>
          <a:xfrm>
            <a:off x="10104120" y="3319272"/>
            <a:ext cx="1417320" cy="438912"/>
          </a:xfrm>
          <a:prstGeom prst="rect">
            <a:avLst/>
          </a:prstGeom>
          <a:noFill/>
          <a:ln/>
        </p:spPr>
        <p:txBody>
          <a:bodyPr wrap="square" lIns="0" tIns="0" rIns="0" bIns="0" rtlCol="0" anchor="ctr"/>
          <a:lstStyle/>
          <a:p>
            <a:pPr marL="0" indent="0" algn="r">
              <a:buNone/>
            </a:pPr>
            <a:r>
              <a:rPr lang="en-US" sz="1400" b="1" dirty="0">
                <a:solidFill>
                  <a:srgbClr val="15803D"/>
                </a:solidFill>
                <a:latin typeface="Calibri" pitchFamily="34" charset="0"/>
                <a:ea typeface="Calibri" pitchFamily="34" charset="-122"/>
                <a:cs typeface="Calibri" pitchFamily="34" charset="-120"/>
              </a:rPr>
              <a:t>−48.35%</a:t>
            </a:r>
            <a:endParaRPr lang="en-US" sz="1400" dirty="0"/>
          </a:p>
        </p:txBody>
      </p:sp>
      <p:sp>
        <p:nvSpPr>
          <p:cNvPr id="19" name="Shape 16"/>
          <p:cNvSpPr/>
          <p:nvPr/>
        </p:nvSpPr>
        <p:spPr>
          <a:xfrm>
            <a:off x="8366760" y="3831336"/>
            <a:ext cx="3246120" cy="438912"/>
          </a:xfrm>
          <a:prstGeom prst="rect">
            <a:avLst/>
          </a:prstGeom>
          <a:solidFill>
            <a:srgbClr val="F1F5F9"/>
          </a:solidFill>
          <a:ln w="3810">
            <a:solidFill>
              <a:srgbClr val="CBD5E1"/>
            </a:solidFill>
            <a:prstDash val="solid"/>
          </a:ln>
        </p:spPr>
        <p:txBody>
          <a:bodyPr/>
          <a:lstStyle/>
          <a:p>
            <a:endParaRPr lang="en-US"/>
          </a:p>
        </p:txBody>
      </p:sp>
      <p:sp>
        <p:nvSpPr>
          <p:cNvPr id="20" name="Text 17"/>
          <p:cNvSpPr/>
          <p:nvPr/>
        </p:nvSpPr>
        <p:spPr>
          <a:xfrm>
            <a:off x="8503920" y="3831336"/>
            <a:ext cx="1828800" cy="438912"/>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Diphtheria</a:t>
            </a:r>
            <a:endParaRPr lang="en-US" sz="1200" dirty="0"/>
          </a:p>
        </p:txBody>
      </p:sp>
      <p:sp>
        <p:nvSpPr>
          <p:cNvPr id="21" name="Text 18"/>
          <p:cNvSpPr/>
          <p:nvPr/>
        </p:nvSpPr>
        <p:spPr>
          <a:xfrm>
            <a:off x="10104120" y="3831336"/>
            <a:ext cx="1417320" cy="438912"/>
          </a:xfrm>
          <a:prstGeom prst="rect">
            <a:avLst/>
          </a:prstGeom>
          <a:noFill/>
          <a:ln/>
        </p:spPr>
        <p:txBody>
          <a:bodyPr wrap="square" lIns="0" tIns="0" rIns="0" bIns="0" rtlCol="0" anchor="ctr"/>
          <a:lstStyle/>
          <a:p>
            <a:pPr marL="0" indent="0" algn="r">
              <a:buNone/>
            </a:pPr>
            <a:r>
              <a:rPr lang="en-US" sz="1400" b="1" dirty="0">
                <a:solidFill>
                  <a:srgbClr val="15803D"/>
                </a:solidFill>
                <a:latin typeface="Calibri" pitchFamily="34" charset="0"/>
                <a:ea typeface="Calibri" pitchFamily="34" charset="-122"/>
                <a:cs typeface="Calibri" pitchFamily="34" charset="-120"/>
              </a:rPr>
              <a:t>−47.21%</a:t>
            </a:r>
            <a:endParaRPr lang="en-US" sz="1400" dirty="0"/>
          </a:p>
        </p:txBody>
      </p:sp>
      <p:sp>
        <p:nvSpPr>
          <p:cNvPr id="22" name="Shape 19"/>
          <p:cNvSpPr/>
          <p:nvPr/>
        </p:nvSpPr>
        <p:spPr>
          <a:xfrm>
            <a:off x="8366760" y="4343400"/>
            <a:ext cx="3246120" cy="438912"/>
          </a:xfrm>
          <a:prstGeom prst="rect">
            <a:avLst/>
          </a:prstGeom>
          <a:solidFill>
            <a:srgbClr val="FFFFFF"/>
          </a:solidFill>
          <a:ln w="3810">
            <a:solidFill>
              <a:srgbClr val="CBD5E1"/>
            </a:solidFill>
            <a:prstDash val="solid"/>
          </a:ln>
        </p:spPr>
        <p:txBody>
          <a:bodyPr/>
          <a:lstStyle/>
          <a:p>
            <a:endParaRPr lang="en-US"/>
          </a:p>
        </p:txBody>
      </p:sp>
      <p:sp>
        <p:nvSpPr>
          <p:cNvPr id="23" name="Text 20"/>
          <p:cNvSpPr/>
          <p:nvPr/>
        </p:nvSpPr>
        <p:spPr>
          <a:xfrm>
            <a:off x="8503920" y="4343400"/>
            <a:ext cx="1828800" cy="438912"/>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Hepatitis A</a:t>
            </a:r>
            <a:endParaRPr lang="en-US" sz="1200" dirty="0"/>
          </a:p>
        </p:txBody>
      </p:sp>
      <p:sp>
        <p:nvSpPr>
          <p:cNvPr id="24" name="Text 21"/>
          <p:cNvSpPr/>
          <p:nvPr/>
        </p:nvSpPr>
        <p:spPr>
          <a:xfrm>
            <a:off x="10104120" y="4343400"/>
            <a:ext cx="1417320" cy="438912"/>
          </a:xfrm>
          <a:prstGeom prst="rect">
            <a:avLst/>
          </a:prstGeom>
          <a:noFill/>
          <a:ln/>
        </p:spPr>
        <p:txBody>
          <a:bodyPr wrap="square" lIns="0" tIns="0" rIns="0" bIns="0" rtlCol="0" anchor="ctr"/>
          <a:lstStyle/>
          <a:p>
            <a:pPr marL="0" indent="0" algn="r">
              <a:buNone/>
            </a:pPr>
            <a:r>
              <a:rPr lang="en-US" sz="1400" b="1" dirty="0">
                <a:solidFill>
                  <a:srgbClr val="15803D"/>
                </a:solidFill>
                <a:latin typeface="Calibri" pitchFamily="34" charset="0"/>
                <a:ea typeface="Calibri" pitchFamily="34" charset="-122"/>
                <a:cs typeface="Calibri" pitchFamily="34" charset="-120"/>
              </a:rPr>
              <a:t>−35.76%</a:t>
            </a:r>
            <a:endParaRPr lang="en-US" sz="1400" dirty="0"/>
          </a:p>
        </p:txBody>
      </p:sp>
      <p:sp>
        <p:nvSpPr>
          <p:cNvPr id="25" name="Text 22"/>
          <p:cNvSpPr/>
          <p:nvPr/>
        </p:nvSpPr>
        <p:spPr>
          <a:xfrm>
            <a:off x="548640" y="6172200"/>
            <a:ext cx="11064240" cy="22860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Mumps and smallpox excluded their vaccine years fall outside the pre/post windows available in the Tycho Level 1 dataset.</a:t>
            </a:r>
            <a:endParaRPr lang="en-US" sz="1000" dirty="0"/>
          </a:p>
        </p:txBody>
      </p:sp>
      <p:sp>
        <p:nvSpPr>
          <p:cNvPr id="26" name="Text 23"/>
          <p:cNvSpPr/>
          <p:nvPr/>
        </p:nvSpPr>
        <p:spPr>
          <a:xfrm>
            <a:off x="548640" y="6446520"/>
            <a:ext cx="73152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Anwar Debes · IKT453 · University of Agder</a:t>
            </a:r>
            <a:endParaRPr lang="en-US" sz="900" dirty="0"/>
          </a:p>
        </p:txBody>
      </p:sp>
      <p:sp>
        <p:nvSpPr>
          <p:cNvPr id="27" name="Text 24"/>
          <p:cNvSpPr/>
          <p:nvPr/>
        </p:nvSpPr>
        <p:spPr>
          <a:xfrm>
            <a:off x="10789920" y="6446520"/>
            <a:ext cx="86868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16 / 20</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02920"/>
          </a:xfrm>
          <a:prstGeom prst="rect">
            <a:avLst/>
          </a:prstGeom>
          <a:noFill/>
          <a:ln/>
        </p:spPr>
        <p:txBody>
          <a:bodyPr wrap="square" lIns="0" tIns="0" rIns="0" bIns="0" rtlCol="0" anchor="ctr"/>
          <a:lstStyle/>
          <a:p>
            <a:pPr marL="0" indent="0" algn="l">
              <a:buNone/>
            </a:pPr>
            <a:r>
              <a:rPr lang="en-US" sz="2800" b="1" dirty="0">
                <a:solidFill>
                  <a:srgbClr val="1E293B"/>
                </a:solidFill>
                <a:latin typeface="Cambria" pitchFamily="34" charset="0"/>
                <a:ea typeface="Cambria" pitchFamily="34" charset="-122"/>
                <a:cs typeface="Cambria" pitchFamily="34" charset="-120"/>
              </a:rPr>
              <a:t>Seasonal Patterns &amp; Decade Trends (Q4, roll-up)</a:t>
            </a:r>
            <a:endParaRPr lang="en-US" sz="2800" dirty="0"/>
          </a:p>
        </p:txBody>
      </p:sp>
      <p:sp>
        <p:nvSpPr>
          <p:cNvPr id="3" name="Text 1"/>
          <p:cNvSpPr/>
          <p:nvPr/>
        </p:nvSpPr>
        <p:spPr>
          <a:xfrm>
            <a:off x="548640" y="841248"/>
            <a:ext cx="11064240" cy="292608"/>
          </a:xfrm>
          <a:prstGeom prst="rect">
            <a:avLst/>
          </a:prstGeom>
          <a:noFill/>
          <a:ln/>
        </p:spPr>
        <p:txBody>
          <a:bodyPr wrap="square" lIns="0" tIns="0" rIns="0" bIns="0" rtlCol="0" anchor="ctr"/>
          <a:lstStyle/>
          <a:p>
            <a:pPr marL="0" indent="0" algn="l">
              <a:buNone/>
            </a:pPr>
            <a:r>
              <a:rPr lang="en-US" sz="1300" i="1" dirty="0">
                <a:solidFill>
                  <a:srgbClr val="64748B"/>
                </a:solidFill>
                <a:latin typeface="Calibri" pitchFamily="34" charset="0"/>
                <a:ea typeface="Calibri" pitchFamily="34" charset="-122"/>
                <a:cs typeface="Calibri" pitchFamily="34" charset="-120"/>
              </a:rPr>
              <a:t>Distinct disease signatures surfaced by roll-up across time</a:t>
            </a:r>
            <a:endParaRPr lang="en-US" sz="1300" dirty="0"/>
          </a:p>
        </p:txBody>
      </p:sp>
      <p:sp>
        <p:nvSpPr>
          <p:cNvPr id="4" name="Shape 2"/>
          <p:cNvSpPr/>
          <p:nvPr/>
        </p:nvSpPr>
        <p:spPr>
          <a:xfrm>
            <a:off x="548640" y="1207008"/>
            <a:ext cx="11064240" cy="0"/>
          </a:xfrm>
          <a:prstGeom prst="line">
            <a:avLst/>
          </a:prstGeom>
          <a:noFill/>
          <a:ln w="9525">
            <a:solidFill>
              <a:srgbClr val="CBD5E1"/>
            </a:solidFill>
            <a:prstDash val="solid"/>
          </a:ln>
        </p:spPr>
        <p:txBody>
          <a:bodyPr/>
          <a:lstStyle/>
          <a:p>
            <a:endParaRPr lang="en-US"/>
          </a:p>
        </p:txBody>
      </p:sp>
      <p:graphicFrame>
        <p:nvGraphicFramePr>
          <p:cNvPr id="5" name="Chart 0"/>
          <p:cNvGraphicFramePr/>
          <p:nvPr/>
        </p:nvGraphicFramePr>
        <p:xfrm>
          <a:off x="548640" y="1371600"/>
          <a:ext cx="5669280" cy="475488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6492240" y="1417320"/>
            <a:ext cx="5120640" cy="320040"/>
          </a:xfrm>
          <a:prstGeom prst="rect">
            <a:avLst/>
          </a:prstGeom>
          <a:noFill/>
          <a:ln/>
        </p:spPr>
        <p:txBody>
          <a:bodyPr wrap="square" lIns="0" tIns="0" rIns="0" bIns="0" rtlCol="0" anchor="ctr"/>
          <a:lstStyle/>
          <a:p>
            <a:pPr marL="0" indent="0">
              <a:buNone/>
            </a:pPr>
            <a:r>
              <a:rPr lang="en-US" sz="1200" b="1" kern="0" spc="200" dirty="0">
                <a:solidFill>
                  <a:srgbClr val="0F4C81"/>
                </a:solidFill>
                <a:latin typeface="Calibri" pitchFamily="34" charset="0"/>
                <a:ea typeface="Calibri" pitchFamily="34" charset="-122"/>
                <a:cs typeface="Calibri" pitchFamily="34" charset="-120"/>
              </a:rPr>
              <a:t>Decade pivot selected diseases</a:t>
            </a:r>
            <a:endParaRPr lang="en-US" sz="1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492240" y="1783080"/>
          <a:ext cx="5120640" cy="3017520"/>
        </p:xfrm>
        <a:graphic>
          <a:graphicData uri="http://schemas.openxmlformats.org/drawingml/2006/table">
            <a:tbl>
              <a:tblPr/>
              <a:tblGrid>
                <a:gridCol w="114300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gridCol w="1325880">
                  <a:extLst>
                    <a:ext uri="{9D8B030D-6E8A-4147-A177-3AD203B41FA5}">
                      <a16:colId xmlns:a16="http://schemas.microsoft.com/office/drawing/2014/main" val="20003"/>
                    </a:ext>
                  </a:extLst>
                </a:gridCol>
              </a:tblGrid>
              <a:tr h="301752">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Decade</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4C81"/>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Measles</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4C81"/>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Polio</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4C81"/>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Smallpox</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4C81"/>
                    </a:solidFill>
                  </a:tcPr>
                </a:tc>
                <a:extLst>
                  <a:ext uri="{0D108BD9-81ED-4DB2-BD59-A6C34878D82A}">
                    <a16:rowId xmlns:a16="http://schemas.microsoft.com/office/drawing/2014/main" val="10000"/>
                  </a:ext>
                </a:extLst>
              </a:tr>
              <a:tr h="301752">
                <a:tc>
                  <a:txBody>
                    <a:bodyPr/>
                    <a:lstStyle/>
                    <a:p>
                      <a:pPr marL="0" indent="0" algn="l">
                        <a:buNone/>
                      </a:pPr>
                      <a:r>
                        <a:rPr lang="en-US" sz="1100" b="1" dirty="0">
                          <a:solidFill>
                            <a:srgbClr val="1E293B"/>
                          </a:solidFill>
                          <a:latin typeface="Calibri" pitchFamily="34" charset="0"/>
                          <a:ea typeface="Calibri" pitchFamily="34" charset="-122"/>
                          <a:cs typeface="Calibri" pitchFamily="34" charset="-120"/>
                        </a:rPr>
                        <a:t>1920s</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E293B"/>
                          </a:solidFill>
                          <a:latin typeface="Consolas" pitchFamily="34" charset="0"/>
                          <a:ea typeface="Consolas" pitchFamily="34" charset="-122"/>
                          <a:cs typeface="Consolas" pitchFamily="34" charset="-120"/>
                        </a:rPr>
                        <a:t>822K</a:t>
                      </a:r>
                      <a:endParaRPr lang="en-US" sz="1100" dirty="0">
                        <a:latin typeface="Consolas" charset="0"/>
                        <a:ea typeface="Consolas" charset="0"/>
                        <a:cs typeface="Consolas"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E293B"/>
                          </a:solidFill>
                          <a:latin typeface="Consolas" pitchFamily="34" charset="0"/>
                          <a:ea typeface="Consolas" pitchFamily="34" charset="-122"/>
                          <a:cs typeface="Consolas" pitchFamily="34" charset="-120"/>
                        </a:rPr>
                        <a:t>7.5K</a:t>
                      </a:r>
                      <a:endParaRPr lang="en-US" sz="1100" dirty="0">
                        <a:latin typeface="Consolas" charset="0"/>
                        <a:ea typeface="Consolas" charset="0"/>
                        <a:cs typeface="Consolas"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E293B"/>
                          </a:solidFill>
                          <a:latin typeface="Consolas" pitchFamily="34" charset="0"/>
                          <a:ea typeface="Consolas" pitchFamily="34" charset="-122"/>
                          <a:cs typeface="Consolas" pitchFamily="34" charset="-120"/>
                        </a:rPr>
                        <a:t>74.9K</a:t>
                      </a:r>
                      <a:endParaRPr lang="en-US" sz="1100" dirty="0">
                        <a:latin typeface="Consolas" charset="0"/>
                        <a:ea typeface="Consolas" charset="0"/>
                        <a:cs typeface="Consolas"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1752">
                <a:tc>
                  <a:txBody>
                    <a:bodyPr/>
                    <a:lstStyle/>
                    <a:p>
                      <a:pPr marL="0" indent="0" algn="l">
                        <a:buNone/>
                      </a:pPr>
                      <a:r>
                        <a:rPr lang="en-US" sz="1100" b="1" dirty="0">
                          <a:solidFill>
                            <a:srgbClr val="1E293B"/>
                          </a:solidFill>
                          <a:latin typeface="Calibri" pitchFamily="34" charset="0"/>
                          <a:ea typeface="Calibri" pitchFamily="34" charset="-122"/>
                          <a:cs typeface="Calibri" pitchFamily="34" charset="-120"/>
                        </a:rPr>
                        <a:t>1930s</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lgn="r">
                        <a:buNone/>
                      </a:pPr>
                      <a:r>
                        <a:rPr lang="en-US" sz="1100" dirty="0">
                          <a:solidFill>
                            <a:srgbClr val="1E293B"/>
                          </a:solidFill>
                          <a:latin typeface="Consolas" pitchFamily="34" charset="0"/>
                          <a:ea typeface="Consolas" pitchFamily="34" charset="-122"/>
                          <a:cs typeface="Consolas" pitchFamily="34" charset="-120"/>
                        </a:rPr>
                        <a:t>4.86M</a:t>
                      </a:r>
                      <a:endParaRPr lang="en-US" sz="1100" dirty="0">
                        <a:latin typeface="Consolas" charset="0"/>
                        <a:ea typeface="Consolas" charset="0"/>
                        <a:cs typeface="Consolas"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lgn="r">
                        <a:buNone/>
                      </a:pPr>
                      <a:r>
                        <a:rPr lang="en-US" sz="1100" dirty="0">
                          <a:solidFill>
                            <a:srgbClr val="1E293B"/>
                          </a:solidFill>
                          <a:latin typeface="Consolas" pitchFamily="34" charset="0"/>
                          <a:ea typeface="Consolas" pitchFamily="34" charset="-122"/>
                          <a:cs typeface="Consolas" pitchFamily="34" charset="-120"/>
                        </a:rPr>
                        <a:t>76.6K</a:t>
                      </a:r>
                      <a:endParaRPr lang="en-US" sz="1100" dirty="0">
                        <a:latin typeface="Consolas" charset="0"/>
                        <a:ea typeface="Consolas" charset="0"/>
                        <a:cs typeface="Consolas"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lgn="r">
                        <a:buNone/>
                      </a:pPr>
                      <a:r>
                        <a:rPr lang="en-US" sz="1100" dirty="0">
                          <a:solidFill>
                            <a:srgbClr val="1E293B"/>
                          </a:solidFill>
                          <a:latin typeface="Consolas" pitchFamily="34" charset="0"/>
                          <a:ea typeface="Consolas" pitchFamily="34" charset="-122"/>
                          <a:cs typeface="Consolas" pitchFamily="34" charset="-120"/>
                        </a:rPr>
                        <a:t>148.2K</a:t>
                      </a:r>
                      <a:endParaRPr lang="en-US" sz="1100" dirty="0">
                        <a:latin typeface="Consolas" charset="0"/>
                        <a:ea typeface="Consolas" charset="0"/>
                        <a:cs typeface="Consolas"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301752">
                <a:tc>
                  <a:txBody>
                    <a:bodyPr/>
                    <a:lstStyle/>
                    <a:p>
                      <a:pPr marL="0" indent="0" algn="l">
                        <a:buNone/>
                      </a:pPr>
                      <a:r>
                        <a:rPr lang="en-US" sz="1100" b="1" dirty="0">
                          <a:solidFill>
                            <a:srgbClr val="1E293B"/>
                          </a:solidFill>
                          <a:latin typeface="Calibri" pitchFamily="34" charset="0"/>
                          <a:ea typeface="Calibri" pitchFamily="34" charset="-122"/>
                          <a:cs typeface="Calibri" pitchFamily="34" charset="-120"/>
                        </a:rPr>
                        <a:t>1940s</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E293B"/>
                          </a:solidFill>
                          <a:latin typeface="Consolas" pitchFamily="34" charset="0"/>
                          <a:ea typeface="Consolas" pitchFamily="34" charset="-122"/>
                          <a:cs typeface="Consolas" pitchFamily="34" charset="-120"/>
                        </a:rPr>
                        <a:t>4.71M</a:t>
                      </a:r>
                      <a:endParaRPr lang="en-US" sz="1100" dirty="0">
                        <a:latin typeface="Consolas" charset="0"/>
                        <a:ea typeface="Consolas" charset="0"/>
                        <a:cs typeface="Consolas"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E293B"/>
                          </a:solidFill>
                          <a:latin typeface="Consolas" pitchFamily="34" charset="0"/>
                          <a:ea typeface="Consolas" pitchFamily="34" charset="-122"/>
                          <a:cs typeface="Consolas" pitchFamily="34" charset="-120"/>
                        </a:rPr>
                        <a:t>164K</a:t>
                      </a:r>
                      <a:endParaRPr lang="en-US" sz="1100" dirty="0">
                        <a:latin typeface="Consolas" charset="0"/>
                        <a:ea typeface="Consolas" charset="0"/>
                        <a:cs typeface="Consolas"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E293B"/>
                          </a:solidFill>
                          <a:latin typeface="Consolas" pitchFamily="34" charset="0"/>
                          <a:ea typeface="Consolas" pitchFamily="34" charset="-122"/>
                          <a:cs typeface="Consolas" pitchFamily="34" charset="-120"/>
                        </a:rPr>
                        <a:t>9.7K</a:t>
                      </a:r>
                      <a:endParaRPr lang="en-US" sz="1100" dirty="0">
                        <a:latin typeface="Consolas" charset="0"/>
                        <a:ea typeface="Consolas" charset="0"/>
                        <a:cs typeface="Consolas"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1752">
                <a:tc>
                  <a:txBody>
                    <a:bodyPr/>
                    <a:lstStyle/>
                    <a:p>
                      <a:pPr marL="0" indent="0" algn="l">
                        <a:buNone/>
                      </a:pPr>
                      <a:r>
                        <a:rPr lang="en-US" sz="1100" b="1" dirty="0">
                          <a:solidFill>
                            <a:srgbClr val="1E293B"/>
                          </a:solidFill>
                          <a:latin typeface="Calibri" pitchFamily="34" charset="0"/>
                          <a:ea typeface="Calibri" pitchFamily="34" charset="-122"/>
                          <a:cs typeface="Calibri" pitchFamily="34" charset="-120"/>
                        </a:rPr>
                        <a:t>1950s</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lgn="r">
                        <a:buNone/>
                      </a:pPr>
                      <a:r>
                        <a:rPr lang="en-US" sz="1100" dirty="0">
                          <a:solidFill>
                            <a:srgbClr val="1E293B"/>
                          </a:solidFill>
                          <a:latin typeface="Consolas" pitchFamily="34" charset="0"/>
                          <a:ea typeface="Consolas" pitchFamily="34" charset="-122"/>
                          <a:cs typeface="Consolas" pitchFamily="34" charset="-120"/>
                        </a:rPr>
                        <a:t>5.20M</a:t>
                      </a:r>
                      <a:endParaRPr lang="en-US" sz="1100" dirty="0">
                        <a:latin typeface="Consolas" charset="0"/>
                        <a:ea typeface="Consolas" charset="0"/>
                        <a:cs typeface="Consolas"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lgn="r">
                        <a:buNone/>
                      </a:pPr>
                      <a:r>
                        <a:rPr lang="en-US" sz="1100" dirty="0">
                          <a:solidFill>
                            <a:srgbClr val="1E293B"/>
                          </a:solidFill>
                          <a:latin typeface="Consolas" pitchFamily="34" charset="0"/>
                          <a:ea typeface="Consolas" pitchFamily="34" charset="-122"/>
                          <a:cs typeface="Consolas" pitchFamily="34" charset="-120"/>
                        </a:rPr>
                        <a:t>246K</a:t>
                      </a:r>
                      <a:endParaRPr lang="en-US" sz="1100" dirty="0">
                        <a:latin typeface="Consolas" charset="0"/>
                        <a:ea typeface="Consolas" charset="0"/>
                        <a:cs typeface="Consolas"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lgn="r">
                        <a:buNone/>
                      </a:pPr>
                      <a:r>
                        <a:rPr lang="en-US" sz="1100" dirty="0">
                          <a:solidFill>
                            <a:srgbClr val="1E293B"/>
                          </a:solidFill>
                          <a:latin typeface="Consolas" pitchFamily="34" charset="0"/>
                          <a:ea typeface="Consolas" pitchFamily="34" charset="-122"/>
                          <a:cs typeface="Consolas" pitchFamily="34" charset="-120"/>
                        </a:rPr>
                        <a:t>77</a:t>
                      </a:r>
                      <a:endParaRPr lang="en-US" sz="1100" dirty="0">
                        <a:latin typeface="Consolas" charset="0"/>
                        <a:ea typeface="Consolas" charset="0"/>
                        <a:cs typeface="Consolas"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extLst>
                  <a:ext uri="{0D108BD9-81ED-4DB2-BD59-A6C34878D82A}">
                    <a16:rowId xmlns:a16="http://schemas.microsoft.com/office/drawing/2014/main" val="10004"/>
                  </a:ext>
                </a:extLst>
              </a:tr>
              <a:tr h="301752">
                <a:tc>
                  <a:txBody>
                    <a:bodyPr/>
                    <a:lstStyle/>
                    <a:p>
                      <a:pPr marL="0" indent="0" algn="l">
                        <a:buNone/>
                      </a:pPr>
                      <a:r>
                        <a:rPr lang="en-US" sz="1100" b="1" dirty="0">
                          <a:solidFill>
                            <a:srgbClr val="1E293B"/>
                          </a:solidFill>
                          <a:latin typeface="Calibri" pitchFamily="34" charset="0"/>
                          <a:ea typeface="Calibri" pitchFamily="34" charset="-122"/>
                          <a:cs typeface="Calibri" pitchFamily="34" charset="-120"/>
                        </a:rPr>
                        <a:t>1960s</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E293B"/>
                          </a:solidFill>
                          <a:latin typeface="Consolas" pitchFamily="34" charset="0"/>
                          <a:ea typeface="Consolas" pitchFamily="34" charset="-122"/>
                          <a:cs typeface="Consolas" pitchFamily="34" charset="-120"/>
                        </a:rPr>
                        <a:t>2.65M</a:t>
                      </a:r>
                      <a:endParaRPr lang="en-US" sz="1100" dirty="0">
                        <a:latin typeface="Consolas" charset="0"/>
                        <a:ea typeface="Consolas" charset="0"/>
                        <a:cs typeface="Consolas"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E293B"/>
                          </a:solidFill>
                          <a:latin typeface="Consolas" pitchFamily="34" charset="0"/>
                          <a:ea typeface="Consolas" pitchFamily="34" charset="-122"/>
                          <a:cs typeface="Consolas" pitchFamily="34" charset="-120"/>
                        </a:rPr>
                        <a:t>6.3K</a:t>
                      </a:r>
                      <a:endParaRPr lang="en-US" sz="1100" dirty="0">
                        <a:latin typeface="Consolas" charset="0"/>
                        <a:ea typeface="Consolas" charset="0"/>
                        <a:cs typeface="Consolas"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E293B"/>
                          </a:solidFill>
                          <a:latin typeface="Consolas" pitchFamily="34" charset="0"/>
                          <a:ea typeface="Consolas" pitchFamily="34" charset="-122"/>
                          <a:cs typeface="Consolas" pitchFamily="34" charset="-120"/>
                        </a:rPr>
                        <a:t>0</a:t>
                      </a:r>
                      <a:endParaRPr lang="en-US" sz="1100" dirty="0">
                        <a:latin typeface="Consolas" charset="0"/>
                        <a:ea typeface="Consolas" charset="0"/>
                        <a:cs typeface="Consolas"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01752">
                <a:tc>
                  <a:txBody>
                    <a:bodyPr/>
                    <a:lstStyle/>
                    <a:p>
                      <a:pPr marL="0" indent="0" algn="l">
                        <a:buNone/>
                      </a:pPr>
                      <a:r>
                        <a:rPr lang="en-US" sz="1100" b="1" dirty="0">
                          <a:solidFill>
                            <a:srgbClr val="1E293B"/>
                          </a:solidFill>
                          <a:latin typeface="Calibri" pitchFamily="34" charset="0"/>
                          <a:ea typeface="Calibri" pitchFamily="34" charset="-122"/>
                          <a:cs typeface="Calibri" pitchFamily="34" charset="-120"/>
                        </a:rPr>
                        <a:t>1970s</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lgn="r">
                        <a:buNone/>
                      </a:pPr>
                      <a:r>
                        <a:rPr lang="en-US" sz="1100" dirty="0">
                          <a:solidFill>
                            <a:srgbClr val="1E293B"/>
                          </a:solidFill>
                          <a:latin typeface="Consolas" pitchFamily="34" charset="0"/>
                          <a:ea typeface="Consolas" pitchFamily="34" charset="-122"/>
                          <a:cs typeface="Consolas" pitchFamily="34" charset="-120"/>
                        </a:rPr>
                        <a:t>347K</a:t>
                      </a:r>
                      <a:endParaRPr lang="en-US" sz="1100" dirty="0">
                        <a:latin typeface="Consolas" charset="0"/>
                        <a:ea typeface="Consolas" charset="0"/>
                        <a:cs typeface="Consolas"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lgn="r">
                        <a:buNone/>
                      </a:pPr>
                      <a:r>
                        <a:rPr lang="en-US" sz="1100" dirty="0">
                          <a:solidFill>
                            <a:srgbClr val="1E293B"/>
                          </a:solidFill>
                          <a:latin typeface="Consolas" pitchFamily="34" charset="0"/>
                          <a:ea typeface="Consolas" pitchFamily="34" charset="-122"/>
                          <a:cs typeface="Consolas" pitchFamily="34" charset="-120"/>
                        </a:rPr>
                        <a:t>0</a:t>
                      </a:r>
                      <a:endParaRPr lang="en-US" sz="1100" dirty="0">
                        <a:latin typeface="Consolas" charset="0"/>
                        <a:ea typeface="Consolas" charset="0"/>
                        <a:cs typeface="Consolas"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lgn="r">
                        <a:buNone/>
                      </a:pPr>
                      <a:r>
                        <a:rPr lang="en-US" sz="1100" dirty="0">
                          <a:solidFill>
                            <a:srgbClr val="1E293B"/>
                          </a:solidFill>
                          <a:latin typeface="Consolas" pitchFamily="34" charset="0"/>
                          <a:ea typeface="Consolas" pitchFamily="34" charset="-122"/>
                          <a:cs typeface="Consolas" pitchFamily="34" charset="-120"/>
                        </a:rPr>
                        <a:t>0</a:t>
                      </a:r>
                      <a:endParaRPr lang="en-US" sz="1100" dirty="0">
                        <a:latin typeface="Consolas" charset="0"/>
                        <a:ea typeface="Consolas" charset="0"/>
                        <a:cs typeface="Consolas"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extLst>
                  <a:ext uri="{0D108BD9-81ED-4DB2-BD59-A6C34878D82A}">
                    <a16:rowId xmlns:a16="http://schemas.microsoft.com/office/drawing/2014/main" val="10006"/>
                  </a:ext>
                </a:extLst>
              </a:tr>
              <a:tr h="301752">
                <a:tc>
                  <a:txBody>
                    <a:bodyPr/>
                    <a:lstStyle/>
                    <a:p>
                      <a:pPr marL="0" indent="0" algn="l">
                        <a:buNone/>
                      </a:pPr>
                      <a:r>
                        <a:rPr lang="en-US" sz="1100" b="1" dirty="0">
                          <a:solidFill>
                            <a:srgbClr val="1E293B"/>
                          </a:solidFill>
                          <a:latin typeface="Calibri" pitchFamily="34" charset="0"/>
                          <a:ea typeface="Calibri" pitchFamily="34" charset="-122"/>
                          <a:cs typeface="Calibri" pitchFamily="34" charset="-120"/>
                        </a:rPr>
                        <a:t>1980s</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E293B"/>
                          </a:solidFill>
                          <a:latin typeface="Consolas" pitchFamily="34" charset="0"/>
                          <a:ea typeface="Consolas" pitchFamily="34" charset="-122"/>
                          <a:cs typeface="Consolas" pitchFamily="34" charset="-120"/>
                        </a:rPr>
                        <a:t>50.5K</a:t>
                      </a:r>
                      <a:endParaRPr lang="en-US" sz="1100" dirty="0">
                        <a:latin typeface="Consolas" charset="0"/>
                        <a:ea typeface="Consolas" charset="0"/>
                        <a:cs typeface="Consolas"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E293B"/>
                          </a:solidFill>
                          <a:latin typeface="Consolas" pitchFamily="34" charset="0"/>
                          <a:ea typeface="Consolas" pitchFamily="34" charset="-122"/>
                          <a:cs typeface="Consolas" pitchFamily="34" charset="-120"/>
                        </a:rPr>
                        <a:t>0</a:t>
                      </a:r>
                      <a:endParaRPr lang="en-US" sz="1100" dirty="0">
                        <a:latin typeface="Consolas" charset="0"/>
                        <a:ea typeface="Consolas" charset="0"/>
                        <a:cs typeface="Consolas"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E293B"/>
                          </a:solidFill>
                          <a:latin typeface="Consolas" pitchFamily="34" charset="0"/>
                          <a:ea typeface="Consolas" pitchFamily="34" charset="-122"/>
                          <a:cs typeface="Consolas" pitchFamily="34" charset="-120"/>
                        </a:rPr>
                        <a:t>0</a:t>
                      </a:r>
                      <a:endParaRPr lang="en-US" sz="1100" dirty="0">
                        <a:latin typeface="Consolas" charset="0"/>
                        <a:ea typeface="Consolas" charset="0"/>
                        <a:cs typeface="Consolas"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01752">
                <a:tc>
                  <a:txBody>
                    <a:bodyPr/>
                    <a:lstStyle/>
                    <a:p>
                      <a:pPr marL="0" indent="0" algn="l">
                        <a:buNone/>
                      </a:pPr>
                      <a:r>
                        <a:rPr lang="en-US" sz="1100" b="1" dirty="0">
                          <a:solidFill>
                            <a:srgbClr val="1E293B"/>
                          </a:solidFill>
                          <a:latin typeface="Calibri" pitchFamily="34" charset="0"/>
                          <a:ea typeface="Calibri" pitchFamily="34" charset="-122"/>
                          <a:cs typeface="Calibri" pitchFamily="34" charset="-120"/>
                        </a:rPr>
                        <a:t>1990s</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lgn="r">
                        <a:buNone/>
                      </a:pPr>
                      <a:r>
                        <a:rPr lang="en-US" sz="1100" dirty="0">
                          <a:solidFill>
                            <a:srgbClr val="1E293B"/>
                          </a:solidFill>
                          <a:latin typeface="Consolas" pitchFamily="34" charset="0"/>
                          <a:ea typeface="Consolas" pitchFamily="34" charset="-122"/>
                          <a:cs typeface="Consolas" pitchFamily="34" charset="-120"/>
                        </a:rPr>
                        <a:t>33.9K</a:t>
                      </a:r>
                      <a:endParaRPr lang="en-US" sz="1100" dirty="0">
                        <a:latin typeface="Consolas" charset="0"/>
                        <a:ea typeface="Consolas" charset="0"/>
                        <a:cs typeface="Consolas"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lgn="r">
                        <a:buNone/>
                      </a:pPr>
                      <a:r>
                        <a:rPr lang="en-US" sz="1100" dirty="0">
                          <a:solidFill>
                            <a:srgbClr val="1E293B"/>
                          </a:solidFill>
                          <a:latin typeface="Consolas" pitchFamily="34" charset="0"/>
                          <a:ea typeface="Consolas" pitchFamily="34" charset="-122"/>
                          <a:cs typeface="Consolas" pitchFamily="34" charset="-120"/>
                        </a:rPr>
                        <a:t>0</a:t>
                      </a:r>
                      <a:endParaRPr lang="en-US" sz="1100" dirty="0">
                        <a:latin typeface="Consolas" charset="0"/>
                        <a:ea typeface="Consolas" charset="0"/>
                        <a:cs typeface="Consolas"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lgn="r">
                        <a:buNone/>
                      </a:pPr>
                      <a:r>
                        <a:rPr lang="en-US" sz="1100" dirty="0">
                          <a:solidFill>
                            <a:srgbClr val="1E293B"/>
                          </a:solidFill>
                          <a:latin typeface="Consolas" pitchFamily="34" charset="0"/>
                          <a:ea typeface="Consolas" pitchFamily="34" charset="-122"/>
                          <a:cs typeface="Consolas" pitchFamily="34" charset="-120"/>
                        </a:rPr>
                        <a:t>0</a:t>
                      </a:r>
                      <a:endParaRPr lang="en-US" sz="1100" dirty="0">
                        <a:latin typeface="Consolas" charset="0"/>
                        <a:ea typeface="Consolas" charset="0"/>
                        <a:cs typeface="Consolas"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extLst>
                  <a:ext uri="{0D108BD9-81ED-4DB2-BD59-A6C34878D82A}">
                    <a16:rowId xmlns:a16="http://schemas.microsoft.com/office/drawing/2014/main" val="10008"/>
                  </a:ext>
                </a:extLst>
              </a:tr>
              <a:tr h="301752">
                <a:tc>
                  <a:txBody>
                    <a:bodyPr/>
                    <a:lstStyle/>
                    <a:p>
                      <a:pPr marL="0" indent="0" algn="l">
                        <a:buNone/>
                      </a:pPr>
                      <a:r>
                        <a:rPr lang="en-US" sz="1100" b="1" dirty="0">
                          <a:solidFill>
                            <a:srgbClr val="1E293B"/>
                          </a:solidFill>
                          <a:latin typeface="Calibri" pitchFamily="34" charset="0"/>
                          <a:ea typeface="Calibri" pitchFamily="34" charset="-122"/>
                          <a:cs typeface="Calibri" pitchFamily="34" charset="-120"/>
                        </a:rPr>
                        <a:t>2000s</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E293B"/>
                          </a:solidFill>
                          <a:latin typeface="Consolas" pitchFamily="34" charset="0"/>
                          <a:ea typeface="Consolas" pitchFamily="34" charset="-122"/>
                          <a:cs typeface="Consolas" pitchFamily="34" charset="-120"/>
                        </a:rPr>
                        <a:t>143</a:t>
                      </a:r>
                      <a:endParaRPr lang="en-US" sz="1100" dirty="0">
                        <a:latin typeface="Consolas" charset="0"/>
                        <a:ea typeface="Consolas" charset="0"/>
                        <a:cs typeface="Consolas"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E293B"/>
                          </a:solidFill>
                          <a:latin typeface="Consolas" pitchFamily="34" charset="0"/>
                          <a:ea typeface="Consolas" pitchFamily="34" charset="-122"/>
                          <a:cs typeface="Consolas" pitchFamily="34" charset="-120"/>
                        </a:rPr>
                        <a:t>0</a:t>
                      </a:r>
                      <a:endParaRPr lang="en-US" sz="1100" dirty="0">
                        <a:latin typeface="Consolas" charset="0"/>
                        <a:ea typeface="Consolas" charset="0"/>
                        <a:cs typeface="Consolas"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E293B"/>
                          </a:solidFill>
                          <a:latin typeface="Consolas" pitchFamily="34" charset="0"/>
                          <a:ea typeface="Consolas" pitchFamily="34" charset="-122"/>
                          <a:cs typeface="Consolas" pitchFamily="34" charset="-120"/>
                        </a:rPr>
                        <a:t>0</a:t>
                      </a:r>
                      <a:endParaRPr lang="en-US" sz="1100" dirty="0">
                        <a:latin typeface="Consolas" charset="0"/>
                        <a:ea typeface="Consolas" charset="0"/>
                        <a:cs typeface="Consolas"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8" name="Text 4"/>
          <p:cNvSpPr/>
          <p:nvPr/>
        </p:nvSpPr>
        <p:spPr>
          <a:xfrm>
            <a:off x="6492240" y="4892040"/>
            <a:ext cx="5120640" cy="82296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Vaccine-driven collapses are visible in the table: measles after 1963, polio after 1955, smallpox after 1960.</a:t>
            </a:r>
            <a:endParaRPr lang="en-US" sz="1100" dirty="0"/>
          </a:p>
        </p:txBody>
      </p:sp>
      <p:sp>
        <p:nvSpPr>
          <p:cNvPr id="9" name="Text 5"/>
          <p:cNvSpPr/>
          <p:nvPr/>
        </p:nvSpPr>
        <p:spPr>
          <a:xfrm>
            <a:off x="548640" y="6446520"/>
            <a:ext cx="73152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Anwar Debes · IKT453 · University of Agder</a:t>
            </a:r>
            <a:endParaRPr lang="en-US" sz="900" dirty="0"/>
          </a:p>
        </p:txBody>
      </p:sp>
      <p:sp>
        <p:nvSpPr>
          <p:cNvPr id="10" name="Text 6"/>
          <p:cNvSpPr/>
          <p:nvPr/>
        </p:nvSpPr>
        <p:spPr>
          <a:xfrm>
            <a:off x="10789920" y="6446520"/>
            <a:ext cx="86868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17 / 20</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02920"/>
          </a:xfrm>
          <a:prstGeom prst="rect">
            <a:avLst/>
          </a:prstGeom>
          <a:noFill/>
          <a:ln/>
        </p:spPr>
        <p:txBody>
          <a:bodyPr wrap="square" lIns="0" tIns="0" rIns="0" bIns="0" rtlCol="0" anchor="ctr"/>
          <a:lstStyle/>
          <a:p>
            <a:pPr marL="0" indent="0" algn="l">
              <a:buNone/>
            </a:pPr>
            <a:r>
              <a:rPr lang="en-US" sz="2800" b="1" dirty="0">
                <a:solidFill>
                  <a:srgbClr val="1E293B"/>
                </a:solidFill>
                <a:latin typeface="Cambria" pitchFamily="34" charset="0"/>
                <a:ea typeface="Cambria" pitchFamily="34" charset="-122"/>
                <a:cs typeface="Cambria" pitchFamily="34" charset="-120"/>
              </a:rPr>
              <a:t>Discussion Backend Trade-offs</a:t>
            </a:r>
            <a:endParaRPr lang="en-US" sz="2800" dirty="0"/>
          </a:p>
        </p:txBody>
      </p:sp>
      <p:sp>
        <p:nvSpPr>
          <p:cNvPr id="3" name="Text 1"/>
          <p:cNvSpPr/>
          <p:nvPr/>
        </p:nvSpPr>
        <p:spPr>
          <a:xfrm>
            <a:off x="548640" y="841248"/>
            <a:ext cx="11064240" cy="292608"/>
          </a:xfrm>
          <a:prstGeom prst="rect">
            <a:avLst/>
          </a:prstGeom>
          <a:noFill/>
          <a:ln/>
        </p:spPr>
        <p:txBody>
          <a:bodyPr wrap="square" lIns="0" tIns="0" rIns="0" bIns="0" rtlCol="0" anchor="ctr"/>
          <a:lstStyle/>
          <a:p>
            <a:pPr marL="0" indent="0" algn="l">
              <a:buNone/>
            </a:pPr>
            <a:r>
              <a:rPr lang="en-US" sz="1300" i="1" dirty="0">
                <a:solidFill>
                  <a:srgbClr val="64748B"/>
                </a:solidFill>
                <a:latin typeface="Calibri" pitchFamily="34" charset="0"/>
                <a:ea typeface="Calibri" pitchFamily="34" charset="-122"/>
                <a:cs typeface="Calibri" pitchFamily="34" charset="-120"/>
              </a:rPr>
              <a:t>Each paradigm wins for a different analytical shape</a:t>
            </a:r>
            <a:endParaRPr lang="en-US" sz="1300" dirty="0"/>
          </a:p>
        </p:txBody>
      </p:sp>
      <p:sp>
        <p:nvSpPr>
          <p:cNvPr id="4" name="Shape 2"/>
          <p:cNvSpPr/>
          <p:nvPr/>
        </p:nvSpPr>
        <p:spPr>
          <a:xfrm>
            <a:off x="548640" y="1207008"/>
            <a:ext cx="11064240" cy="0"/>
          </a:xfrm>
          <a:prstGeom prst="line">
            <a:avLst/>
          </a:prstGeom>
          <a:noFill/>
          <a:ln w="9525">
            <a:solidFill>
              <a:srgbClr val="CBD5E1"/>
            </a:solidFill>
            <a:prstDash val="solid"/>
          </a:ln>
        </p:spPr>
        <p:txBody>
          <a:bodyPr/>
          <a:lstStyle/>
          <a:p>
            <a:endParaRPr lang="en-US"/>
          </a:p>
        </p:txBody>
      </p:sp>
      <p:sp>
        <p:nvSpPr>
          <p:cNvPr id="5" name="Shape 3"/>
          <p:cNvSpPr/>
          <p:nvPr/>
        </p:nvSpPr>
        <p:spPr>
          <a:xfrm>
            <a:off x="563728" y="1463040"/>
            <a:ext cx="3566160" cy="4663440"/>
          </a:xfrm>
          <a:prstGeom prst="rect">
            <a:avLst/>
          </a:prstGeom>
          <a:solidFill>
            <a:srgbClr val="FFFFFF"/>
          </a:solidFill>
          <a:ln w="6350">
            <a:solidFill>
              <a:srgbClr val="CBD5E1"/>
            </a:solidFill>
            <a:prstDash val="solid"/>
          </a:ln>
        </p:spPr>
        <p:txBody>
          <a:bodyPr/>
          <a:lstStyle/>
          <a:p>
            <a:endParaRPr lang="en-US"/>
          </a:p>
        </p:txBody>
      </p:sp>
      <p:sp>
        <p:nvSpPr>
          <p:cNvPr id="6" name="Shape 4"/>
          <p:cNvSpPr/>
          <p:nvPr/>
        </p:nvSpPr>
        <p:spPr>
          <a:xfrm>
            <a:off x="563728" y="1463040"/>
            <a:ext cx="3566160" cy="54864"/>
          </a:xfrm>
          <a:prstGeom prst="rect">
            <a:avLst/>
          </a:prstGeom>
          <a:solidFill>
            <a:srgbClr val="0F4C81"/>
          </a:solidFill>
          <a:ln w="12700">
            <a:solidFill>
              <a:srgbClr val="333333"/>
            </a:solidFill>
            <a:prstDash val="solid"/>
          </a:ln>
        </p:spPr>
        <p:txBody>
          <a:bodyPr/>
          <a:lstStyle/>
          <a:p>
            <a:endParaRPr lang="en-US"/>
          </a:p>
        </p:txBody>
      </p:sp>
      <p:sp>
        <p:nvSpPr>
          <p:cNvPr id="7" name="Text 5"/>
          <p:cNvSpPr/>
          <p:nvPr/>
        </p:nvSpPr>
        <p:spPr>
          <a:xfrm>
            <a:off x="746608" y="1645920"/>
            <a:ext cx="3200400" cy="457200"/>
          </a:xfrm>
          <a:prstGeom prst="rect">
            <a:avLst/>
          </a:prstGeom>
          <a:noFill/>
          <a:ln/>
        </p:spPr>
        <p:txBody>
          <a:bodyPr wrap="square" lIns="0" tIns="0" rIns="0" bIns="0" rtlCol="0" anchor="ctr"/>
          <a:lstStyle/>
          <a:p>
            <a:pPr marL="0" indent="0">
              <a:buNone/>
            </a:pPr>
            <a:r>
              <a:rPr lang="en-US" sz="2000" b="1" dirty="0">
                <a:solidFill>
                  <a:srgbClr val="1E293B"/>
                </a:solidFill>
                <a:latin typeface="Cambria" pitchFamily="34" charset="0"/>
                <a:ea typeface="Cambria" pitchFamily="34" charset="-122"/>
                <a:cs typeface="Cambria" pitchFamily="34" charset="-120"/>
              </a:rPr>
              <a:t>PostgreSQL</a:t>
            </a:r>
            <a:endParaRPr lang="en-US" sz="2000" dirty="0"/>
          </a:p>
        </p:txBody>
      </p:sp>
      <p:sp>
        <p:nvSpPr>
          <p:cNvPr id="8" name="Text 6"/>
          <p:cNvSpPr/>
          <p:nvPr/>
        </p:nvSpPr>
        <p:spPr>
          <a:xfrm>
            <a:off x="746608" y="2103120"/>
            <a:ext cx="3200400" cy="274320"/>
          </a:xfrm>
          <a:prstGeom prst="rect">
            <a:avLst/>
          </a:prstGeom>
          <a:noFill/>
          <a:ln/>
        </p:spPr>
        <p:txBody>
          <a:bodyPr wrap="square" lIns="0" tIns="0" rIns="0" bIns="0" rtlCol="0" anchor="ctr"/>
          <a:lstStyle/>
          <a:p>
            <a:pPr marL="0" indent="0">
              <a:buNone/>
            </a:pPr>
            <a:r>
              <a:rPr lang="en-US" sz="1100" i="1" dirty="0">
                <a:solidFill>
                  <a:srgbClr val="0F4C81"/>
                </a:solidFill>
                <a:latin typeface="Calibri" pitchFamily="34" charset="0"/>
                <a:ea typeface="Calibri" pitchFamily="34" charset="-122"/>
                <a:cs typeface="Calibri" pitchFamily="34" charset="-120"/>
              </a:rPr>
              <a:t>Structured OLAP</a:t>
            </a:r>
            <a:endParaRPr lang="en-US" sz="1100" dirty="0"/>
          </a:p>
        </p:txBody>
      </p:sp>
      <p:sp>
        <p:nvSpPr>
          <p:cNvPr id="9" name="Text 7"/>
          <p:cNvSpPr/>
          <p:nvPr/>
        </p:nvSpPr>
        <p:spPr>
          <a:xfrm>
            <a:off x="746608" y="2468880"/>
            <a:ext cx="3200400" cy="228600"/>
          </a:xfrm>
          <a:prstGeom prst="rect">
            <a:avLst/>
          </a:prstGeom>
          <a:noFill/>
          <a:ln/>
        </p:spPr>
        <p:txBody>
          <a:bodyPr wrap="square" lIns="0" tIns="0" rIns="0" bIns="0" rtlCol="0" anchor="ctr"/>
          <a:lstStyle/>
          <a:p>
            <a:pPr marL="0" indent="0">
              <a:buNone/>
            </a:pPr>
            <a:r>
              <a:rPr lang="en-US" sz="900" b="1" kern="0" spc="300" dirty="0">
                <a:solidFill>
                  <a:srgbClr val="15803D"/>
                </a:solidFill>
                <a:latin typeface="Calibri" pitchFamily="34" charset="0"/>
                <a:ea typeface="Calibri" pitchFamily="34" charset="-122"/>
                <a:cs typeface="Calibri" pitchFamily="34" charset="-120"/>
              </a:rPr>
              <a:t>STRENGTHS</a:t>
            </a:r>
            <a:endParaRPr lang="en-US" sz="900" dirty="0"/>
          </a:p>
        </p:txBody>
      </p:sp>
      <p:sp>
        <p:nvSpPr>
          <p:cNvPr id="10" name="Text 8"/>
          <p:cNvSpPr/>
          <p:nvPr/>
        </p:nvSpPr>
        <p:spPr>
          <a:xfrm>
            <a:off x="746608" y="2743200"/>
            <a:ext cx="3200400" cy="2103120"/>
          </a:xfrm>
          <a:prstGeom prst="rect">
            <a:avLst/>
          </a:prstGeom>
          <a:noFill/>
          <a:ln/>
        </p:spPr>
        <p:txBody>
          <a:bodyPr wrap="square" lIns="0" tIns="0" rIns="0" bIns="0" rtlCol="0" anchor="ctr"/>
          <a:lstStyle/>
          <a:p>
            <a:pPr marL="342900" indent="-342900">
              <a:spcAft>
                <a:spcPts val="300"/>
              </a:spcAft>
              <a:buSzPct val="100000"/>
              <a:buChar char="•"/>
            </a:pPr>
            <a:r>
              <a:rPr lang="en-US" sz="1100" dirty="0">
                <a:solidFill>
                  <a:srgbClr val="334155"/>
                </a:solidFill>
                <a:latin typeface="Calibri" pitchFamily="34" charset="0"/>
                <a:ea typeface="Calibri" pitchFamily="34" charset="-122"/>
                <a:cs typeface="Calibri" pitchFamily="34" charset="-120"/>
              </a:rPr>
              <a:t>Strongest all-rounder.</a:t>
            </a:r>
            <a:endParaRPr lang="en-US" sz="1100" dirty="0"/>
          </a:p>
          <a:p>
            <a:pPr marL="342900" indent="-342900">
              <a:spcAft>
                <a:spcPts val="300"/>
              </a:spcAft>
              <a:buSzPct val="100000"/>
              <a:buChar char="•"/>
            </a:pPr>
            <a:r>
              <a:rPr lang="en-US" sz="1100" dirty="0">
                <a:solidFill>
                  <a:srgbClr val="334155"/>
                </a:solidFill>
                <a:latin typeface="Calibri" pitchFamily="34" charset="0"/>
                <a:ea typeface="Calibri" pitchFamily="34" charset="-122"/>
                <a:cs typeface="Calibri" pitchFamily="34" charset="-120"/>
              </a:rPr>
              <a:t>CTEs, window functions, LATERAL joins, CORR all native.</a:t>
            </a:r>
            <a:endParaRPr lang="en-US" sz="1100" dirty="0"/>
          </a:p>
          <a:p>
            <a:pPr marL="342900" indent="-342900">
              <a:spcAft>
                <a:spcPts val="300"/>
              </a:spcAft>
              <a:buSzPct val="100000"/>
              <a:buChar char="•"/>
            </a:pPr>
            <a:r>
              <a:rPr lang="en-US" sz="1100" dirty="0">
                <a:solidFill>
                  <a:srgbClr val="334155"/>
                </a:solidFill>
                <a:latin typeface="Calibri" pitchFamily="34" charset="0"/>
                <a:ea typeface="Calibri" pitchFamily="34" charset="-122"/>
                <a:cs typeface="Calibri" pitchFamily="34" charset="-120"/>
              </a:rPr>
              <a:t>Materialized views cut repeated work.</a:t>
            </a:r>
            <a:endParaRPr lang="en-US" sz="1100" dirty="0"/>
          </a:p>
          <a:p>
            <a:pPr marL="342900" indent="-342900">
              <a:spcAft>
                <a:spcPts val="300"/>
              </a:spcAft>
              <a:buSzPct val="100000"/>
              <a:buChar char="•"/>
            </a:pPr>
            <a:r>
              <a:rPr lang="en-US" sz="1100" dirty="0">
                <a:solidFill>
                  <a:srgbClr val="334155"/>
                </a:solidFill>
                <a:latin typeface="Calibri" pitchFamily="34" charset="0"/>
                <a:ea typeface="Calibri" pitchFamily="34" charset="-122"/>
                <a:cs typeface="Calibri" pitchFamily="34" charset="-120"/>
              </a:rPr>
              <a:t>Star schema gives referential integrity + compact storage.</a:t>
            </a:r>
            <a:endParaRPr lang="en-US" sz="1100" dirty="0"/>
          </a:p>
        </p:txBody>
      </p:sp>
      <p:sp>
        <p:nvSpPr>
          <p:cNvPr id="11" name="Text 9"/>
          <p:cNvSpPr/>
          <p:nvPr/>
        </p:nvSpPr>
        <p:spPr>
          <a:xfrm>
            <a:off x="746608" y="4937760"/>
            <a:ext cx="3200400" cy="228600"/>
          </a:xfrm>
          <a:prstGeom prst="rect">
            <a:avLst/>
          </a:prstGeom>
          <a:noFill/>
          <a:ln/>
        </p:spPr>
        <p:txBody>
          <a:bodyPr wrap="square" lIns="0" tIns="0" rIns="0" bIns="0" rtlCol="0" anchor="ctr"/>
          <a:lstStyle/>
          <a:p>
            <a:pPr marL="0" indent="0">
              <a:buNone/>
            </a:pPr>
            <a:r>
              <a:rPr lang="en-US" sz="900" b="1" kern="0" spc="300" dirty="0">
                <a:solidFill>
                  <a:srgbClr val="B45309"/>
                </a:solidFill>
                <a:latin typeface="Calibri" pitchFamily="34" charset="0"/>
                <a:ea typeface="Calibri" pitchFamily="34" charset="-122"/>
                <a:cs typeface="Calibri" pitchFamily="34" charset="-120"/>
              </a:rPr>
              <a:t>TRADE-OFFS</a:t>
            </a:r>
            <a:endParaRPr lang="en-US" sz="900" dirty="0"/>
          </a:p>
        </p:txBody>
      </p:sp>
      <p:sp>
        <p:nvSpPr>
          <p:cNvPr id="12" name="Text 10"/>
          <p:cNvSpPr/>
          <p:nvPr/>
        </p:nvSpPr>
        <p:spPr>
          <a:xfrm>
            <a:off x="746608" y="5212080"/>
            <a:ext cx="3200400" cy="1051560"/>
          </a:xfrm>
          <a:prstGeom prst="rect">
            <a:avLst/>
          </a:prstGeom>
          <a:noFill/>
          <a:ln/>
        </p:spPr>
        <p:txBody>
          <a:bodyPr wrap="square" lIns="0" tIns="0" rIns="0" bIns="0" rtlCol="0" anchor="ctr"/>
          <a:lstStyle/>
          <a:p>
            <a:pPr marL="342900" indent="-342900">
              <a:spcAft>
                <a:spcPts val="300"/>
              </a:spcAft>
              <a:buSzPct val="100000"/>
              <a:buChar char="•"/>
            </a:pPr>
            <a:r>
              <a:rPr lang="en-US" sz="1100" dirty="0">
                <a:solidFill>
                  <a:srgbClr val="334155"/>
                </a:solidFill>
                <a:latin typeface="Calibri" pitchFamily="34" charset="0"/>
                <a:ea typeface="Calibri" pitchFamily="34" charset="-122"/>
                <a:cs typeface="Calibri" pitchFamily="34" charset="-120"/>
              </a:rPr>
              <a:t>No natural variable-length traversal.</a:t>
            </a:r>
            <a:endParaRPr lang="en-US" sz="1100" dirty="0"/>
          </a:p>
          <a:p>
            <a:pPr marL="342900" indent="-342900">
              <a:spcAft>
                <a:spcPts val="300"/>
              </a:spcAft>
              <a:buSzPct val="100000"/>
              <a:buChar char="•"/>
            </a:pPr>
            <a:r>
              <a:rPr lang="en-US" sz="1100" dirty="0">
                <a:solidFill>
                  <a:srgbClr val="334155"/>
                </a:solidFill>
                <a:latin typeface="Calibri" pitchFamily="34" charset="0"/>
                <a:ea typeface="Calibri" pitchFamily="34" charset="-122"/>
                <a:cs typeface="Calibri" pitchFamily="34" charset="-120"/>
              </a:rPr>
              <a:t>Cross-table joins pay a cost on narrow queries.</a:t>
            </a:r>
            <a:endParaRPr lang="en-US" sz="1100" dirty="0"/>
          </a:p>
        </p:txBody>
      </p:sp>
      <p:sp>
        <p:nvSpPr>
          <p:cNvPr id="13" name="Shape 11"/>
          <p:cNvSpPr/>
          <p:nvPr/>
        </p:nvSpPr>
        <p:spPr>
          <a:xfrm>
            <a:off x="4312768" y="1463040"/>
            <a:ext cx="3566160" cy="4663440"/>
          </a:xfrm>
          <a:prstGeom prst="rect">
            <a:avLst/>
          </a:prstGeom>
          <a:solidFill>
            <a:srgbClr val="FFFFFF"/>
          </a:solidFill>
          <a:ln w="6350">
            <a:solidFill>
              <a:srgbClr val="CBD5E1"/>
            </a:solidFill>
            <a:prstDash val="solid"/>
          </a:ln>
        </p:spPr>
        <p:txBody>
          <a:bodyPr/>
          <a:lstStyle/>
          <a:p>
            <a:endParaRPr lang="en-US"/>
          </a:p>
        </p:txBody>
      </p:sp>
      <p:sp>
        <p:nvSpPr>
          <p:cNvPr id="14" name="Shape 12"/>
          <p:cNvSpPr/>
          <p:nvPr/>
        </p:nvSpPr>
        <p:spPr>
          <a:xfrm>
            <a:off x="4312768" y="1463040"/>
            <a:ext cx="3566160" cy="54864"/>
          </a:xfrm>
          <a:prstGeom prst="rect">
            <a:avLst/>
          </a:prstGeom>
          <a:solidFill>
            <a:srgbClr val="0F4C81"/>
          </a:solidFill>
          <a:ln w="12700">
            <a:solidFill>
              <a:srgbClr val="333333"/>
            </a:solidFill>
            <a:prstDash val="solid"/>
          </a:ln>
        </p:spPr>
        <p:txBody>
          <a:bodyPr/>
          <a:lstStyle/>
          <a:p>
            <a:endParaRPr lang="en-US"/>
          </a:p>
        </p:txBody>
      </p:sp>
      <p:sp>
        <p:nvSpPr>
          <p:cNvPr id="15" name="Text 13"/>
          <p:cNvSpPr/>
          <p:nvPr/>
        </p:nvSpPr>
        <p:spPr>
          <a:xfrm>
            <a:off x="4495648" y="1645920"/>
            <a:ext cx="3200400" cy="457200"/>
          </a:xfrm>
          <a:prstGeom prst="rect">
            <a:avLst/>
          </a:prstGeom>
          <a:noFill/>
          <a:ln/>
        </p:spPr>
        <p:txBody>
          <a:bodyPr wrap="square" lIns="0" tIns="0" rIns="0" bIns="0" rtlCol="0" anchor="ctr"/>
          <a:lstStyle/>
          <a:p>
            <a:pPr marL="0" indent="0">
              <a:buNone/>
            </a:pPr>
            <a:r>
              <a:rPr lang="en-US" sz="2000" b="1" dirty="0">
                <a:solidFill>
                  <a:srgbClr val="1E293B"/>
                </a:solidFill>
                <a:latin typeface="Cambria" pitchFamily="34" charset="0"/>
                <a:ea typeface="Cambria" pitchFamily="34" charset="-122"/>
                <a:cs typeface="Cambria" pitchFamily="34" charset="-120"/>
              </a:rPr>
              <a:t>MongoDB</a:t>
            </a:r>
            <a:endParaRPr lang="en-US" sz="2000" dirty="0"/>
          </a:p>
        </p:txBody>
      </p:sp>
      <p:sp>
        <p:nvSpPr>
          <p:cNvPr id="16" name="Text 14"/>
          <p:cNvSpPr/>
          <p:nvPr/>
        </p:nvSpPr>
        <p:spPr>
          <a:xfrm>
            <a:off x="4495648" y="2103120"/>
            <a:ext cx="3200400" cy="274320"/>
          </a:xfrm>
          <a:prstGeom prst="rect">
            <a:avLst/>
          </a:prstGeom>
          <a:noFill/>
          <a:ln/>
        </p:spPr>
        <p:txBody>
          <a:bodyPr wrap="square" lIns="0" tIns="0" rIns="0" bIns="0" rtlCol="0" anchor="ctr"/>
          <a:lstStyle/>
          <a:p>
            <a:pPr marL="0" indent="0">
              <a:buNone/>
            </a:pPr>
            <a:r>
              <a:rPr lang="en-US" sz="1100" i="1" dirty="0">
                <a:solidFill>
                  <a:srgbClr val="0F4C81"/>
                </a:solidFill>
                <a:latin typeface="Calibri" pitchFamily="34" charset="0"/>
                <a:ea typeface="Calibri" pitchFamily="34" charset="-122"/>
                <a:cs typeface="Calibri" pitchFamily="34" charset="-120"/>
              </a:rPr>
              <a:t>Selective filtering</a:t>
            </a:r>
            <a:endParaRPr lang="en-US" sz="1100" dirty="0"/>
          </a:p>
        </p:txBody>
      </p:sp>
      <p:sp>
        <p:nvSpPr>
          <p:cNvPr id="17" name="Text 15"/>
          <p:cNvSpPr/>
          <p:nvPr/>
        </p:nvSpPr>
        <p:spPr>
          <a:xfrm>
            <a:off x="4495648" y="2468880"/>
            <a:ext cx="3200400" cy="228600"/>
          </a:xfrm>
          <a:prstGeom prst="rect">
            <a:avLst/>
          </a:prstGeom>
          <a:noFill/>
          <a:ln/>
        </p:spPr>
        <p:txBody>
          <a:bodyPr wrap="square" lIns="0" tIns="0" rIns="0" bIns="0" rtlCol="0" anchor="ctr"/>
          <a:lstStyle/>
          <a:p>
            <a:pPr marL="0" indent="0">
              <a:buNone/>
            </a:pPr>
            <a:r>
              <a:rPr lang="en-US" sz="900" b="1" kern="0" spc="300" dirty="0">
                <a:solidFill>
                  <a:srgbClr val="15803D"/>
                </a:solidFill>
                <a:latin typeface="Calibri" pitchFamily="34" charset="0"/>
                <a:ea typeface="Calibri" pitchFamily="34" charset="-122"/>
                <a:cs typeface="Calibri" pitchFamily="34" charset="-120"/>
              </a:rPr>
              <a:t>STRENGTHS</a:t>
            </a:r>
            <a:endParaRPr lang="en-US" sz="900" dirty="0"/>
          </a:p>
        </p:txBody>
      </p:sp>
      <p:sp>
        <p:nvSpPr>
          <p:cNvPr id="18" name="Text 16"/>
          <p:cNvSpPr/>
          <p:nvPr/>
        </p:nvSpPr>
        <p:spPr>
          <a:xfrm>
            <a:off x="4495648" y="2743200"/>
            <a:ext cx="3200400" cy="2103120"/>
          </a:xfrm>
          <a:prstGeom prst="rect">
            <a:avLst/>
          </a:prstGeom>
          <a:noFill/>
          <a:ln/>
        </p:spPr>
        <p:txBody>
          <a:bodyPr wrap="square" lIns="0" tIns="0" rIns="0" bIns="0" rtlCol="0" anchor="ctr"/>
          <a:lstStyle/>
          <a:p>
            <a:pPr marL="342900" indent="-342900">
              <a:spcAft>
                <a:spcPts val="300"/>
              </a:spcAft>
              <a:buSzPct val="100000"/>
              <a:buChar char="•"/>
            </a:pPr>
            <a:r>
              <a:rPr lang="en-US" sz="1100" dirty="0">
                <a:solidFill>
                  <a:srgbClr val="334155"/>
                </a:solidFill>
                <a:latin typeface="Calibri" pitchFamily="34" charset="0"/>
                <a:ea typeface="Calibri" pitchFamily="34" charset="-122"/>
                <a:cs typeface="Calibri" pitchFamily="34" charset="-120"/>
              </a:rPr>
              <a:t>Fastest on Q2, Q3 direct index seek, no joins.</a:t>
            </a:r>
            <a:endParaRPr lang="en-US" sz="1100" dirty="0"/>
          </a:p>
          <a:p>
            <a:pPr marL="342900" indent="-342900">
              <a:spcAft>
                <a:spcPts val="300"/>
              </a:spcAft>
              <a:buSzPct val="100000"/>
              <a:buChar char="•"/>
            </a:pPr>
            <a:r>
              <a:rPr lang="en-US" sz="1100" dirty="0">
                <a:solidFill>
                  <a:srgbClr val="334155"/>
                </a:solidFill>
                <a:latin typeface="Calibri" pitchFamily="34" charset="0"/>
                <a:ea typeface="Calibri" pitchFamily="34" charset="-122"/>
                <a:cs typeface="Calibri" pitchFamily="34" charset="-120"/>
              </a:rPr>
              <a:t>Bucket Pattern well-matched to time-series.</a:t>
            </a:r>
            <a:endParaRPr lang="en-US" sz="1100" dirty="0"/>
          </a:p>
          <a:p>
            <a:pPr marL="342900" indent="-342900">
              <a:spcAft>
                <a:spcPts val="300"/>
              </a:spcAft>
              <a:buSzPct val="100000"/>
              <a:buChar char="•"/>
            </a:pPr>
            <a:r>
              <a:rPr lang="en-US" sz="1100" dirty="0">
                <a:solidFill>
                  <a:srgbClr val="334155"/>
                </a:solidFill>
                <a:latin typeface="Calibri" pitchFamily="34" charset="0"/>
                <a:ea typeface="Calibri" pitchFamily="34" charset="-122"/>
                <a:cs typeface="Calibri" pitchFamily="34" charset="-120"/>
              </a:rPr>
              <a:t>$setWindowFields brings window ops into the pipeline.</a:t>
            </a:r>
            <a:endParaRPr lang="en-US" sz="1100" dirty="0"/>
          </a:p>
          <a:p>
            <a:pPr marL="342900" indent="-342900">
              <a:spcAft>
                <a:spcPts val="300"/>
              </a:spcAft>
              <a:buSzPct val="100000"/>
              <a:buChar char="•"/>
            </a:pPr>
            <a:r>
              <a:rPr lang="en-US" sz="1100" dirty="0">
                <a:solidFill>
                  <a:srgbClr val="334155"/>
                </a:solidFill>
                <a:latin typeface="Calibri" pitchFamily="34" charset="0"/>
                <a:ea typeface="Calibri" pitchFamily="34" charset="-122"/>
                <a:cs typeface="Calibri" pitchFamily="34" charset="-120"/>
              </a:rPr>
              <a:t>Schema flexibility for reference data.</a:t>
            </a:r>
            <a:endParaRPr lang="en-US" sz="1100" dirty="0"/>
          </a:p>
        </p:txBody>
      </p:sp>
      <p:sp>
        <p:nvSpPr>
          <p:cNvPr id="19" name="Text 17"/>
          <p:cNvSpPr/>
          <p:nvPr/>
        </p:nvSpPr>
        <p:spPr>
          <a:xfrm>
            <a:off x="4495648" y="4937760"/>
            <a:ext cx="3200400" cy="228600"/>
          </a:xfrm>
          <a:prstGeom prst="rect">
            <a:avLst/>
          </a:prstGeom>
          <a:noFill/>
          <a:ln/>
        </p:spPr>
        <p:txBody>
          <a:bodyPr wrap="square" lIns="0" tIns="0" rIns="0" bIns="0" rtlCol="0" anchor="ctr"/>
          <a:lstStyle/>
          <a:p>
            <a:pPr marL="0" indent="0">
              <a:buNone/>
            </a:pPr>
            <a:r>
              <a:rPr lang="en-US" sz="900" b="1" kern="0" spc="300" dirty="0">
                <a:solidFill>
                  <a:srgbClr val="B45309"/>
                </a:solidFill>
                <a:latin typeface="Calibri" pitchFamily="34" charset="0"/>
                <a:ea typeface="Calibri" pitchFamily="34" charset="-122"/>
                <a:cs typeface="Calibri" pitchFamily="34" charset="-120"/>
              </a:rPr>
              <a:t>TRADE-OFFS</a:t>
            </a:r>
            <a:endParaRPr lang="en-US" sz="900" dirty="0"/>
          </a:p>
        </p:txBody>
      </p:sp>
      <p:sp>
        <p:nvSpPr>
          <p:cNvPr id="20" name="Text 18"/>
          <p:cNvSpPr/>
          <p:nvPr/>
        </p:nvSpPr>
        <p:spPr>
          <a:xfrm>
            <a:off x="4495648" y="5212080"/>
            <a:ext cx="3200400" cy="1051560"/>
          </a:xfrm>
          <a:prstGeom prst="rect">
            <a:avLst/>
          </a:prstGeom>
          <a:noFill/>
          <a:ln/>
        </p:spPr>
        <p:txBody>
          <a:bodyPr wrap="square" lIns="0" tIns="0" rIns="0" bIns="0" rtlCol="0" anchor="ctr"/>
          <a:lstStyle/>
          <a:p>
            <a:pPr marL="342900" indent="-342900">
              <a:spcAft>
                <a:spcPts val="300"/>
              </a:spcAft>
              <a:buSzPct val="100000"/>
              <a:buChar char="•"/>
            </a:pPr>
            <a:r>
              <a:rPr lang="en-US" sz="1100" dirty="0">
                <a:solidFill>
                  <a:srgbClr val="334155"/>
                </a:solidFill>
                <a:latin typeface="Calibri" pitchFamily="34" charset="0"/>
                <a:ea typeface="Calibri" pitchFamily="34" charset="-122"/>
                <a:cs typeface="Calibri" pitchFamily="34" charset="-120"/>
              </a:rPr>
              <a:t>Q6: no native correlation operator.</a:t>
            </a:r>
            <a:endParaRPr lang="en-US" sz="1100" dirty="0"/>
          </a:p>
          <a:p>
            <a:pPr marL="342900" indent="-342900">
              <a:spcAft>
                <a:spcPts val="300"/>
              </a:spcAft>
              <a:buSzPct val="100000"/>
              <a:buChar char="•"/>
            </a:pPr>
            <a:r>
              <a:rPr lang="en-US" sz="1100" dirty="0">
                <a:solidFill>
                  <a:srgbClr val="334155"/>
                </a:solidFill>
                <a:latin typeface="Calibri" pitchFamily="34" charset="0"/>
                <a:ea typeface="Calibri" pitchFamily="34" charset="-122"/>
                <a:cs typeface="Calibri" pitchFamily="34" charset="-120"/>
              </a:rPr>
              <a:t>Q4 roll-up pays $unwind cost.</a:t>
            </a:r>
            <a:endParaRPr lang="en-US" sz="1100" dirty="0"/>
          </a:p>
          <a:p>
            <a:pPr marL="342900" indent="-342900">
              <a:spcAft>
                <a:spcPts val="300"/>
              </a:spcAft>
              <a:buSzPct val="100000"/>
              <a:buChar char="•"/>
            </a:pPr>
            <a:r>
              <a:rPr lang="en-US" sz="1100" dirty="0">
                <a:solidFill>
                  <a:srgbClr val="334155"/>
                </a:solidFill>
                <a:latin typeface="Calibri" pitchFamily="34" charset="0"/>
                <a:ea typeface="Calibri" pitchFamily="34" charset="-122"/>
                <a:cs typeface="Calibri" pitchFamily="34" charset="-120"/>
              </a:rPr>
              <a:t>Denormalization: ~24% storage premium.</a:t>
            </a:r>
            <a:endParaRPr lang="en-US" sz="1100" dirty="0"/>
          </a:p>
        </p:txBody>
      </p:sp>
      <p:sp>
        <p:nvSpPr>
          <p:cNvPr id="21" name="Shape 19"/>
          <p:cNvSpPr/>
          <p:nvPr/>
        </p:nvSpPr>
        <p:spPr>
          <a:xfrm>
            <a:off x="8061808" y="1463040"/>
            <a:ext cx="3566160" cy="4663440"/>
          </a:xfrm>
          <a:prstGeom prst="rect">
            <a:avLst/>
          </a:prstGeom>
          <a:solidFill>
            <a:srgbClr val="FFFFFF"/>
          </a:solidFill>
          <a:ln w="6350">
            <a:solidFill>
              <a:srgbClr val="CBD5E1"/>
            </a:solidFill>
            <a:prstDash val="solid"/>
          </a:ln>
        </p:spPr>
        <p:txBody>
          <a:bodyPr/>
          <a:lstStyle/>
          <a:p>
            <a:endParaRPr lang="en-US"/>
          </a:p>
        </p:txBody>
      </p:sp>
      <p:sp>
        <p:nvSpPr>
          <p:cNvPr id="22" name="Shape 20"/>
          <p:cNvSpPr/>
          <p:nvPr/>
        </p:nvSpPr>
        <p:spPr>
          <a:xfrm>
            <a:off x="8061808" y="1463040"/>
            <a:ext cx="3566160" cy="54864"/>
          </a:xfrm>
          <a:prstGeom prst="rect">
            <a:avLst/>
          </a:prstGeom>
          <a:solidFill>
            <a:srgbClr val="0F4C81"/>
          </a:solidFill>
          <a:ln w="12700">
            <a:solidFill>
              <a:srgbClr val="333333"/>
            </a:solidFill>
            <a:prstDash val="solid"/>
          </a:ln>
        </p:spPr>
        <p:txBody>
          <a:bodyPr/>
          <a:lstStyle/>
          <a:p>
            <a:endParaRPr lang="en-US"/>
          </a:p>
        </p:txBody>
      </p:sp>
      <p:sp>
        <p:nvSpPr>
          <p:cNvPr id="23" name="Text 21"/>
          <p:cNvSpPr/>
          <p:nvPr/>
        </p:nvSpPr>
        <p:spPr>
          <a:xfrm>
            <a:off x="8244688" y="1645920"/>
            <a:ext cx="3200400" cy="457200"/>
          </a:xfrm>
          <a:prstGeom prst="rect">
            <a:avLst/>
          </a:prstGeom>
          <a:noFill/>
          <a:ln/>
        </p:spPr>
        <p:txBody>
          <a:bodyPr wrap="square" lIns="0" tIns="0" rIns="0" bIns="0" rtlCol="0" anchor="ctr"/>
          <a:lstStyle/>
          <a:p>
            <a:pPr marL="0" indent="0">
              <a:buNone/>
            </a:pPr>
            <a:r>
              <a:rPr lang="en-US" sz="2000" b="1" dirty="0">
                <a:solidFill>
                  <a:srgbClr val="1E293B"/>
                </a:solidFill>
                <a:latin typeface="Cambria" pitchFamily="34" charset="0"/>
                <a:ea typeface="Cambria" pitchFamily="34" charset="-122"/>
                <a:cs typeface="Cambria" pitchFamily="34" charset="-120"/>
              </a:rPr>
              <a:t>Neo4j</a:t>
            </a:r>
            <a:endParaRPr lang="en-US" sz="2000" dirty="0"/>
          </a:p>
        </p:txBody>
      </p:sp>
      <p:sp>
        <p:nvSpPr>
          <p:cNvPr id="24" name="Text 22"/>
          <p:cNvSpPr/>
          <p:nvPr/>
        </p:nvSpPr>
        <p:spPr>
          <a:xfrm>
            <a:off x="8244688" y="2103120"/>
            <a:ext cx="3200400" cy="274320"/>
          </a:xfrm>
          <a:prstGeom prst="rect">
            <a:avLst/>
          </a:prstGeom>
          <a:noFill/>
          <a:ln/>
        </p:spPr>
        <p:txBody>
          <a:bodyPr wrap="square" lIns="0" tIns="0" rIns="0" bIns="0" rtlCol="0" anchor="ctr"/>
          <a:lstStyle/>
          <a:p>
            <a:pPr marL="0" indent="0">
              <a:buNone/>
            </a:pPr>
            <a:r>
              <a:rPr lang="en-US" sz="1100" i="1" dirty="0">
                <a:solidFill>
                  <a:srgbClr val="0F4C81"/>
                </a:solidFill>
                <a:latin typeface="Calibri" pitchFamily="34" charset="0"/>
                <a:ea typeface="Calibri" pitchFamily="34" charset="-122"/>
                <a:cs typeface="Calibri" pitchFamily="34" charset="-120"/>
              </a:rPr>
              <a:t>Traversal patterns</a:t>
            </a:r>
            <a:endParaRPr lang="en-US" sz="1100" dirty="0"/>
          </a:p>
        </p:txBody>
      </p:sp>
      <p:sp>
        <p:nvSpPr>
          <p:cNvPr id="25" name="Text 23"/>
          <p:cNvSpPr/>
          <p:nvPr/>
        </p:nvSpPr>
        <p:spPr>
          <a:xfrm>
            <a:off x="8244688" y="2468880"/>
            <a:ext cx="3200400" cy="228600"/>
          </a:xfrm>
          <a:prstGeom prst="rect">
            <a:avLst/>
          </a:prstGeom>
          <a:noFill/>
          <a:ln/>
        </p:spPr>
        <p:txBody>
          <a:bodyPr wrap="square" lIns="0" tIns="0" rIns="0" bIns="0" rtlCol="0" anchor="ctr"/>
          <a:lstStyle/>
          <a:p>
            <a:pPr marL="0" indent="0">
              <a:buNone/>
            </a:pPr>
            <a:r>
              <a:rPr lang="en-US" sz="900" b="1" kern="0" spc="300" dirty="0">
                <a:solidFill>
                  <a:srgbClr val="15803D"/>
                </a:solidFill>
                <a:latin typeface="Calibri" pitchFamily="34" charset="0"/>
                <a:ea typeface="Calibri" pitchFamily="34" charset="-122"/>
                <a:cs typeface="Calibri" pitchFamily="34" charset="-120"/>
              </a:rPr>
              <a:t>STRENGTHS</a:t>
            </a:r>
            <a:endParaRPr lang="en-US" sz="900" dirty="0"/>
          </a:p>
        </p:txBody>
      </p:sp>
      <p:sp>
        <p:nvSpPr>
          <p:cNvPr id="26" name="Text 24"/>
          <p:cNvSpPr/>
          <p:nvPr/>
        </p:nvSpPr>
        <p:spPr>
          <a:xfrm>
            <a:off x="8244688" y="2743200"/>
            <a:ext cx="3200400" cy="2103120"/>
          </a:xfrm>
          <a:prstGeom prst="rect">
            <a:avLst/>
          </a:prstGeom>
          <a:noFill/>
          <a:ln/>
        </p:spPr>
        <p:txBody>
          <a:bodyPr wrap="square" lIns="0" tIns="0" rIns="0" bIns="0" rtlCol="0" anchor="ctr"/>
          <a:lstStyle/>
          <a:p>
            <a:pPr marL="342900" indent="-342900">
              <a:spcAft>
                <a:spcPts val="300"/>
              </a:spcAft>
              <a:buSzPct val="100000"/>
              <a:buChar char="•"/>
            </a:pPr>
            <a:r>
              <a:rPr lang="en-US" sz="1100" dirty="0">
                <a:solidFill>
                  <a:srgbClr val="334155"/>
                </a:solidFill>
                <a:latin typeface="Calibri" pitchFamily="34" charset="0"/>
                <a:ea typeface="Calibri" pitchFamily="34" charset="-122"/>
                <a:cs typeface="Calibri" pitchFamily="34" charset="-120"/>
              </a:rPr>
              <a:t>Q11–Q13 impossible elsewhere.</a:t>
            </a:r>
            <a:endParaRPr lang="en-US" sz="1100" dirty="0"/>
          </a:p>
          <a:p>
            <a:pPr marL="342900" indent="-342900">
              <a:spcAft>
                <a:spcPts val="300"/>
              </a:spcAft>
              <a:buSzPct val="100000"/>
              <a:buChar char="•"/>
            </a:pPr>
            <a:r>
              <a:rPr lang="en-US" sz="1100" dirty="0">
                <a:solidFill>
                  <a:srgbClr val="334155"/>
                </a:solidFill>
                <a:latin typeface="Calibri" pitchFamily="34" charset="0"/>
                <a:ea typeface="Calibri" pitchFamily="34" charset="-122"/>
                <a:cs typeface="Calibri" pitchFamily="34" charset="-120"/>
              </a:rPr>
              <a:t>Index-free adjacency: O(1) per hop.</a:t>
            </a:r>
            <a:endParaRPr lang="en-US" sz="1100" dirty="0"/>
          </a:p>
          <a:p>
            <a:pPr marL="342900" indent="-342900">
              <a:spcAft>
                <a:spcPts val="300"/>
              </a:spcAft>
              <a:buSzPct val="100000"/>
              <a:buChar char="•"/>
            </a:pPr>
            <a:r>
              <a:rPr lang="en-US" sz="1100" dirty="0">
                <a:solidFill>
                  <a:srgbClr val="334155"/>
                </a:solidFill>
                <a:latin typeface="Calibri" pitchFamily="34" charset="0"/>
                <a:ea typeface="Calibri" pitchFamily="34" charset="-122"/>
                <a:cs typeface="Calibri" pitchFamily="34" charset="-120"/>
              </a:rPr>
              <a:t>BORDERS edges = first-class spatial model.</a:t>
            </a:r>
            <a:endParaRPr lang="en-US" sz="1100" dirty="0"/>
          </a:p>
          <a:p>
            <a:pPr marL="342900" indent="-342900">
              <a:spcAft>
                <a:spcPts val="300"/>
              </a:spcAft>
              <a:buSzPct val="100000"/>
              <a:buChar char="•"/>
            </a:pPr>
            <a:r>
              <a:rPr lang="en-US" sz="1100" dirty="0">
                <a:solidFill>
                  <a:srgbClr val="334155"/>
                </a:solidFill>
                <a:latin typeface="Calibri" pitchFamily="34" charset="0"/>
                <a:ea typeface="Calibri" pitchFamily="34" charset="-122"/>
                <a:cs typeface="Calibri" pitchFamily="34" charset="-120"/>
              </a:rPr>
              <a:t>Natural fit for hierarchy (city → state).</a:t>
            </a:r>
            <a:endParaRPr lang="en-US" sz="1100" dirty="0"/>
          </a:p>
        </p:txBody>
      </p:sp>
      <p:sp>
        <p:nvSpPr>
          <p:cNvPr id="27" name="Text 25"/>
          <p:cNvSpPr/>
          <p:nvPr/>
        </p:nvSpPr>
        <p:spPr>
          <a:xfrm>
            <a:off x="8244688" y="4937760"/>
            <a:ext cx="3200400" cy="228600"/>
          </a:xfrm>
          <a:prstGeom prst="rect">
            <a:avLst/>
          </a:prstGeom>
          <a:noFill/>
          <a:ln/>
        </p:spPr>
        <p:txBody>
          <a:bodyPr wrap="square" lIns="0" tIns="0" rIns="0" bIns="0" rtlCol="0" anchor="ctr"/>
          <a:lstStyle/>
          <a:p>
            <a:pPr marL="0" indent="0">
              <a:buNone/>
            </a:pPr>
            <a:r>
              <a:rPr lang="en-US" sz="900" b="1" kern="0" spc="300" dirty="0">
                <a:solidFill>
                  <a:srgbClr val="B45309"/>
                </a:solidFill>
                <a:latin typeface="Calibri" pitchFamily="34" charset="0"/>
                <a:ea typeface="Calibri" pitchFamily="34" charset="-122"/>
                <a:cs typeface="Calibri" pitchFamily="34" charset="-120"/>
              </a:rPr>
              <a:t>TRADE-OFFS</a:t>
            </a:r>
            <a:endParaRPr lang="en-US" sz="900" dirty="0"/>
          </a:p>
        </p:txBody>
      </p:sp>
      <p:sp>
        <p:nvSpPr>
          <p:cNvPr id="28" name="Text 26"/>
          <p:cNvSpPr/>
          <p:nvPr/>
        </p:nvSpPr>
        <p:spPr>
          <a:xfrm>
            <a:off x="8244688" y="5212080"/>
            <a:ext cx="3200400" cy="1051560"/>
          </a:xfrm>
          <a:prstGeom prst="rect">
            <a:avLst/>
          </a:prstGeom>
          <a:noFill/>
          <a:ln/>
        </p:spPr>
        <p:txBody>
          <a:bodyPr wrap="square" lIns="0" tIns="0" rIns="0" bIns="0" rtlCol="0" anchor="ctr"/>
          <a:lstStyle/>
          <a:p>
            <a:pPr marL="342900" indent="-342900">
              <a:spcAft>
                <a:spcPts val="300"/>
              </a:spcAft>
              <a:buSzPct val="100000"/>
              <a:buChar char="•"/>
            </a:pPr>
            <a:r>
              <a:rPr lang="en-US" sz="1100" dirty="0">
                <a:solidFill>
                  <a:srgbClr val="334155"/>
                </a:solidFill>
                <a:latin typeface="Calibri" pitchFamily="34" charset="0"/>
                <a:ea typeface="Calibri" pitchFamily="34" charset="-122"/>
                <a:cs typeface="Calibri" pitchFamily="34" charset="-120"/>
              </a:rPr>
              <a:t>Slowest on all 10 standard OLAP queries.</a:t>
            </a:r>
            <a:endParaRPr lang="en-US" sz="1100" dirty="0"/>
          </a:p>
          <a:p>
            <a:pPr marL="342900" indent="-342900">
              <a:spcAft>
                <a:spcPts val="300"/>
              </a:spcAft>
              <a:buSzPct val="100000"/>
              <a:buChar char="•"/>
            </a:pPr>
            <a:r>
              <a:rPr lang="en-US" sz="1100" dirty="0">
                <a:solidFill>
                  <a:srgbClr val="334155"/>
                </a:solidFill>
                <a:latin typeface="Calibri" pitchFamily="34" charset="0"/>
                <a:ea typeface="Calibri" pitchFamily="34" charset="-122"/>
                <a:cs typeface="Calibri" pitchFamily="34" charset="-120"/>
              </a:rPr>
              <a:t>Time-hierarchy chain adds per-aggregate overhead.</a:t>
            </a:r>
            <a:endParaRPr lang="en-US" sz="1100" dirty="0"/>
          </a:p>
        </p:txBody>
      </p:sp>
      <p:sp>
        <p:nvSpPr>
          <p:cNvPr id="29" name="Text 27"/>
          <p:cNvSpPr/>
          <p:nvPr/>
        </p:nvSpPr>
        <p:spPr>
          <a:xfrm>
            <a:off x="548640" y="6199632"/>
            <a:ext cx="11064240" cy="228600"/>
          </a:xfrm>
          <a:prstGeom prst="rect">
            <a:avLst/>
          </a:prstGeom>
          <a:noFill/>
          <a:ln/>
        </p:spPr>
        <p:txBody>
          <a:bodyPr wrap="square" lIns="0" tIns="0" rIns="0" bIns="0" rtlCol="0" anchor="ctr"/>
          <a:lstStyle/>
          <a:p>
            <a:pPr marL="0" indent="0" algn="ctr">
              <a:buNone/>
            </a:pPr>
            <a:r>
              <a:rPr lang="en-US" sz="1100" i="1" dirty="0">
                <a:solidFill>
                  <a:srgbClr val="64748B"/>
                </a:solidFill>
                <a:latin typeface="Calibri" pitchFamily="34" charset="0"/>
                <a:ea typeface="Calibri" pitchFamily="34" charset="-122"/>
                <a:cs typeface="Calibri" pitchFamily="34" charset="-120"/>
              </a:rPr>
              <a:t>Takeaway: there is no single “winner.” Backend choice should follow the analytical shape, not the other way around.</a:t>
            </a:r>
            <a:endParaRPr lang="en-US" sz="1100" dirty="0"/>
          </a:p>
        </p:txBody>
      </p:sp>
      <p:sp>
        <p:nvSpPr>
          <p:cNvPr id="30" name="Text 28"/>
          <p:cNvSpPr/>
          <p:nvPr/>
        </p:nvSpPr>
        <p:spPr>
          <a:xfrm>
            <a:off x="548640" y="6446520"/>
            <a:ext cx="73152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Anwar Debes · IKT453 · University of Agder</a:t>
            </a:r>
            <a:endParaRPr lang="en-US" sz="900" dirty="0"/>
          </a:p>
        </p:txBody>
      </p:sp>
      <p:sp>
        <p:nvSpPr>
          <p:cNvPr id="31" name="Text 29"/>
          <p:cNvSpPr/>
          <p:nvPr/>
        </p:nvSpPr>
        <p:spPr>
          <a:xfrm>
            <a:off x="10789920" y="6446520"/>
            <a:ext cx="86868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18 / 20</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02920"/>
          </a:xfrm>
          <a:prstGeom prst="rect">
            <a:avLst/>
          </a:prstGeom>
          <a:noFill/>
          <a:ln/>
        </p:spPr>
        <p:txBody>
          <a:bodyPr wrap="square" lIns="0" tIns="0" rIns="0" bIns="0" rtlCol="0" anchor="ctr"/>
          <a:lstStyle/>
          <a:p>
            <a:pPr marL="0" indent="0" algn="l">
              <a:buNone/>
            </a:pPr>
            <a:r>
              <a:rPr lang="en-US" sz="2800" b="1" dirty="0">
                <a:solidFill>
                  <a:srgbClr val="1E293B"/>
                </a:solidFill>
                <a:latin typeface="Cambria" pitchFamily="34" charset="0"/>
                <a:ea typeface="Cambria" pitchFamily="34" charset="-122"/>
                <a:cs typeface="Cambria" pitchFamily="34" charset="-120"/>
              </a:rPr>
              <a:t>Conclusion &amp; Future Work</a:t>
            </a:r>
            <a:endParaRPr lang="en-US" sz="2800" dirty="0"/>
          </a:p>
        </p:txBody>
      </p:sp>
      <p:sp>
        <p:nvSpPr>
          <p:cNvPr id="3" name="Text 1"/>
          <p:cNvSpPr/>
          <p:nvPr/>
        </p:nvSpPr>
        <p:spPr>
          <a:xfrm>
            <a:off x="548640" y="841248"/>
            <a:ext cx="11064240" cy="292608"/>
          </a:xfrm>
          <a:prstGeom prst="rect">
            <a:avLst/>
          </a:prstGeom>
          <a:noFill/>
          <a:ln/>
        </p:spPr>
        <p:txBody>
          <a:bodyPr wrap="square" lIns="0" tIns="0" rIns="0" bIns="0" rtlCol="0" anchor="ctr"/>
          <a:lstStyle/>
          <a:p>
            <a:pPr marL="0" indent="0" algn="l">
              <a:buNone/>
            </a:pPr>
            <a:r>
              <a:rPr lang="en-US" sz="1300" i="1" dirty="0">
                <a:solidFill>
                  <a:srgbClr val="64748B"/>
                </a:solidFill>
                <a:latin typeface="Calibri" pitchFamily="34" charset="0"/>
                <a:ea typeface="Calibri" pitchFamily="34" charset="-122"/>
                <a:cs typeface="Calibri" pitchFamily="34" charset="-120"/>
              </a:rPr>
              <a:t>What the project demonstrates, and where it could go next</a:t>
            </a:r>
            <a:endParaRPr lang="en-US" sz="1300" dirty="0"/>
          </a:p>
        </p:txBody>
      </p:sp>
      <p:sp>
        <p:nvSpPr>
          <p:cNvPr id="4" name="Shape 2"/>
          <p:cNvSpPr/>
          <p:nvPr/>
        </p:nvSpPr>
        <p:spPr>
          <a:xfrm>
            <a:off x="548640" y="1207008"/>
            <a:ext cx="11064240" cy="0"/>
          </a:xfrm>
          <a:prstGeom prst="line">
            <a:avLst/>
          </a:prstGeom>
          <a:noFill/>
          <a:ln w="9525">
            <a:solidFill>
              <a:srgbClr val="CBD5E1"/>
            </a:solidFill>
            <a:prstDash val="solid"/>
          </a:ln>
        </p:spPr>
        <p:txBody>
          <a:bodyPr/>
          <a:lstStyle/>
          <a:p>
            <a:endParaRPr lang="en-US"/>
          </a:p>
        </p:txBody>
      </p:sp>
      <p:sp>
        <p:nvSpPr>
          <p:cNvPr id="5" name="Text 3"/>
          <p:cNvSpPr/>
          <p:nvPr/>
        </p:nvSpPr>
        <p:spPr>
          <a:xfrm>
            <a:off x="548640" y="1463040"/>
            <a:ext cx="5669280" cy="320040"/>
          </a:xfrm>
          <a:prstGeom prst="rect">
            <a:avLst/>
          </a:prstGeom>
          <a:noFill/>
          <a:ln/>
        </p:spPr>
        <p:txBody>
          <a:bodyPr wrap="square" lIns="0" tIns="0" rIns="0" bIns="0" rtlCol="0" anchor="ctr"/>
          <a:lstStyle/>
          <a:p>
            <a:pPr marL="0" indent="0">
              <a:buNone/>
            </a:pPr>
            <a:r>
              <a:rPr lang="en-US" sz="1200" b="1" kern="0" spc="200" dirty="0">
                <a:solidFill>
                  <a:srgbClr val="0F4C81"/>
                </a:solidFill>
                <a:latin typeface="Calibri" pitchFamily="34" charset="0"/>
                <a:ea typeface="Calibri" pitchFamily="34" charset="-122"/>
                <a:cs typeface="Calibri" pitchFamily="34" charset="-120"/>
              </a:rPr>
              <a:t>Delivered</a:t>
            </a:r>
            <a:endParaRPr lang="en-US" sz="1200" dirty="0"/>
          </a:p>
        </p:txBody>
      </p:sp>
      <p:sp>
        <p:nvSpPr>
          <p:cNvPr id="6" name="Text 4"/>
          <p:cNvSpPr/>
          <p:nvPr/>
        </p:nvSpPr>
        <p:spPr>
          <a:xfrm>
            <a:off x="548640" y="1828800"/>
            <a:ext cx="5669280" cy="3200400"/>
          </a:xfrm>
          <a:prstGeom prst="rect">
            <a:avLst/>
          </a:prstGeom>
          <a:noFill/>
          <a:ln/>
        </p:spPr>
        <p:txBody>
          <a:bodyPr wrap="square" lIns="0" tIns="0" rIns="0" bIns="0" rtlCol="0" anchor="ctr"/>
          <a:lstStyle/>
          <a:p>
            <a:pPr marL="342900" indent="-342900">
              <a:spcAft>
                <a:spcPts val="500"/>
              </a:spcAft>
              <a:buSzPct val="100000"/>
              <a:buChar char="•"/>
            </a:pPr>
            <a:r>
              <a:rPr lang="en-US" sz="1200" dirty="0">
                <a:solidFill>
                  <a:srgbClr val="334155"/>
                </a:solidFill>
                <a:latin typeface="Calibri" pitchFamily="34" charset="0"/>
                <a:ea typeface="Calibri" pitchFamily="34" charset="-122"/>
                <a:cs typeface="Calibri" pitchFamily="34" charset="-120"/>
              </a:rPr>
              <a:t>A complete multi-backend data warehouse on real Project Tycho Level 1 data (473,189 rows, 1916–2011).</a:t>
            </a:r>
            <a:endParaRPr lang="en-US" sz="1200" dirty="0"/>
          </a:p>
          <a:p>
            <a:pPr marL="342900" indent="-342900">
              <a:spcAft>
                <a:spcPts val="500"/>
              </a:spcAft>
              <a:buSzPct val="100000"/>
              <a:buChar char="•"/>
            </a:pPr>
            <a:r>
              <a:rPr lang="en-US" sz="1200" dirty="0">
                <a:solidFill>
                  <a:srgbClr val="334155"/>
                </a:solidFill>
                <a:latin typeface="Calibri" pitchFamily="34" charset="0"/>
                <a:ea typeface="Calibri" pitchFamily="34" charset="-122"/>
                <a:cs typeface="Calibri" pitchFamily="34" charset="-120"/>
              </a:rPr>
              <a:t>All three paradigms implemented natively not transliterated with backend-specific query idioms.</a:t>
            </a:r>
            <a:endParaRPr lang="en-US" sz="1200" dirty="0"/>
          </a:p>
          <a:p>
            <a:pPr marL="342900" indent="-342900">
              <a:spcAft>
                <a:spcPts val="500"/>
              </a:spcAft>
              <a:buSzPct val="100000"/>
              <a:buChar char="•"/>
            </a:pPr>
            <a:r>
              <a:rPr lang="en-US" sz="1200" dirty="0">
                <a:solidFill>
                  <a:srgbClr val="334155"/>
                </a:solidFill>
                <a:latin typeface="Calibri" pitchFamily="34" charset="0"/>
                <a:ea typeface="Calibri" pitchFamily="34" charset="-122"/>
                <a:cs typeface="Calibri" pitchFamily="34" charset="-120"/>
              </a:rPr>
              <a:t>13 decision support queries, 5 OLAP operations, cross-backend comparison engine.</a:t>
            </a:r>
            <a:endParaRPr lang="en-US" sz="1200" dirty="0"/>
          </a:p>
          <a:p>
            <a:pPr marL="342900" indent="-342900">
              <a:spcAft>
                <a:spcPts val="500"/>
              </a:spcAft>
              <a:buSzPct val="100000"/>
              <a:buChar char="•"/>
            </a:pPr>
            <a:r>
              <a:rPr lang="en-US" sz="1200" dirty="0">
                <a:solidFill>
                  <a:srgbClr val="334155"/>
                </a:solidFill>
                <a:latin typeface="Calibri" pitchFamily="34" charset="0"/>
                <a:ea typeface="Calibri" pitchFamily="34" charset="-122"/>
                <a:cs typeface="Calibri" pitchFamily="34" charset="-120"/>
              </a:rPr>
              <a:t>Kafka + ksqlDB streaming layer with 4 persistent queries and live SSE feed to the dashboard.</a:t>
            </a:r>
            <a:endParaRPr lang="en-US" sz="1200" dirty="0"/>
          </a:p>
          <a:p>
            <a:pPr marL="342900" indent="-342900">
              <a:spcAft>
                <a:spcPts val="500"/>
              </a:spcAft>
              <a:buSzPct val="100000"/>
              <a:buChar char="•"/>
            </a:pPr>
            <a:r>
              <a:rPr lang="en-US" sz="1200" dirty="0">
                <a:solidFill>
                  <a:srgbClr val="334155"/>
                </a:solidFill>
                <a:latin typeface="Calibri" pitchFamily="34" charset="0"/>
                <a:ea typeface="Calibri" pitchFamily="34" charset="-122"/>
                <a:cs typeface="Calibri" pitchFamily="34" charset="-120"/>
              </a:rPr>
              <a:t>Full dockerization: 8 containers, one `docker compose up`.</a:t>
            </a:r>
            <a:endParaRPr lang="en-US" sz="1200" dirty="0"/>
          </a:p>
          <a:p>
            <a:pPr marL="342900" indent="-342900">
              <a:spcAft>
                <a:spcPts val="500"/>
              </a:spcAft>
              <a:buSzPct val="100000"/>
              <a:buChar char="•"/>
            </a:pPr>
            <a:r>
              <a:rPr lang="en-US" sz="1200" dirty="0">
                <a:solidFill>
                  <a:srgbClr val="334155"/>
                </a:solidFill>
                <a:latin typeface="Calibri" pitchFamily="34" charset="0"/>
                <a:ea typeface="Calibri" pitchFamily="34" charset="-122"/>
                <a:cs typeface="Calibri" pitchFamily="34" charset="-120"/>
              </a:rPr>
              <a:t>React dashboard deployed live on Vercel.</a:t>
            </a:r>
            <a:endParaRPr lang="en-US" sz="1200" dirty="0"/>
          </a:p>
        </p:txBody>
      </p:sp>
      <p:sp>
        <p:nvSpPr>
          <p:cNvPr id="7" name="Text 5"/>
          <p:cNvSpPr/>
          <p:nvPr/>
        </p:nvSpPr>
        <p:spPr>
          <a:xfrm>
            <a:off x="6492240" y="1463040"/>
            <a:ext cx="5120640" cy="320040"/>
          </a:xfrm>
          <a:prstGeom prst="rect">
            <a:avLst/>
          </a:prstGeom>
          <a:noFill/>
          <a:ln/>
        </p:spPr>
        <p:txBody>
          <a:bodyPr wrap="square" lIns="0" tIns="0" rIns="0" bIns="0" rtlCol="0" anchor="ctr"/>
          <a:lstStyle/>
          <a:p>
            <a:pPr marL="0" indent="0">
              <a:buNone/>
            </a:pPr>
            <a:r>
              <a:rPr lang="en-US" sz="1200" b="1" kern="0" spc="200" dirty="0">
                <a:solidFill>
                  <a:srgbClr val="0F4C81"/>
                </a:solidFill>
                <a:latin typeface="Calibri" pitchFamily="34" charset="0"/>
                <a:ea typeface="Calibri" pitchFamily="34" charset="-122"/>
                <a:cs typeface="Calibri" pitchFamily="34" charset="-120"/>
              </a:rPr>
              <a:t>Future work</a:t>
            </a:r>
            <a:endParaRPr lang="en-US" sz="1200" dirty="0"/>
          </a:p>
        </p:txBody>
      </p:sp>
      <p:sp>
        <p:nvSpPr>
          <p:cNvPr id="8" name="Text 6"/>
          <p:cNvSpPr/>
          <p:nvPr/>
        </p:nvSpPr>
        <p:spPr>
          <a:xfrm>
            <a:off x="6492240" y="1828800"/>
            <a:ext cx="5120640" cy="2629576"/>
          </a:xfrm>
          <a:prstGeom prst="rect">
            <a:avLst/>
          </a:prstGeom>
          <a:noFill/>
          <a:ln/>
        </p:spPr>
        <p:txBody>
          <a:bodyPr wrap="square" lIns="0" tIns="0" rIns="0" bIns="0" rtlCol="0" anchor="ctr"/>
          <a:lstStyle/>
          <a:p>
            <a:pPr marL="342900" indent="-342900">
              <a:spcAft>
                <a:spcPts val="500"/>
              </a:spcAft>
              <a:buSzPct val="100000"/>
              <a:buChar char="•"/>
            </a:pPr>
            <a:r>
              <a:rPr lang="en-US" sz="1200" dirty="0">
                <a:solidFill>
                  <a:srgbClr val="334155"/>
                </a:solidFill>
                <a:latin typeface="Calibri" pitchFamily="34" charset="0"/>
                <a:ea typeface="Calibri" pitchFamily="34" charset="-122"/>
                <a:cs typeface="Calibri" pitchFamily="34" charset="-120"/>
              </a:rPr>
              <a:t>Add a time-series backend (TimescaleDB / InfluxDB) as a fourth paradigm for comparison.</a:t>
            </a:r>
            <a:endParaRPr lang="en-US" sz="1200" dirty="0"/>
          </a:p>
          <a:p>
            <a:pPr marL="342900" indent="-342900">
              <a:spcAft>
                <a:spcPts val="500"/>
              </a:spcAft>
              <a:buSzPct val="100000"/>
              <a:buChar char="•"/>
            </a:pPr>
            <a:r>
              <a:rPr lang="en-US" sz="1200" dirty="0">
                <a:solidFill>
                  <a:srgbClr val="334155"/>
                </a:solidFill>
                <a:latin typeface="Calibri" pitchFamily="34" charset="0"/>
                <a:ea typeface="Calibri" pitchFamily="34" charset="-122"/>
                <a:cs typeface="Calibri" pitchFamily="34" charset="-120"/>
              </a:rPr>
              <a:t>Extend the graph with demographic and mobility edges, to enable additional graph-specific analyses beyond Q11–Q13.</a:t>
            </a:r>
            <a:endParaRPr lang="en-US" sz="1200" dirty="0"/>
          </a:p>
          <a:p>
            <a:pPr marL="342900" indent="-342900">
              <a:spcAft>
                <a:spcPts val="500"/>
              </a:spcAft>
              <a:buSzPct val="100000"/>
              <a:buChar char="•"/>
            </a:pPr>
            <a:r>
              <a:rPr lang="en-US" sz="1200" dirty="0">
                <a:solidFill>
                  <a:srgbClr val="334155"/>
                </a:solidFill>
                <a:latin typeface="Calibri" pitchFamily="34" charset="0"/>
                <a:ea typeface="Calibri" pitchFamily="34" charset="-122"/>
                <a:cs typeface="Calibri" pitchFamily="34" charset="-120"/>
              </a:rPr>
              <a:t>Scale the measurement protocol to larger synthetic loads and characterize how the relative performance curve evolves past 473K rows.</a:t>
            </a:r>
          </a:p>
          <a:p>
            <a:pPr marL="342900" indent="-342900">
              <a:spcAft>
                <a:spcPts val="500"/>
              </a:spcAft>
              <a:buSzPct val="100000"/>
              <a:buChar char="•"/>
            </a:pPr>
            <a:r>
              <a:rPr lang="en-US" sz="1200" dirty="0">
                <a:solidFill>
                  <a:srgbClr val="334155"/>
                </a:solidFill>
                <a:latin typeface="Calibri" pitchFamily="34" charset="0"/>
                <a:ea typeface="Calibri" pitchFamily="34" charset="-122"/>
                <a:cs typeface="Calibri" pitchFamily="34" charset="-120"/>
              </a:rPr>
              <a:t>Real Project Tycho Level 2 data integration. </a:t>
            </a:r>
          </a:p>
          <a:p>
            <a:pPr marL="342900" indent="-342900">
              <a:spcAft>
                <a:spcPts val="500"/>
              </a:spcAft>
              <a:buSzPct val="100000"/>
              <a:buChar char="•"/>
            </a:pPr>
            <a:r>
              <a:rPr lang="en-US" sz="1200" dirty="0">
                <a:solidFill>
                  <a:srgbClr val="334155"/>
                </a:solidFill>
                <a:latin typeface="Calibri" pitchFamily="34" charset="0"/>
                <a:ea typeface="Calibri" pitchFamily="34" charset="-122"/>
                <a:cs typeface="Calibri" pitchFamily="34" charset="-120"/>
              </a:rPr>
              <a:t>Historical query performance logging.  </a:t>
            </a:r>
            <a:endParaRPr lang="en-US" sz="1200" dirty="0"/>
          </a:p>
        </p:txBody>
      </p:sp>
      <p:sp>
        <p:nvSpPr>
          <p:cNvPr id="9" name="Shape 7"/>
          <p:cNvSpPr/>
          <p:nvPr/>
        </p:nvSpPr>
        <p:spPr>
          <a:xfrm>
            <a:off x="548640" y="5303520"/>
            <a:ext cx="11064240" cy="1097280"/>
          </a:xfrm>
          <a:prstGeom prst="rect">
            <a:avLst/>
          </a:prstGeom>
          <a:solidFill>
            <a:srgbClr val="D6E4F0"/>
          </a:solidFill>
          <a:ln w="12700">
            <a:solidFill>
              <a:srgbClr val="333333"/>
            </a:solidFill>
            <a:prstDash val="solid"/>
          </a:ln>
        </p:spPr>
        <p:txBody>
          <a:bodyPr/>
          <a:lstStyle/>
          <a:p>
            <a:endParaRPr lang="en-US"/>
          </a:p>
        </p:txBody>
      </p:sp>
      <p:sp>
        <p:nvSpPr>
          <p:cNvPr id="10" name="Shape 8"/>
          <p:cNvSpPr/>
          <p:nvPr/>
        </p:nvSpPr>
        <p:spPr>
          <a:xfrm>
            <a:off x="548640" y="5303520"/>
            <a:ext cx="73152" cy="1097280"/>
          </a:xfrm>
          <a:prstGeom prst="rect">
            <a:avLst/>
          </a:prstGeom>
          <a:solidFill>
            <a:srgbClr val="0F4C81"/>
          </a:solidFill>
          <a:ln w="12700">
            <a:solidFill>
              <a:srgbClr val="333333"/>
            </a:solidFill>
            <a:prstDash val="solid"/>
          </a:ln>
        </p:spPr>
        <p:txBody>
          <a:bodyPr/>
          <a:lstStyle/>
          <a:p>
            <a:endParaRPr lang="en-US"/>
          </a:p>
        </p:txBody>
      </p:sp>
      <p:sp>
        <p:nvSpPr>
          <p:cNvPr id="11" name="Text 9"/>
          <p:cNvSpPr/>
          <p:nvPr/>
        </p:nvSpPr>
        <p:spPr>
          <a:xfrm>
            <a:off x="777240" y="5394960"/>
            <a:ext cx="10698480" cy="274320"/>
          </a:xfrm>
          <a:prstGeom prst="rect">
            <a:avLst/>
          </a:prstGeom>
          <a:noFill/>
          <a:ln/>
        </p:spPr>
        <p:txBody>
          <a:bodyPr wrap="square" lIns="0" tIns="0" rIns="0" bIns="0" rtlCol="0" anchor="ctr"/>
          <a:lstStyle/>
          <a:p>
            <a:pPr marL="0" indent="0">
              <a:buNone/>
            </a:pPr>
            <a:r>
              <a:rPr lang="en-US" sz="1000" b="1" kern="0" spc="300" dirty="0">
                <a:solidFill>
                  <a:srgbClr val="0F4C81"/>
                </a:solidFill>
                <a:latin typeface="Calibri" pitchFamily="34" charset="0"/>
                <a:ea typeface="Calibri" pitchFamily="34" charset="-122"/>
                <a:cs typeface="Calibri" pitchFamily="34" charset="-120"/>
              </a:rPr>
              <a:t>HEADLINE FINDING</a:t>
            </a:r>
            <a:endParaRPr lang="en-US" sz="1000" dirty="0"/>
          </a:p>
        </p:txBody>
      </p:sp>
      <p:sp>
        <p:nvSpPr>
          <p:cNvPr id="12" name="Text 10"/>
          <p:cNvSpPr/>
          <p:nvPr/>
        </p:nvSpPr>
        <p:spPr>
          <a:xfrm>
            <a:off x="777240" y="5669280"/>
            <a:ext cx="10698480" cy="685800"/>
          </a:xfrm>
          <a:prstGeom prst="rect">
            <a:avLst/>
          </a:prstGeom>
          <a:noFill/>
          <a:ln/>
        </p:spPr>
        <p:txBody>
          <a:bodyPr wrap="square" lIns="0" tIns="0" rIns="0" bIns="0" rtlCol="0" anchor="t"/>
          <a:lstStyle/>
          <a:p>
            <a:pPr marL="0" indent="0">
              <a:buNone/>
            </a:pPr>
            <a:r>
              <a:rPr lang="en-US" sz="1300" dirty="0">
                <a:solidFill>
                  <a:srgbClr val="334155"/>
                </a:solidFill>
                <a:latin typeface="Calibri" pitchFamily="34" charset="0"/>
                <a:ea typeface="Calibri" pitchFamily="34" charset="-122"/>
                <a:cs typeface="Calibri" pitchFamily="34" charset="-120"/>
              </a:rPr>
              <a:t>A single real epidemiological dataset can be modelled in three fundamentally different paradigms </a:t>
            </a:r>
            <a:r>
              <a:rPr lang="en-US" sz="1300" b="1" dirty="0">
                <a:solidFill>
                  <a:srgbClr val="334155"/>
                </a:solidFill>
                <a:latin typeface="Calibri" pitchFamily="34" charset="0"/>
                <a:ea typeface="Calibri" pitchFamily="34" charset="-122"/>
                <a:cs typeface="Calibri" pitchFamily="34" charset="-120"/>
              </a:rPr>
              <a:t> and each carries distinct analytical advantages. </a:t>
            </a:r>
            <a:r>
              <a:rPr lang="en-US" sz="1300" dirty="0">
                <a:solidFill>
                  <a:srgbClr val="334155"/>
                </a:solidFill>
                <a:latin typeface="Calibri" pitchFamily="34" charset="0"/>
                <a:ea typeface="Calibri" pitchFamily="34" charset="-122"/>
                <a:cs typeface="Calibri" pitchFamily="34" charset="-120"/>
              </a:rPr>
              <a:t>PostgreSQL for structured OLAP; MongoDB for selective filtered queries; Neo4j for traversal patterns over state borders. The comparison engine makes the trade-offs measurable rather than theoretical.</a:t>
            </a:r>
            <a:endParaRPr lang="en-US" sz="1300" dirty="0"/>
          </a:p>
        </p:txBody>
      </p:sp>
      <p:sp>
        <p:nvSpPr>
          <p:cNvPr id="13" name="Text 11"/>
          <p:cNvSpPr/>
          <p:nvPr/>
        </p:nvSpPr>
        <p:spPr>
          <a:xfrm>
            <a:off x="548640" y="6446520"/>
            <a:ext cx="73152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Anwar Debes · IKT453 · University of Agder</a:t>
            </a:r>
            <a:endParaRPr lang="en-US" sz="900" dirty="0"/>
          </a:p>
        </p:txBody>
      </p:sp>
      <p:sp>
        <p:nvSpPr>
          <p:cNvPr id="14" name="Text 12"/>
          <p:cNvSpPr/>
          <p:nvPr/>
        </p:nvSpPr>
        <p:spPr>
          <a:xfrm>
            <a:off x="10789920" y="6446520"/>
            <a:ext cx="86868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19 / 20</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645920"/>
            <a:ext cx="11064240" cy="1097280"/>
          </a:xfrm>
          <a:prstGeom prst="rect">
            <a:avLst/>
          </a:prstGeom>
          <a:noFill/>
          <a:ln/>
        </p:spPr>
        <p:txBody>
          <a:bodyPr wrap="square" lIns="0" tIns="0" rIns="0" bIns="0" rtlCol="0" anchor="ctr"/>
          <a:lstStyle/>
          <a:p>
            <a:pPr marL="0" indent="0" algn="ctr">
              <a:buNone/>
            </a:pPr>
            <a:r>
              <a:rPr lang="en-US" sz="9600" b="1" kern="0" spc="1200" dirty="0">
                <a:solidFill>
                  <a:srgbClr val="1E293B"/>
                </a:solidFill>
                <a:latin typeface="Cambria" pitchFamily="34" charset="0"/>
                <a:ea typeface="Cambria" pitchFamily="34" charset="-122"/>
                <a:cs typeface="Cambria" pitchFamily="34" charset="-120"/>
              </a:rPr>
              <a:t>DEMO</a:t>
            </a:r>
            <a:endParaRPr lang="en-US" sz="9600" dirty="0"/>
          </a:p>
        </p:txBody>
      </p:sp>
      <p:sp>
        <p:nvSpPr>
          <p:cNvPr id="3" name="Text 1"/>
          <p:cNvSpPr/>
          <p:nvPr/>
        </p:nvSpPr>
        <p:spPr>
          <a:xfrm>
            <a:off x="548640" y="2971800"/>
            <a:ext cx="11064240" cy="457200"/>
          </a:xfrm>
          <a:prstGeom prst="rect">
            <a:avLst/>
          </a:prstGeom>
          <a:noFill/>
          <a:ln/>
        </p:spPr>
        <p:txBody>
          <a:bodyPr wrap="square" lIns="0" tIns="0" rIns="0" bIns="0" rtlCol="0" anchor="ctr"/>
          <a:lstStyle/>
          <a:p>
            <a:pPr marL="0" indent="0" algn="ctr">
              <a:buNone/>
            </a:pPr>
            <a:r>
              <a:rPr lang="en-US" sz="2000" i="1" dirty="0">
                <a:solidFill>
                  <a:srgbClr val="334155"/>
                </a:solidFill>
                <a:latin typeface="Calibri" pitchFamily="34" charset="0"/>
                <a:ea typeface="Calibri" pitchFamily="34" charset="-122"/>
                <a:cs typeface="Calibri" pitchFamily="34" charset="-120"/>
              </a:rPr>
              <a:t>Live deployed dashboard</a:t>
            </a:r>
            <a:endParaRPr lang="en-US" sz="2000" dirty="0"/>
          </a:p>
        </p:txBody>
      </p:sp>
      <p:sp>
        <p:nvSpPr>
          <p:cNvPr id="4" name="Shape 2"/>
          <p:cNvSpPr/>
          <p:nvPr/>
        </p:nvSpPr>
        <p:spPr>
          <a:xfrm>
            <a:off x="2377440" y="3840480"/>
            <a:ext cx="7406640" cy="1463040"/>
          </a:xfrm>
          <a:prstGeom prst="rect">
            <a:avLst/>
          </a:prstGeom>
          <a:solidFill>
            <a:srgbClr val="F1F5F9"/>
          </a:solidFill>
          <a:ln w="12700">
            <a:solidFill>
              <a:srgbClr val="0F4C81"/>
            </a:solidFill>
            <a:prstDash val="solid"/>
          </a:ln>
        </p:spPr>
        <p:txBody>
          <a:bodyPr/>
          <a:lstStyle/>
          <a:p>
            <a:endParaRPr lang="en-US" dirty="0"/>
          </a:p>
        </p:txBody>
      </p:sp>
      <p:sp>
        <p:nvSpPr>
          <p:cNvPr id="5" name="Text 3"/>
          <p:cNvSpPr/>
          <p:nvPr/>
        </p:nvSpPr>
        <p:spPr>
          <a:xfrm>
            <a:off x="2377440" y="3977640"/>
            <a:ext cx="7406640" cy="274320"/>
          </a:xfrm>
          <a:prstGeom prst="rect">
            <a:avLst/>
          </a:prstGeom>
          <a:noFill/>
          <a:ln/>
        </p:spPr>
        <p:txBody>
          <a:bodyPr wrap="square" lIns="0" tIns="0" rIns="0" bIns="0" rtlCol="0" anchor="ctr"/>
          <a:lstStyle/>
          <a:p>
            <a:pPr marL="0" indent="0" algn="ctr">
              <a:buNone/>
            </a:pPr>
            <a:r>
              <a:rPr lang="en-US" sz="1100" b="1" kern="0" spc="300" dirty="0">
                <a:solidFill>
                  <a:srgbClr val="0F4C81"/>
                </a:solidFill>
                <a:latin typeface="Calibri" pitchFamily="34" charset="0"/>
                <a:ea typeface="Calibri" pitchFamily="34" charset="-122"/>
                <a:cs typeface="Calibri" pitchFamily="34" charset="-120"/>
              </a:rPr>
              <a:t>WEB APP</a:t>
            </a:r>
            <a:endParaRPr lang="en-US" sz="1100" dirty="0"/>
          </a:p>
        </p:txBody>
      </p:sp>
      <p:sp>
        <p:nvSpPr>
          <p:cNvPr id="6" name="Text 4">
            <a:hlinkClick r:id="rId3"/>
          </p:cNvPr>
          <p:cNvSpPr/>
          <p:nvPr/>
        </p:nvSpPr>
        <p:spPr>
          <a:xfrm>
            <a:off x="2377440" y="4297680"/>
            <a:ext cx="7406640" cy="548640"/>
          </a:xfrm>
          <a:prstGeom prst="rect">
            <a:avLst/>
          </a:prstGeom>
          <a:noFill/>
          <a:ln/>
        </p:spPr>
        <p:txBody>
          <a:bodyPr wrap="square" lIns="0" tIns="0" rIns="0" bIns="0" rtlCol="0" anchor="ctr"/>
          <a:lstStyle/>
          <a:p>
            <a:pPr marL="0" indent="0" algn="ctr">
              <a:buNone/>
            </a:pPr>
            <a:r>
              <a:rPr lang="en-US" sz="2200" b="1" u="sng" dirty="0">
                <a:solidFill>
                  <a:srgbClr val="1E293B"/>
                </a:solidFill>
                <a:latin typeface="Consolas" pitchFamily="34" charset="0"/>
                <a:ea typeface="Consolas" pitchFamily="34" charset="-122"/>
                <a:cs typeface="Consolas" pitchFamily="34" charset="-120"/>
                <a:hlinkClick r:id="rId3">
                  <a:extLst>
                    <a:ext uri="{A12FA001-AC4F-418D-AE19-62706E023703}">
                      <ahyp:hlinkClr xmlns:ahyp="http://schemas.microsoft.com/office/drawing/2018/hyperlinkcolor" val="tx"/>
                    </a:ext>
                  </a:extLst>
                </a:hlinkClick>
              </a:rPr>
              <a:t>https://idm-one.vercel.app/</a:t>
            </a:r>
            <a:endParaRPr lang="en-US" sz="2200" dirty="0"/>
          </a:p>
        </p:txBody>
      </p:sp>
      <p:sp>
        <p:nvSpPr>
          <p:cNvPr id="8" name="Text 6"/>
          <p:cNvSpPr/>
          <p:nvPr/>
        </p:nvSpPr>
        <p:spPr>
          <a:xfrm>
            <a:off x="548640" y="5577840"/>
            <a:ext cx="11064240" cy="274320"/>
          </a:xfrm>
          <a:prstGeom prst="rect">
            <a:avLst/>
          </a:prstGeom>
          <a:noFill/>
          <a:ln/>
        </p:spPr>
        <p:txBody>
          <a:bodyPr wrap="square" lIns="0" tIns="0" rIns="0" bIns="0" rtlCol="0" anchor="ctr"/>
          <a:lstStyle/>
          <a:p>
            <a:pPr marL="0" indent="0" algn="ctr">
              <a:buNone/>
            </a:pPr>
            <a:r>
              <a:rPr lang="en-US" sz="1100" b="1" kern="0" spc="200" dirty="0">
                <a:solidFill>
                  <a:srgbClr val="0F4C81"/>
                </a:solidFill>
                <a:latin typeface="Calibri" pitchFamily="34" charset="0"/>
                <a:ea typeface="Calibri" pitchFamily="34" charset="-122"/>
                <a:cs typeface="Calibri" pitchFamily="34" charset="-120"/>
              </a:rPr>
              <a:t>Source code</a:t>
            </a:r>
            <a:endParaRPr lang="en-US" sz="1100" dirty="0"/>
          </a:p>
        </p:txBody>
      </p:sp>
      <p:sp>
        <p:nvSpPr>
          <p:cNvPr id="9" name="Text 7">
            <a:hlinkClick r:id="rId4"/>
          </p:cNvPr>
          <p:cNvSpPr/>
          <p:nvPr/>
        </p:nvSpPr>
        <p:spPr>
          <a:xfrm>
            <a:off x="548640" y="5852160"/>
            <a:ext cx="11064240" cy="365760"/>
          </a:xfrm>
          <a:prstGeom prst="rect">
            <a:avLst/>
          </a:prstGeom>
          <a:noFill/>
          <a:ln/>
        </p:spPr>
        <p:txBody>
          <a:bodyPr wrap="square" lIns="0" tIns="0" rIns="0" bIns="0" rtlCol="0" anchor="ctr"/>
          <a:lstStyle/>
          <a:p>
            <a:pPr marL="0" indent="0" algn="ctr">
              <a:buNone/>
            </a:pPr>
            <a:r>
              <a:rPr lang="en-US" sz="1600" u="sng" dirty="0">
                <a:solidFill>
                  <a:srgbClr val="1E293B"/>
                </a:solidFill>
                <a:latin typeface="Consolas" pitchFamily="34" charset="0"/>
                <a:ea typeface="Consolas" pitchFamily="34" charset="-122"/>
                <a:cs typeface="Consolas" pitchFamily="34" charset="-120"/>
                <a:hlinkClick r:id="rId4">
                  <a:extLst>
                    <a:ext uri="{A12FA001-AC4F-418D-AE19-62706E023703}">
                      <ahyp:hlinkClr xmlns:ahyp="http://schemas.microsoft.com/office/drawing/2018/hyperlinkcolor" val="tx"/>
                    </a:ext>
                  </a:extLst>
                </a:hlinkClick>
              </a:rPr>
              <a:t>github.com/AnwarDebes/IDM</a:t>
            </a:r>
            <a:endParaRPr lang="en-US" sz="1600" dirty="0"/>
          </a:p>
        </p:txBody>
      </p:sp>
      <p:sp>
        <p:nvSpPr>
          <p:cNvPr id="10" name="Text 8"/>
          <p:cNvSpPr/>
          <p:nvPr/>
        </p:nvSpPr>
        <p:spPr>
          <a:xfrm>
            <a:off x="548640" y="6400800"/>
            <a:ext cx="11064240" cy="320040"/>
          </a:xfrm>
          <a:prstGeom prst="rect">
            <a:avLst/>
          </a:prstGeom>
          <a:noFill/>
          <a:ln/>
        </p:spPr>
        <p:txBody>
          <a:bodyPr wrap="square" lIns="0" tIns="0" rIns="0" bIns="0" rtlCol="0" anchor="ctr"/>
          <a:lstStyle/>
          <a:p>
            <a:pPr marL="0" indent="0" algn="ctr">
              <a:buNone/>
            </a:pPr>
            <a:r>
              <a:rPr lang="en-US" sz="1200" i="1" dirty="0">
                <a:solidFill>
                  <a:srgbClr val="64748B"/>
                </a:solidFill>
                <a:latin typeface="Calibri" pitchFamily="34" charset="0"/>
                <a:ea typeface="Calibri" pitchFamily="34" charset="-122"/>
                <a:cs typeface="Calibri" pitchFamily="34" charset="-120"/>
              </a:rPr>
              <a:t>Thank you questions welcome.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E3A3F2E2603DA48A3B7D62F10E50CD3" ma:contentTypeVersion="5" ma:contentTypeDescription="Create a new document." ma:contentTypeScope="" ma:versionID="6bb3e922645f3bb68ca7a41405817365">
  <xsd:schema xmlns:xsd="http://www.w3.org/2001/XMLSchema" xmlns:xs="http://www.w3.org/2001/XMLSchema" xmlns:p="http://schemas.microsoft.com/office/2006/metadata/properties" xmlns:ns3="84dcb30c-9cc2-44a1-bcbb-66afd5bd2ec0" targetNamespace="http://schemas.microsoft.com/office/2006/metadata/properties" ma:root="true" ma:fieldsID="a73ab7ade07baaaac61d3f464858f246" ns3:_="">
    <xsd:import namespace="84dcb30c-9cc2-44a1-bcbb-66afd5bd2ec0"/>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4dcb30c-9cc2-44a1-bcbb-66afd5bd2ec0"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84dcb30c-9cc2-44a1-bcbb-66afd5bd2ec0" xsi:nil="true"/>
  </documentManagement>
</p:properties>
</file>

<file path=customXml/itemProps1.xml><?xml version="1.0" encoding="utf-8"?>
<ds:datastoreItem xmlns:ds="http://schemas.openxmlformats.org/officeDocument/2006/customXml" ds:itemID="{8910564E-1CE9-457B-96B6-E94F73BD44D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4dcb30c-9cc2-44a1-bcbb-66afd5bd2ec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BFC10BC-6700-445E-9B70-45D72FC6629F}">
  <ds:schemaRefs>
    <ds:schemaRef ds:uri="http://schemas.microsoft.com/sharepoint/v3/contenttype/forms"/>
  </ds:schemaRefs>
</ds:datastoreItem>
</file>

<file path=customXml/itemProps3.xml><?xml version="1.0" encoding="utf-8"?>
<ds:datastoreItem xmlns:ds="http://schemas.openxmlformats.org/officeDocument/2006/customXml" ds:itemID="{02DE25B1-CFBB-41E8-9CD7-F0CBF943BFB7}">
  <ds:schemaRefs>
    <ds:schemaRef ds:uri="http://purl.org/dc/dcmitype/"/>
    <ds:schemaRef ds:uri="http://schemas.microsoft.com/office/2006/documentManagement/types"/>
    <ds:schemaRef ds:uri="84dcb30c-9cc2-44a1-bcbb-66afd5bd2ec0"/>
    <ds:schemaRef ds:uri="http://www.w3.org/XML/1998/namespace"/>
    <ds:schemaRef ds:uri="http://schemas.openxmlformats.org/package/2006/metadata/core-properties"/>
    <ds:schemaRef ds:uri="http://schemas.microsoft.com/office/infopath/2007/PartnerControls"/>
    <ds:schemaRef ds:uri="http://schemas.microsoft.com/office/2006/metadata/properties"/>
    <ds:schemaRef ds:uri="http://purl.org/dc/terms/"/>
    <ds:schemaRef ds:uri="http://purl.org/dc/elements/1.1/"/>
  </ds:schemaRefs>
</ds:datastoreItem>
</file>

<file path=docProps/app.xml><?xml version="1.0" encoding="utf-8"?>
<Properties xmlns="http://schemas.openxmlformats.org/officeDocument/2006/extended-properties" xmlns:vt="http://schemas.openxmlformats.org/officeDocument/2006/docPropsVTypes">
  <TotalTime>276</TotalTime>
  <Words>2967</Words>
  <Application>Microsoft Office PowerPoint</Application>
  <PresentationFormat>Widescreen</PresentationFormat>
  <Paragraphs>548</Paragraphs>
  <Slides>20</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Epidemiological Data Warehouse &amp; Analytics Platform</dc:title>
  <dc:subject>IKT453 Intelligent Database Management</dc:subject>
  <dc:creator>Anwar Debes</dc:creator>
  <cp:lastModifiedBy>Anwar Debes</cp:lastModifiedBy>
  <cp:revision>4</cp:revision>
  <dcterms:created xsi:type="dcterms:W3CDTF">2026-04-22T08:38:16Z</dcterms:created>
  <dcterms:modified xsi:type="dcterms:W3CDTF">2026-04-23T13:59:31Z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695cf23d-70b0-4a80-9221-1d774ac27fb2_Enabled">
    <vt:lpwstr>true</vt:lpwstr>
  </property>
  <property fmtid="{D5CDD505-2E9C-101B-9397-08002B2CF9AE}" pid="3" name="MSIP_Label_695cf23d-70b0-4a80-9221-1d774ac27fb2_SetDate">
    <vt:lpwstr>2026-04-22T09:12:19Z</vt:lpwstr>
  </property>
  <property fmtid="{D5CDD505-2E9C-101B-9397-08002B2CF9AE}" pid="4" name="MSIP_Label_695cf23d-70b0-4a80-9221-1d774ac27fb2_Method">
    <vt:lpwstr>Standard</vt:lpwstr>
  </property>
  <property fmtid="{D5CDD505-2E9C-101B-9397-08002B2CF9AE}" pid="5" name="MSIP_Label_695cf23d-70b0-4a80-9221-1d774ac27fb2_Name">
    <vt:lpwstr>Document internal</vt:lpwstr>
  </property>
  <property fmtid="{D5CDD505-2E9C-101B-9397-08002B2CF9AE}" pid="6" name="MSIP_Label_695cf23d-70b0-4a80-9221-1d774ac27fb2_SiteId">
    <vt:lpwstr>8482881e-3699-4b3f-b135-cf4800bc1efb</vt:lpwstr>
  </property>
  <property fmtid="{D5CDD505-2E9C-101B-9397-08002B2CF9AE}" pid="7" name="MSIP_Label_695cf23d-70b0-4a80-9221-1d774ac27fb2_ActionId">
    <vt:lpwstr>b235425e-8caf-4014-bb71-a0e7dccd497d</vt:lpwstr>
  </property>
  <property fmtid="{D5CDD505-2E9C-101B-9397-08002B2CF9AE}" pid="8" name="MSIP_Label_695cf23d-70b0-4a80-9221-1d774ac27fb2_ContentBits">
    <vt:lpwstr>0</vt:lpwstr>
  </property>
  <property fmtid="{D5CDD505-2E9C-101B-9397-08002B2CF9AE}" pid="9" name="MSIP_Label_695cf23d-70b0-4a80-9221-1d774ac27fb2_Tag">
    <vt:lpwstr>10, 3, 0, 1</vt:lpwstr>
  </property>
  <property fmtid="{D5CDD505-2E9C-101B-9397-08002B2CF9AE}" pid="10" name="ContentTypeId">
    <vt:lpwstr>0x0101007E3A3F2E2603DA48A3B7D62F10E50CD3</vt:lpwstr>
  </property>
</Properties>
</file>